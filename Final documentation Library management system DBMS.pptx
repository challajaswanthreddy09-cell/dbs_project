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7569200" cy="10699750"/>
  <p:notesSz cx="7569200" cy="106997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66" d="100"/>
          <a:sy n="66" d="100"/>
        </p:scale>
        <p:origin x="2256" y="-91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9775" cy="536575"/>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4287838" y="0"/>
            <a:ext cx="3279775" cy="536575"/>
          </a:xfrm>
          <a:prstGeom prst="rect">
            <a:avLst/>
          </a:prstGeom>
        </p:spPr>
        <p:txBody>
          <a:bodyPr vert="horz" lIns="91440" tIns="45720" rIns="91440" bIns="45720" rtlCol="0"/>
          <a:lstStyle>
            <a:lvl1pPr algn="r">
              <a:defRPr sz="1200"/>
            </a:lvl1pPr>
          </a:lstStyle>
          <a:p>
            <a:fld id="{2EC96ABE-4AE8-4A87-A9E4-91DD8F7B7FC8}" type="datetimeFigureOut">
              <a:rPr lang="en-IN" smtClean="0"/>
              <a:t>02-10-2026</a:t>
            </a:fld>
            <a:endParaRPr lang="en-IN"/>
          </a:p>
        </p:txBody>
      </p:sp>
      <p:sp>
        <p:nvSpPr>
          <p:cNvPr id="4" name="Slide Image Placeholder 3"/>
          <p:cNvSpPr>
            <a:spLocks noGrp="1" noRot="1" noChangeAspect="1"/>
          </p:cNvSpPr>
          <p:nvPr>
            <p:ph type="sldImg" idx="2"/>
          </p:nvPr>
        </p:nvSpPr>
        <p:spPr>
          <a:xfrm>
            <a:off x="2508250" y="1338263"/>
            <a:ext cx="2552700" cy="36099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757238" y="5149850"/>
            <a:ext cx="6054725" cy="421322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10163175"/>
            <a:ext cx="3279775" cy="536575"/>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4287838" y="10163175"/>
            <a:ext cx="3279775" cy="536575"/>
          </a:xfrm>
          <a:prstGeom prst="rect">
            <a:avLst/>
          </a:prstGeom>
        </p:spPr>
        <p:txBody>
          <a:bodyPr vert="horz" lIns="91440" tIns="45720" rIns="91440" bIns="45720" rtlCol="0" anchor="b"/>
          <a:lstStyle>
            <a:lvl1pPr algn="r">
              <a:defRPr sz="1200"/>
            </a:lvl1pPr>
          </a:lstStyle>
          <a:p>
            <a:fld id="{E5F33A36-06A9-4F25-AA60-09EDC824004C}" type="slidenum">
              <a:rPr lang="en-IN" smtClean="0"/>
              <a:t>‹#›</a:t>
            </a:fld>
            <a:endParaRPr lang="en-IN"/>
          </a:p>
        </p:txBody>
      </p:sp>
    </p:spTree>
    <p:extLst>
      <p:ext uri="{BB962C8B-B14F-4D97-AF65-F5344CB8AC3E}">
        <p14:creationId xmlns:p14="http://schemas.microsoft.com/office/powerpoint/2010/main" val="40488026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5F33A36-06A9-4F25-AA60-09EDC824004C}" type="slidenum">
              <a:rPr lang="en-IN" smtClean="0"/>
              <a:t>18</a:t>
            </a:fld>
            <a:endParaRPr lang="en-IN"/>
          </a:p>
        </p:txBody>
      </p:sp>
    </p:spTree>
    <p:extLst>
      <p:ext uri="{BB962C8B-B14F-4D97-AF65-F5344CB8AC3E}">
        <p14:creationId xmlns:p14="http://schemas.microsoft.com/office/powerpoint/2010/main" val="41147110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67690" y="3316922"/>
            <a:ext cx="6433820" cy="2246947"/>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135380" y="5991860"/>
            <a:ext cx="5298440" cy="2674937"/>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10/2/2026</a:t>
            </a:fld>
            <a:endParaRPr lang="en-US"/>
          </a:p>
        </p:txBody>
      </p:sp>
      <p:sp>
        <p:nvSpPr>
          <p:cNvPr id="6" name="Holder 6"/>
          <p:cNvSpPr>
            <a:spLocks noGrp="1"/>
          </p:cNvSpPr>
          <p:nvPr>
            <p:ph type="sldNum" sz="quarter" idx="7"/>
          </p:nvPr>
        </p:nvSpPr>
        <p:spPr/>
        <p:txBody>
          <a:bodyPr lIns="0" tIns="0" rIns="0" bIns="0"/>
          <a:lstStyle>
            <a:lvl1pPr>
              <a:defRPr sz="1100" b="0" i="0">
                <a:solidFill>
                  <a:srgbClr val="444444"/>
                </a:solidFill>
                <a:latin typeface="Times New Roman"/>
                <a:cs typeface="Times New Roman"/>
              </a:defRPr>
            </a:lvl1pPr>
          </a:lstStyle>
          <a:p>
            <a:pPr marL="32384">
              <a:lnSpc>
                <a:spcPts val="1150"/>
              </a:lnSpc>
            </a:pPr>
            <a:r>
              <a:rPr dirty="0">
                <a:solidFill>
                  <a:srgbClr val="000000"/>
                </a:solidFill>
                <a:latin typeface="Calibri Light"/>
                <a:cs typeface="Calibri Light"/>
              </a:rPr>
              <a:t>Page</a:t>
            </a:r>
            <a:r>
              <a:rPr spc="-45" dirty="0">
                <a:solidFill>
                  <a:srgbClr val="000000"/>
                </a:solidFill>
                <a:latin typeface="Calibri Light"/>
                <a:cs typeface="Calibri Light"/>
              </a:rPr>
              <a:t> </a:t>
            </a:r>
            <a:fld id="{81D60167-4931-47E6-BA6A-407CBD079E47}" type="slidenum">
              <a:rPr spc="-25" dirty="0">
                <a:solidFill>
                  <a:srgbClr val="000000"/>
                </a:solidFill>
                <a:latin typeface="Calibri Light"/>
                <a:cs typeface="Calibri Light"/>
              </a:rPr>
              <a:t>‹#›</a:t>
            </a:fld>
            <a:endParaRPr spc="-25" dirty="0">
              <a:solidFill>
                <a:srgbClr val="000000"/>
              </a:solidFill>
              <a:latin typeface="Calibri Light"/>
              <a:cs typeface="Calibri Light"/>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10/2/2026</a:t>
            </a:fld>
            <a:endParaRPr lang="en-US"/>
          </a:p>
        </p:txBody>
      </p:sp>
      <p:sp>
        <p:nvSpPr>
          <p:cNvPr id="6" name="Holder 6"/>
          <p:cNvSpPr>
            <a:spLocks noGrp="1"/>
          </p:cNvSpPr>
          <p:nvPr>
            <p:ph type="sldNum" sz="quarter" idx="7"/>
          </p:nvPr>
        </p:nvSpPr>
        <p:spPr/>
        <p:txBody>
          <a:bodyPr lIns="0" tIns="0" rIns="0" bIns="0"/>
          <a:lstStyle>
            <a:lvl1pPr>
              <a:defRPr sz="1100" b="0" i="0">
                <a:solidFill>
                  <a:srgbClr val="444444"/>
                </a:solidFill>
                <a:latin typeface="Times New Roman"/>
                <a:cs typeface="Times New Roman"/>
              </a:defRPr>
            </a:lvl1pPr>
          </a:lstStyle>
          <a:p>
            <a:pPr marL="32384">
              <a:lnSpc>
                <a:spcPts val="1150"/>
              </a:lnSpc>
            </a:pPr>
            <a:r>
              <a:rPr dirty="0">
                <a:solidFill>
                  <a:srgbClr val="000000"/>
                </a:solidFill>
                <a:latin typeface="Calibri Light"/>
                <a:cs typeface="Calibri Light"/>
              </a:rPr>
              <a:t>Page</a:t>
            </a:r>
            <a:r>
              <a:rPr spc="-45" dirty="0">
                <a:solidFill>
                  <a:srgbClr val="000000"/>
                </a:solidFill>
                <a:latin typeface="Calibri Light"/>
                <a:cs typeface="Calibri Light"/>
              </a:rPr>
              <a:t> </a:t>
            </a:r>
            <a:fld id="{81D60167-4931-47E6-BA6A-407CBD079E47}" type="slidenum">
              <a:rPr spc="-25" dirty="0">
                <a:solidFill>
                  <a:srgbClr val="000000"/>
                </a:solidFill>
                <a:latin typeface="Calibri Light"/>
                <a:cs typeface="Calibri Light"/>
              </a:rPr>
              <a:t>‹#›</a:t>
            </a:fld>
            <a:endParaRPr spc="-25" dirty="0">
              <a:solidFill>
                <a:srgbClr val="000000"/>
              </a:solidFill>
              <a:latin typeface="Calibri Light"/>
              <a:cs typeface="Calibri Light"/>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sz="half" idx="2"/>
          </p:nvPr>
        </p:nvSpPr>
        <p:spPr>
          <a:xfrm>
            <a:off x="378460" y="2460942"/>
            <a:ext cx="3292602" cy="7061835"/>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3898138" y="2460942"/>
            <a:ext cx="3292602" cy="7061835"/>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10/2/2026</a:t>
            </a:fld>
            <a:endParaRPr lang="en-US"/>
          </a:p>
        </p:txBody>
      </p:sp>
      <p:sp>
        <p:nvSpPr>
          <p:cNvPr id="7" name="Holder 7"/>
          <p:cNvSpPr>
            <a:spLocks noGrp="1"/>
          </p:cNvSpPr>
          <p:nvPr>
            <p:ph type="sldNum" sz="quarter" idx="7"/>
          </p:nvPr>
        </p:nvSpPr>
        <p:spPr/>
        <p:txBody>
          <a:bodyPr lIns="0" tIns="0" rIns="0" bIns="0"/>
          <a:lstStyle>
            <a:lvl1pPr>
              <a:defRPr sz="1100" b="0" i="0">
                <a:solidFill>
                  <a:srgbClr val="444444"/>
                </a:solidFill>
                <a:latin typeface="Times New Roman"/>
                <a:cs typeface="Times New Roman"/>
              </a:defRPr>
            </a:lvl1pPr>
          </a:lstStyle>
          <a:p>
            <a:pPr marL="32384">
              <a:lnSpc>
                <a:spcPts val="1150"/>
              </a:lnSpc>
            </a:pPr>
            <a:r>
              <a:rPr dirty="0">
                <a:solidFill>
                  <a:srgbClr val="000000"/>
                </a:solidFill>
                <a:latin typeface="Calibri Light"/>
                <a:cs typeface="Calibri Light"/>
              </a:rPr>
              <a:t>Page</a:t>
            </a:r>
            <a:r>
              <a:rPr spc="-45" dirty="0">
                <a:solidFill>
                  <a:srgbClr val="000000"/>
                </a:solidFill>
                <a:latin typeface="Calibri Light"/>
                <a:cs typeface="Calibri Light"/>
              </a:rPr>
              <a:t> </a:t>
            </a:r>
            <a:fld id="{81D60167-4931-47E6-BA6A-407CBD079E47}" type="slidenum">
              <a:rPr spc="-25" dirty="0">
                <a:solidFill>
                  <a:srgbClr val="000000"/>
                </a:solidFill>
                <a:latin typeface="Calibri Light"/>
                <a:cs typeface="Calibri Light"/>
              </a:rPr>
              <a:t>‹#›</a:t>
            </a:fld>
            <a:endParaRPr spc="-25" dirty="0">
              <a:solidFill>
                <a:srgbClr val="000000"/>
              </a:solidFill>
              <a:latin typeface="Calibri Light"/>
              <a:cs typeface="Calibri Light"/>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10/2/2026</a:t>
            </a:fld>
            <a:endParaRPr lang="en-US"/>
          </a:p>
        </p:txBody>
      </p:sp>
      <p:sp>
        <p:nvSpPr>
          <p:cNvPr id="5" name="Holder 5"/>
          <p:cNvSpPr>
            <a:spLocks noGrp="1"/>
          </p:cNvSpPr>
          <p:nvPr>
            <p:ph type="sldNum" sz="quarter" idx="7"/>
          </p:nvPr>
        </p:nvSpPr>
        <p:spPr/>
        <p:txBody>
          <a:bodyPr lIns="0" tIns="0" rIns="0" bIns="0"/>
          <a:lstStyle>
            <a:lvl1pPr>
              <a:defRPr sz="1100" b="0" i="0">
                <a:solidFill>
                  <a:srgbClr val="444444"/>
                </a:solidFill>
                <a:latin typeface="Times New Roman"/>
                <a:cs typeface="Times New Roman"/>
              </a:defRPr>
            </a:lvl1pPr>
          </a:lstStyle>
          <a:p>
            <a:pPr marL="32384">
              <a:lnSpc>
                <a:spcPts val="1150"/>
              </a:lnSpc>
            </a:pPr>
            <a:r>
              <a:rPr dirty="0">
                <a:solidFill>
                  <a:srgbClr val="000000"/>
                </a:solidFill>
                <a:latin typeface="Calibri Light"/>
                <a:cs typeface="Calibri Light"/>
              </a:rPr>
              <a:t>Page</a:t>
            </a:r>
            <a:r>
              <a:rPr spc="-45" dirty="0">
                <a:solidFill>
                  <a:srgbClr val="000000"/>
                </a:solidFill>
                <a:latin typeface="Calibri Light"/>
                <a:cs typeface="Calibri Light"/>
              </a:rPr>
              <a:t> </a:t>
            </a:r>
            <a:fld id="{81D60167-4931-47E6-BA6A-407CBD079E47}" type="slidenum">
              <a:rPr spc="-25" dirty="0">
                <a:solidFill>
                  <a:srgbClr val="000000"/>
                </a:solidFill>
                <a:latin typeface="Calibri Light"/>
                <a:cs typeface="Calibri Light"/>
              </a:rPr>
              <a:t>‹#›</a:t>
            </a:fld>
            <a:endParaRPr spc="-25" dirty="0">
              <a:solidFill>
                <a:srgbClr val="000000"/>
              </a:solidFill>
              <a:latin typeface="Calibri Light"/>
              <a:cs typeface="Calibri Light"/>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10/2/2026</a:t>
            </a:fld>
            <a:endParaRPr lang="en-US"/>
          </a:p>
        </p:txBody>
      </p:sp>
      <p:sp>
        <p:nvSpPr>
          <p:cNvPr id="4" name="Holder 4"/>
          <p:cNvSpPr>
            <a:spLocks noGrp="1"/>
          </p:cNvSpPr>
          <p:nvPr>
            <p:ph type="sldNum" sz="quarter" idx="7"/>
          </p:nvPr>
        </p:nvSpPr>
        <p:spPr/>
        <p:txBody>
          <a:bodyPr lIns="0" tIns="0" rIns="0" bIns="0"/>
          <a:lstStyle>
            <a:lvl1pPr>
              <a:defRPr sz="1100" b="0" i="0">
                <a:solidFill>
                  <a:srgbClr val="444444"/>
                </a:solidFill>
                <a:latin typeface="Times New Roman"/>
                <a:cs typeface="Times New Roman"/>
              </a:defRPr>
            </a:lvl1pPr>
          </a:lstStyle>
          <a:p>
            <a:pPr marL="32384">
              <a:lnSpc>
                <a:spcPts val="1150"/>
              </a:lnSpc>
            </a:pPr>
            <a:r>
              <a:rPr dirty="0">
                <a:solidFill>
                  <a:srgbClr val="000000"/>
                </a:solidFill>
                <a:latin typeface="Calibri Light"/>
                <a:cs typeface="Calibri Light"/>
              </a:rPr>
              <a:t>Page</a:t>
            </a:r>
            <a:r>
              <a:rPr spc="-45" dirty="0">
                <a:solidFill>
                  <a:srgbClr val="000000"/>
                </a:solidFill>
                <a:latin typeface="Calibri Light"/>
                <a:cs typeface="Calibri Light"/>
              </a:rPr>
              <a:t> </a:t>
            </a:r>
            <a:fld id="{81D60167-4931-47E6-BA6A-407CBD079E47}" type="slidenum">
              <a:rPr spc="-25" dirty="0">
                <a:solidFill>
                  <a:srgbClr val="000000"/>
                </a:solidFill>
                <a:latin typeface="Calibri Light"/>
                <a:cs typeface="Calibri Light"/>
              </a:rPr>
              <a:t>‹#›</a:t>
            </a:fld>
            <a:endParaRPr spc="-25" dirty="0">
              <a:solidFill>
                <a:srgbClr val="000000"/>
              </a:solidFill>
              <a:latin typeface="Calibri Light"/>
              <a:cs typeface="Calibri Light"/>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914400" y="9833622"/>
            <a:ext cx="5731510" cy="54610"/>
          </a:xfrm>
          <a:custGeom>
            <a:avLst/>
            <a:gdLst/>
            <a:ahLst/>
            <a:cxnLst/>
            <a:rect l="l" t="t" r="r" b="b"/>
            <a:pathLst>
              <a:path w="5731509" h="54609">
                <a:moveTo>
                  <a:pt x="5731497" y="45186"/>
                </a:moveTo>
                <a:lnTo>
                  <a:pt x="0" y="45186"/>
                </a:lnTo>
                <a:lnTo>
                  <a:pt x="0" y="54216"/>
                </a:lnTo>
                <a:lnTo>
                  <a:pt x="5731497" y="54216"/>
                </a:lnTo>
                <a:lnTo>
                  <a:pt x="5731497" y="45186"/>
                </a:lnTo>
                <a:close/>
              </a:path>
              <a:path w="5731509" h="54609">
                <a:moveTo>
                  <a:pt x="5731497" y="0"/>
                </a:moveTo>
                <a:lnTo>
                  <a:pt x="0" y="0"/>
                </a:lnTo>
                <a:lnTo>
                  <a:pt x="0" y="36144"/>
                </a:lnTo>
                <a:lnTo>
                  <a:pt x="5731497" y="36144"/>
                </a:lnTo>
                <a:lnTo>
                  <a:pt x="5731497" y="0"/>
                </a:lnTo>
                <a:close/>
              </a:path>
            </a:pathLst>
          </a:custGeom>
          <a:solidFill>
            <a:srgbClr val="823909"/>
          </a:solidFill>
        </p:spPr>
        <p:txBody>
          <a:bodyPr wrap="square" lIns="0" tIns="0" rIns="0" bIns="0" rtlCol="0"/>
          <a:lstStyle/>
          <a:p>
            <a:endParaRPr/>
          </a:p>
        </p:txBody>
      </p:sp>
      <p:sp>
        <p:nvSpPr>
          <p:cNvPr id="2" name="Holder 2"/>
          <p:cNvSpPr>
            <a:spLocks noGrp="1"/>
          </p:cNvSpPr>
          <p:nvPr>
            <p:ph type="title"/>
          </p:nvPr>
        </p:nvSpPr>
        <p:spPr>
          <a:xfrm>
            <a:off x="378460" y="427990"/>
            <a:ext cx="6812280" cy="171196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body" idx="1"/>
          </p:nvPr>
        </p:nvSpPr>
        <p:spPr>
          <a:xfrm>
            <a:off x="378460" y="2460942"/>
            <a:ext cx="6812280" cy="7061835"/>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2573528" y="9950768"/>
            <a:ext cx="2422144" cy="534987"/>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378460" y="9950768"/>
            <a:ext cx="1740916" cy="534987"/>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10/2/2026</a:t>
            </a:fld>
            <a:endParaRPr lang="en-US"/>
          </a:p>
        </p:txBody>
      </p:sp>
      <p:sp>
        <p:nvSpPr>
          <p:cNvPr id="6" name="Holder 6"/>
          <p:cNvSpPr>
            <a:spLocks noGrp="1"/>
          </p:cNvSpPr>
          <p:nvPr>
            <p:ph type="sldNum" sz="quarter" idx="7"/>
          </p:nvPr>
        </p:nvSpPr>
        <p:spPr>
          <a:xfrm>
            <a:off x="6099809" y="9926827"/>
            <a:ext cx="586740" cy="327306"/>
          </a:xfrm>
          <a:prstGeom prst="rect">
            <a:avLst/>
          </a:prstGeom>
        </p:spPr>
        <p:txBody>
          <a:bodyPr wrap="square" lIns="0" tIns="0" rIns="0" bIns="0">
            <a:spAutoFit/>
          </a:bodyPr>
          <a:lstStyle>
            <a:lvl1pPr>
              <a:defRPr sz="1100" b="0" i="0">
                <a:solidFill>
                  <a:srgbClr val="444444"/>
                </a:solidFill>
                <a:latin typeface="Times New Roman"/>
                <a:cs typeface="Times New Roman"/>
              </a:defRPr>
            </a:lvl1pPr>
          </a:lstStyle>
          <a:p>
            <a:pPr marL="32384">
              <a:lnSpc>
                <a:spcPts val="1150"/>
              </a:lnSpc>
            </a:pPr>
            <a:r>
              <a:rPr dirty="0">
                <a:solidFill>
                  <a:srgbClr val="000000"/>
                </a:solidFill>
                <a:latin typeface="Calibri Light"/>
                <a:cs typeface="Calibri Light"/>
              </a:rPr>
              <a:t>Page</a:t>
            </a:r>
            <a:r>
              <a:rPr spc="-45" dirty="0">
                <a:solidFill>
                  <a:srgbClr val="000000"/>
                </a:solidFill>
                <a:latin typeface="Calibri Light"/>
                <a:cs typeface="Calibri Light"/>
              </a:rPr>
              <a:t> </a:t>
            </a:r>
            <a:fld id="{81D60167-4931-47E6-BA6A-407CBD079E47}" type="slidenum">
              <a:rPr spc="-25" dirty="0">
                <a:solidFill>
                  <a:srgbClr val="000000"/>
                </a:solidFill>
                <a:latin typeface="Calibri Light"/>
                <a:cs typeface="Calibri Light"/>
              </a:rPr>
              <a:t>‹#›</a:t>
            </a:fld>
            <a:endParaRPr spc="-25" dirty="0">
              <a:solidFill>
                <a:srgbClr val="000000"/>
              </a:solidFill>
              <a:latin typeface="Calibri Light"/>
              <a:cs typeface="Calibri Light"/>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hyperlink" Target="http://localhost:5173/" TargetMode="Externa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8" Type="http://schemas.openxmlformats.org/officeDocument/2006/relationships/hyperlink" Target="https://www.npmjs.com/package/jsonwebtoken" TargetMode="External"/><Relationship Id="rId3" Type="http://schemas.openxmlformats.org/officeDocument/2006/relationships/hyperlink" Target="https://vitejs.dev/" TargetMode="External"/><Relationship Id="rId7" Type="http://schemas.openxmlformats.org/officeDocument/2006/relationships/hyperlink" Target="https://www.npmjs.com/package/mysql2" TargetMode="External"/><Relationship Id="rId2" Type="http://schemas.openxmlformats.org/officeDocument/2006/relationships/hyperlink" Target="https://react.dev/" TargetMode="External"/><Relationship Id="rId1" Type="http://schemas.openxmlformats.org/officeDocument/2006/relationships/slideLayout" Target="../slideLayouts/slideLayout5.xml"/><Relationship Id="rId6" Type="http://schemas.openxmlformats.org/officeDocument/2006/relationships/hyperlink" Target="https://dev.mysql.com/doc/refman/8.0/en/" TargetMode="External"/><Relationship Id="rId11" Type="http://schemas.openxmlformats.org/officeDocument/2006/relationships/hyperlink" Target="https://developer.mozilla.org/" TargetMode="External"/><Relationship Id="rId5" Type="http://schemas.openxmlformats.org/officeDocument/2006/relationships/hyperlink" Target="https://expressjs.com/" TargetMode="External"/><Relationship Id="rId10" Type="http://schemas.openxmlformats.org/officeDocument/2006/relationships/hyperlink" Target="https://learning.postman.com/" TargetMode="External"/><Relationship Id="rId4" Type="http://schemas.openxmlformats.org/officeDocument/2006/relationships/hyperlink" Target="https://nodejs.org/en/docs" TargetMode="External"/><Relationship Id="rId9" Type="http://schemas.openxmlformats.org/officeDocument/2006/relationships/hyperlink" Target="https://www.npmjs.com/package/bcrypt" TargetMode="Externa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5.xml"/><Relationship Id="rId4" Type="http://schemas.openxmlformats.org/officeDocument/2006/relationships/image" Target="../media/image14.png"/></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51763" y="1205230"/>
            <a:ext cx="6263640" cy="2372444"/>
          </a:xfrm>
          <a:prstGeom prst="rect">
            <a:avLst/>
          </a:prstGeom>
        </p:spPr>
        <p:txBody>
          <a:bodyPr vert="horz" wrap="square" lIns="0" tIns="12700" rIns="0" bIns="0" rtlCol="0">
            <a:spAutoFit/>
          </a:bodyPr>
          <a:lstStyle/>
          <a:p>
            <a:pPr algn="ctr">
              <a:lnSpc>
                <a:spcPct val="100000"/>
              </a:lnSpc>
              <a:spcBef>
                <a:spcPts val="100"/>
              </a:spcBef>
            </a:pPr>
            <a:r>
              <a:rPr sz="1700" b="1" dirty="0">
                <a:solidFill>
                  <a:srgbClr val="1F3863"/>
                </a:solidFill>
                <a:latin typeface="Times New Roman"/>
                <a:cs typeface="Times New Roman"/>
              </a:rPr>
              <a:t>“</a:t>
            </a:r>
            <a:r>
              <a:rPr lang="en-IN" sz="1600" b="1" dirty="0"/>
              <a:t>Library Management System with RFID Integration</a:t>
            </a:r>
            <a:r>
              <a:rPr lang="en-IN" sz="1600" dirty="0"/>
              <a:t>. </a:t>
            </a:r>
            <a:r>
              <a:rPr sz="1700" b="1" spc="-10" dirty="0">
                <a:solidFill>
                  <a:srgbClr val="1F3863"/>
                </a:solidFill>
                <a:latin typeface="Times New Roman"/>
                <a:cs typeface="Times New Roman"/>
              </a:rPr>
              <a:t>”</a:t>
            </a:r>
            <a:endParaRPr sz="1700" dirty="0">
              <a:latin typeface="Times New Roman"/>
              <a:cs typeface="Times New Roman"/>
            </a:endParaRPr>
          </a:p>
          <a:p>
            <a:pPr algn="ctr">
              <a:lnSpc>
                <a:spcPct val="100000"/>
              </a:lnSpc>
              <a:spcBef>
                <a:spcPts val="1210"/>
              </a:spcBef>
            </a:pPr>
            <a:r>
              <a:rPr sz="1200" dirty="0">
                <a:latin typeface="Times New Roman"/>
                <a:cs typeface="Times New Roman"/>
              </a:rPr>
              <a:t>A</a:t>
            </a:r>
            <a:r>
              <a:rPr sz="1200" spc="-40" dirty="0">
                <a:latin typeface="Times New Roman"/>
                <a:cs typeface="Times New Roman"/>
              </a:rPr>
              <a:t> </a:t>
            </a:r>
            <a:r>
              <a:rPr sz="1200" dirty="0">
                <a:latin typeface="Times New Roman"/>
                <a:cs typeface="Times New Roman"/>
              </a:rPr>
              <a:t>Project</a:t>
            </a:r>
            <a:r>
              <a:rPr sz="1200" spc="-20" dirty="0">
                <a:latin typeface="Times New Roman"/>
                <a:cs typeface="Times New Roman"/>
              </a:rPr>
              <a:t> </a:t>
            </a:r>
            <a:r>
              <a:rPr sz="1200" dirty="0">
                <a:latin typeface="Times New Roman"/>
                <a:cs typeface="Times New Roman"/>
              </a:rPr>
              <a:t>Report</a:t>
            </a:r>
            <a:r>
              <a:rPr sz="1200" spc="-50" dirty="0">
                <a:latin typeface="Times New Roman"/>
                <a:cs typeface="Times New Roman"/>
              </a:rPr>
              <a:t> </a:t>
            </a:r>
            <a:r>
              <a:rPr sz="1200" dirty="0">
                <a:latin typeface="Times New Roman"/>
                <a:cs typeface="Times New Roman"/>
              </a:rPr>
              <a:t>Submitted</a:t>
            </a:r>
            <a:r>
              <a:rPr sz="1200" spc="-15" dirty="0">
                <a:latin typeface="Times New Roman"/>
                <a:cs typeface="Times New Roman"/>
              </a:rPr>
              <a:t> </a:t>
            </a:r>
            <a:r>
              <a:rPr sz="1200" dirty="0">
                <a:latin typeface="Times New Roman"/>
                <a:cs typeface="Times New Roman"/>
              </a:rPr>
              <a:t>in</a:t>
            </a:r>
            <a:r>
              <a:rPr sz="1200" spc="-25" dirty="0">
                <a:latin typeface="Times New Roman"/>
                <a:cs typeface="Times New Roman"/>
              </a:rPr>
              <a:t> </a:t>
            </a:r>
            <a:r>
              <a:rPr sz="1200" dirty="0">
                <a:latin typeface="Times New Roman"/>
                <a:cs typeface="Times New Roman"/>
              </a:rPr>
              <a:t>the</a:t>
            </a:r>
            <a:r>
              <a:rPr sz="1200" spc="-60" dirty="0">
                <a:latin typeface="Times New Roman"/>
                <a:cs typeface="Times New Roman"/>
              </a:rPr>
              <a:t> </a:t>
            </a:r>
            <a:r>
              <a:rPr sz="1200" dirty="0">
                <a:latin typeface="Times New Roman"/>
                <a:cs typeface="Times New Roman"/>
              </a:rPr>
              <a:t>partial</a:t>
            </a:r>
            <a:r>
              <a:rPr sz="1200" spc="-20" dirty="0">
                <a:latin typeface="Times New Roman"/>
                <a:cs typeface="Times New Roman"/>
              </a:rPr>
              <a:t> </a:t>
            </a:r>
            <a:r>
              <a:rPr sz="1200" dirty="0">
                <a:latin typeface="Times New Roman"/>
                <a:cs typeface="Times New Roman"/>
              </a:rPr>
              <a:t>fulfillment</a:t>
            </a:r>
            <a:r>
              <a:rPr sz="1200" spc="-30" dirty="0">
                <a:latin typeface="Times New Roman"/>
                <a:cs typeface="Times New Roman"/>
              </a:rPr>
              <a:t> </a:t>
            </a:r>
            <a:r>
              <a:rPr sz="1200" dirty="0">
                <a:latin typeface="Times New Roman"/>
                <a:cs typeface="Times New Roman"/>
              </a:rPr>
              <a:t>of</a:t>
            </a:r>
            <a:r>
              <a:rPr sz="1200" spc="-4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spc="-10" dirty="0">
                <a:latin typeface="Times New Roman"/>
                <a:cs typeface="Times New Roman"/>
              </a:rPr>
              <a:t>requirements</a:t>
            </a:r>
            <a:r>
              <a:rPr sz="1200" spc="-40" dirty="0">
                <a:latin typeface="Times New Roman"/>
                <a:cs typeface="Times New Roman"/>
              </a:rPr>
              <a:t> </a:t>
            </a:r>
            <a:r>
              <a:rPr sz="1200" dirty="0">
                <a:latin typeface="Times New Roman"/>
                <a:cs typeface="Times New Roman"/>
              </a:rPr>
              <a:t>for</a:t>
            </a:r>
            <a:r>
              <a:rPr sz="1200" spc="-30"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lang="en-IN" sz="1200" b="1" dirty="0"/>
              <a:t>Library Management System with RFID Integration </a:t>
            </a:r>
            <a:r>
              <a:rPr lang="en-US" sz="1200" u="sng" spc="-10" dirty="0">
                <a:solidFill>
                  <a:srgbClr val="1F3863"/>
                </a:solidFill>
                <a:latin typeface="Times New Roman"/>
                <a:cs typeface="Times New Roman"/>
              </a:rPr>
              <a:t>aw</a:t>
            </a:r>
            <a:r>
              <a:rPr sz="1200" dirty="0">
                <a:latin typeface="Times New Roman"/>
                <a:cs typeface="Times New Roman"/>
              </a:rPr>
              <a:t>ard</a:t>
            </a:r>
            <a:r>
              <a:rPr sz="1200" spc="-30" dirty="0">
                <a:latin typeface="Times New Roman"/>
                <a:cs typeface="Times New Roman"/>
              </a:rPr>
              <a:t> </a:t>
            </a:r>
            <a:r>
              <a:rPr sz="1200" dirty="0">
                <a:latin typeface="Times New Roman"/>
                <a:cs typeface="Times New Roman"/>
              </a:rPr>
              <a:t>of</a:t>
            </a:r>
            <a:r>
              <a:rPr sz="1200" spc="-50"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degree</a:t>
            </a:r>
            <a:r>
              <a:rPr sz="1200" spc="-15" dirty="0">
                <a:latin typeface="Times New Roman"/>
                <a:cs typeface="Times New Roman"/>
              </a:rPr>
              <a:t> </a:t>
            </a:r>
            <a:r>
              <a:rPr sz="1200" spc="-25" dirty="0">
                <a:latin typeface="Times New Roman"/>
                <a:cs typeface="Times New Roman"/>
              </a:rPr>
              <a:t>of</a:t>
            </a:r>
            <a:endParaRPr sz="1200" dirty="0">
              <a:latin typeface="Times New Roman"/>
              <a:cs typeface="Times New Roman"/>
            </a:endParaRPr>
          </a:p>
          <a:p>
            <a:pPr>
              <a:lnSpc>
                <a:spcPct val="100000"/>
              </a:lnSpc>
              <a:spcBef>
                <a:spcPts val="810"/>
              </a:spcBef>
            </a:pPr>
            <a:endParaRPr sz="1200" dirty="0">
              <a:latin typeface="Times New Roman"/>
              <a:cs typeface="Times New Roman"/>
            </a:endParaRPr>
          </a:p>
          <a:p>
            <a:pPr marL="88265" algn="ctr">
              <a:lnSpc>
                <a:spcPct val="100000"/>
              </a:lnSpc>
            </a:pPr>
            <a:r>
              <a:rPr sz="2000" b="1" spc="-10" dirty="0">
                <a:solidFill>
                  <a:srgbClr val="C00000"/>
                </a:solidFill>
                <a:latin typeface="Times New Roman"/>
                <a:cs typeface="Times New Roman"/>
              </a:rPr>
              <a:t>BACHELOR</a:t>
            </a:r>
            <a:r>
              <a:rPr sz="2000" b="1" spc="-55" dirty="0">
                <a:solidFill>
                  <a:srgbClr val="C00000"/>
                </a:solidFill>
                <a:latin typeface="Times New Roman"/>
                <a:cs typeface="Times New Roman"/>
              </a:rPr>
              <a:t> </a:t>
            </a:r>
            <a:r>
              <a:rPr sz="2000" b="1" dirty="0">
                <a:solidFill>
                  <a:srgbClr val="C00000"/>
                </a:solidFill>
                <a:latin typeface="Times New Roman"/>
                <a:cs typeface="Times New Roman"/>
              </a:rPr>
              <a:t>OF</a:t>
            </a:r>
            <a:r>
              <a:rPr sz="2000" b="1" spc="-40" dirty="0">
                <a:solidFill>
                  <a:srgbClr val="C00000"/>
                </a:solidFill>
                <a:latin typeface="Times New Roman"/>
                <a:cs typeface="Times New Roman"/>
              </a:rPr>
              <a:t> </a:t>
            </a:r>
            <a:r>
              <a:rPr sz="2000" b="1" spc="-10" dirty="0">
                <a:solidFill>
                  <a:srgbClr val="C00000"/>
                </a:solidFill>
                <a:latin typeface="Times New Roman"/>
                <a:cs typeface="Times New Roman"/>
              </a:rPr>
              <a:t>TECHNOLOGY</a:t>
            </a:r>
            <a:endParaRPr sz="2000" dirty="0">
              <a:latin typeface="Times New Roman"/>
              <a:cs typeface="Times New Roman"/>
            </a:endParaRPr>
          </a:p>
          <a:p>
            <a:pPr marR="145415" algn="ctr">
              <a:lnSpc>
                <a:spcPct val="100000"/>
              </a:lnSpc>
              <a:spcBef>
                <a:spcPts val="875"/>
              </a:spcBef>
            </a:pPr>
            <a:r>
              <a:rPr sz="1400" b="1" spc="-25" dirty="0">
                <a:latin typeface="Times New Roman"/>
                <a:cs typeface="Times New Roman"/>
              </a:rPr>
              <a:t>In</a:t>
            </a:r>
            <a:endParaRPr sz="1400" dirty="0">
              <a:latin typeface="Times New Roman"/>
              <a:cs typeface="Times New Roman"/>
            </a:endParaRPr>
          </a:p>
          <a:p>
            <a:pPr marL="654050">
              <a:lnSpc>
                <a:spcPct val="100000"/>
              </a:lnSpc>
              <a:spcBef>
                <a:spcPts val="1200"/>
              </a:spcBef>
            </a:pPr>
            <a:r>
              <a:rPr sz="1100" b="1" spc="-25" dirty="0">
                <a:solidFill>
                  <a:srgbClr val="001F5F"/>
                </a:solidFill>
                <a:latin typeface="Times New Roman"/>
                <a:cs typeface="Times New Roman"/>
              </a:rPr>
              <a:t>DEPARTMENT</a:t>
            </a:r>
            <a:r>
              <a:rPr sz="1100" b="1" spc="-40" dirty="0">
                <a:solidFill>
                  <a:srgbClr val="001F5F"/>
                </a:solidFill>
                <a:latin typeface="Times New Roman"/>
                <a:cs typeface="Times New Roman"/>
              </a:rPr>
              <a:t> </a:t>
            </a:r>
            <a:r>
              <a:rPr sz="1100" b="1" dirty="0">
                <a:solidFill>
                  <a:srgbClr val="001F5F"/>
                </a:solidFill>
                <a:latin typeface="Times New Roman"/>
                <a:cs typeface="Times New Roman"/>
              </a:rPr>
              <a:t>OF</a:t>
            </a:r>
            <a:r>
              <a:rPr sz="1100" b="1" spc="-40" dirty="0">
                <a:solidFill>
                  <a:srgbClr val="001F5F"/>
                </a:solidFill>
                <a:latin typeface="Times New Roman"/>
                <a:cs typeface="Times New Roman"/>
              </a:rPr>
              <a:t> </a:t>
            </a:r>
            <a:r>
              <a:rPr sz="1100" b="1" spc="-25" dirty="0">
                <a:solidFill>
                  <a:srgbClr val="001F5F"/>
                </a:solidFill>
                <a:latin typeface="Times New Roman"/>
                <a:cs typeface="Times New Roman"/>
              </a:rPr>
              <a:t>COMPUTER</a:t>
            </a:r>
            <a:r>
              <a:rPr sz="1100" b="1" spc="-40" dirty="0">
                <a:solidFill>
                  <a:srgbClr val="001F5F"/>
                </a:solidFill>
                <a:latin typeface="Times New Roman"/>
                <a:cs typeface="Times New Roman"/>
              </a:rPr>
              <a:t> </a:t>
            </a:r>
            <a:r>
              <a:rPr sz="1100" b="1" spc="-20" dirty="0">
                <a:solidFill>
                  <a:srgbClr val="001F5F"/>
                </a:solidFill>
                <a:latin typeface="Times New Roman"/>
                <a:cs typeface="Times New Roman"/>
              </a:rPr>
              <a:t>SCIENCE</a:t>
            </a:r>
            <a:r>
              <a:rPr sz="1100" b="1" spc="-30" dirty="0">
                <a:solidFill>
                  <a:srgbClr val="001F5F"/>
                </a:solidFill>
                <a:latin typeface="Times New Roman"/>
                <a:cs typeface="Times New Roman"/>
              </a:rPr>
              <a:t> </a:t>
            </a:r>
            <a:r>
              <a:rPr sz="1100" b="1" dirty="0">
                <a:solidFill>
                  <a:srgbClr val="001F5F"/>
                </a:solidFill>
                <a:latin typeface="Times New Roman"/>
                <a:cs typeface="Times New Roman"/>
              </a:rPr>
              <a:t>AND</a:t>
            </a:r>
            <a:r>
              <a:rPr sz="1100" b="1" spc="-15" dirty="0">
                <a:solidFill>
                  <a:srgbClr val="001F5F"/>
                </a:solidFill>
                <a:latin typeface="Times New Roman"/>
                <a:cs typeface="Times New Roman"/>
              </a:rPr>
              <a:t> </a:t>
            </a:r>
            <a:r>
              <a:rPr sz="1100" b="1" spc="-10" dirty="0">
                <a:solidFill>
                  <a:srgbClr val="001F5F"/>
                </a:solidFill>
                <a:latin typeface="Times New Roman"/>
                <a:cs typeface="Times New Roman"/>
              </a:rPr>
              <a:t>INFORMATION</a:t>
            </a:r>
            <a:r>
              <a:rPr sz="1100" b="1" spc="10" dirty="0">
                <a:solidFill>
                  <a:srgbClr val="001F5F"/>
                </a:solidFill>
                <a:latin typeface="Times New Roman"/>
                <a:cs typeface="Times New Roman"/>
              </a:rPr>
              <a:t> </a:t>
            </a:r>
            <a:r>
              <a:rPr sz="1100" b="1" spc="-10" dirty="0">
                <a:solidFill>
                  <a:srgbClr val="001F5F"/>
                </a:solidFill>
                <a:latin typeface="Times New Roman"/>
                <a:cs typeface="Times New Roman"/>
              </a:rPr>
              <a:t>TECHNOLOGY</a:t>
            </a:r>
            <a:endParaRPr sz="1100" dirty="0">
              <a:latin typeface="Times New Roman"/>
              <a:cs typeface="Times New Roman"/>
            </a:endParaRPr>
          </a:p>
          <a:p>
            <a:pPr marR="127635" algn="ctr">
              <a:lnSpc>
                <a:spcPct val="100000"/>
              </a:lnSpc>
              <a:spcBef>
                <a:spcPts val="1125"/>
              </a:spcBef>
            </a:pPr>
            <a:r>
              <a:rPr sz="1200" b="1" spc="-25" dirty="0">
                <a:latin typeface="Times New Roman"/>
                <a:cs typeface="Times New Roman"/>
              </a:rPr>
              <a:t>By</a:t>
            </a:r>
            <a:endParaRPr sz="1200" dirty="0">
              <a:latin typeface="Times New Roman"/>
              <a:cs typeface="Times New Roman"/>
            </a:endParaRPr>
          </a:p>
        </p:txBody>
      </p:sp>
      <p:sp>
        <p:nvSpPr>
          <p:cNvPr id="3" name="object 3"/>
          <p:cNvSpPr txBox="1"/>
          <p:nvPr/>
        </p:nvSpPr>
        <p:spPr>
          <a:xfrm>
            <a:off x="2152014" y="3598290"/>
            <a:ext cx="1611630" cy="197490"/>
          </a:xfrm>
          <a:prstGeom prst="rect">
            <a:avLst/>
          </a:prstGeom>
        </p:spPr>
        <p:txBody>
          <a:bodyPr vert="horz" wrap="square" lIns="0" tIns="12700" rIns="0" bIns="0" rtlCol="0">
            <a:spAutoFit/>
          </a:bodyPr>
          <a:lstStyle/>
          <a:p>
            <a:pPr marL="12700">
              <a:lnSpc>
                <a:spcPct val="100000"/>
              </a:lnSpc>
              <a:spcBef>
                <a:spcPts val="100"/>
              </a:spcBef>
            </a:pPr>
            <a:r>
              <a:rPr lang="en-US" sz="1200" b="1" dirty="0">
                <a:solidFill>
                  <a:srgbClr val="FF0000"/>
                </a:solidFill>
                <a:latin typeface="Times New Roman"/>
                <a:cs typeface="Times New Roman"/>
              </a:rPr>
              <a:t>Bachu Siddhartha</a:t>
            </a:r>
            <a:endParaRPr sz="1200" dirty="0">
              <a:latin typeface="Times New Roman"/>
              <a:cs typeface="Times New Roman"/>
            </a:endParaRPr>
          </a:p>
        </p:txBody>
      </p:sp>
      <p:sp>
        <p:nvSpPr>
          <p:cNvPr id="4" name="object 4"/>
          <p:cNvSpPr txBox="1"/>
          <p:nvPr/>
        </p:nvSpPr>
        <p:spPr>
          <a:xfrm>
            <a:off x="4424553" y="3598290"/>
            <a:ext cx="777240" cy="197490"/>
          </a:xfrm>
          <a:prstGeom prst="rect">
            <a:avLst/>
          </a:prstGeom>
        </p:spPr>
        <p:txBody>
          <a:bodyPr vert="horz" wrap="square" lIns="0" tIns="12700" rIns="0" bIns="0" rtlCol="0">
            <a:spAutoFit/>
          </a:bodyPr>
          <a:lstStyle/>
          <a:p>
            <a:pPr marL="12700">
              <a:lnSpc>
                <a:spcPct val="100000"/>
              </a:lnSpc>
              <a:spcBef>
                <a:spcPts val="100"/>
              </a:spcBef>
            </a:pPr>
            <a:r>
              <a:rPr lang="en-US" sz="1200" b="1" dirty="0">
                <a:solidFill>
                  <a:srgbClr val="FF0000"/>
                </a:solidFill>
                <a:latin typeface="Times New Roman"/>
                <a:cs typeface="Times New Roman"/>
              </a:rPr>
              <a:t>2500090225</a:t>
            </a:r>
            <a:endParaRPr sz="1200" b="1" dirty="0">
              <a:solidFill>
                <a:srgbClr val="FF0000"/>
              </a:solidFill>
              <a:latin typeface="Times New Roman"/>
              <a:cs typeface="Times New Roman"/>
            </a:endParaRPr>
          </a:p>
        </p:txBody>
      </p:sp>
      <p:sp>
        <p:nvSpPr>
          <p:cNvPr id="5" name="object 5"/>
          <p:cNvSpPr txBox="1"/>
          <p:nvPr/>
        </p:nvSpPr>
        <p:spPr>
          <a:xfrm>
            <a:off x="2113914" y="3925951"/>
            <a:ext cx="1583690" cy="197490"/>
          </a:xfrm>
          <a:prstGeom prst="rect">
            <a:avLst/>
          </a:prstGeom>
        </p:spPr>
        <p:txBody>
          <a:bodyPr vert="horz" wrap="square" lIns="0" tIns="12700" rIns="0" bIns="0" rtlCol="0">
            <a:spAutoFit/>
          </a:bodyPr>
          <a:lstStyle/>
          <a:p>
            <a:pPr marL="12700">
              <a:lnSpc>
                <a:spcPct val="100000"/>
              </a:lnSpc>
              <a:spcBef>
                <a:spcPts val="100"/>
              </a:spcBef>
            </a:pPr>
            <a:r>
              <a:rPr lang="en-US" sz="1200" b="1" dirty="0" err="1">
                <a:solidFill>
                  <a:srgbClr val="FF0000"/>
                </a:solidFill>
                <a:latin typeface="Times New Roman"/>
                <a:cs typeface="Times New Roman"/>
              </a:rPr>
              <a:t>V.Santosh</a:t>
            </a:r>
            <a:endParaRPr sz="1200" dirty="0">
              <a:latin typeface="Times New Roman"/>
              <a:cs typeface="Times New Roman"/>
            </a:endParaRPr>
          </a:p>
        </p:txBody>
      </p:sp>
      <p:sp>
        <p:nvSpPr>
          <p:cNvPr id="6" name="object 6"/>
          <p:cNvSpPr txBox="1"/>
          <p:nvPr/>
        </p:nvSpPr>
        <p:spPr>
          <a:xfrm>
            <a:off x="4433696" y="3925951"/>
            <a:ext cx="777240" cy="197490"/>
          </a:xfrm>
          <a:prstGeom prst="rect">
            <a:avLst/>
          </a:prstGeom>
        </p:spPr>
        <p:txBody>
          <a:bodyPr vert="horz" wrap="square" lIns="0" tIns="12700" rIns="0" bIns="0" rtlCol="0">
            <a:spAutoFit/>
          </a:bodyPr>
          <a:lstStyle/>
          <a:p>
            <a:pPr marL="12700">
              <a:lnSpc>
                <a:spcPct val="100000"/>
              </a:lnSpc>
              <a:spcBef>
                <a:spcPts val="100"/>
              </a:spcBef>
            </a:pPr>
            <a:r>
              <a:rPr sz="1200" b="1" spc="-10" dirty="0">
                <a:solidFill>
                  <a:srgbClr val="FF0000"/>
                </a:solidFill>
                <a:latin typeface="Times New Roman"/>
                <a:cs typeface="Times New Roman"/>
              </a:rPr>
              <a:t>2520090</a:t>
            </a:r>
            <a:r>
              <a:rPr lang="en-US" sz="1200" b="1" spc="-10" dirty="0">
                <a:solidFill>
                  <a:srgbClr val="FF0000"/>
                </a:solidFill>
                <a:latin typeface="Times New Roman"/>
                <a:cs typeface="Times New Roman"/>
              </a:rPr>
              <a:t>051</a:t>
            </a:r>
            <a:endParaRPr sz="1200" dirty="0">
              <a:latin typeface="Times New Roman"/>
              <a:cs typeface="Times New Roman"/>
            </a:endParaRPr>
          </a:p>
        </p:txBody>
      </p:sp>
      <p:sp>
        <p:nvSpPr>
          <p:cNvPr id="7" name="object 7"/>
          <p:cNvSpPr txBox="1"/>
          <p:nvPr/>
        </p:nvSpPr>
        <p:spPr>
          <a:xfrm>
            <a:off x="1433830" y="4552314"/>
            <a:ext cx="4702810" cy="808555"/>
          </a:xfrm>
          <a:prstGeom prst="rect">
            <a:avLst/>
          </a:prstGeom>
        </p:spPr>
        <p:txBody>
          <a:bodyPr vert="horz" wrap="square" lIns="0" tIns="13335" rIns="0" bIns="0" rtlCol="0">
            <a:spAutoFit/>
          </a:bodyPr>
          <a:lstStyle/>
          <a:p>
            <a:pPr marL="1730375" marR="1257935" indent="-299085">
              <a:lnSpc>
                <a:spcPct val="99600"/>
              </a:lnSpc>
              <a:spcBef>
                <a:spcPts val="105"/>
              </a:spcBef>
            </a:pPr>
            <a:r>
              <a:rPr sz="1200" spc="-10" dirty="0">
                <a:latin typeface="Times New Roman"/>
                <a:cs typeface="Times New Roman"/>
              </a:rPr>
              <a:t>Under</a:t>
            </a:r>
            <a:r>
              <a:rPr sz="1200" spc="-65" dirty="0">
                <a:latin typeface="Times New Roman"/>
                <a:cs typeface="Times New Roman"/>
              </a:rPr>
              <a:t> </a:t>
            </a:r>
            <a:r>
              <a:rPr sz="1200" dirty="0">
                <a:latin typeface="Times New Roman"/>
                <a:cs typeface="Times New Roman"/>
              </a:rPr>
              <a:t>the</a:t>
            </a:r>
            <a:r>
              <a:rPr sz="1200" spc="-60" dirty="0">
                <a:latin typeface="Times New Roman"/>
                <a:cs typeface="Times New Roman"/>
              </a:rPr>
              <a:t> </a:t>
            </a:r>
            <a:r>
              <a:rPr sz="1200" dirty="0">
                <a:latin typeface="Times New Roman"/>
                <a:cs typeface="Times New Roman"/>
              </a:rPr>
              <a:t>Esteemed</a:t>
            </a:r>
            <a:r>
              <a:rPr sz="1200" spc="-20" dirty="0">
                <a:latin typeface="Times New Roman"/>
                <a:cs typeface="Times New Roman"/>
              </a:rPr>
              <a:t> </a:t>
            </a:r>
            <a:r>
              <a:rPr sz="1200" dirty="0">
                <a:latin typeface="Times New Roman"/>
                <a:cs typeface="Times New Roman"/>
              </a:rPr>
              <a:t>Guidance</a:t>
            </a:r>
            <a:r>
              <a:rPr sz="1200" spc="-35" dirty="0">
                <a:latin typeface="Times New Roman"/>
                <a:cs typeface="Times New Roman"/>
              </a:rPr>
              <a:t> </a:t>
            </a:r>
            <a:r>
              <a:rPr sz="1200" spc="-25" dirty="0">
                <a:latin typeface="Times New Roman"/>
                <a:cs typeface="Times New Roman"/>
              </a:rPr>
              <a:t>of </a:t>
            </a:r>
            <a:endParaRPr lang="en-US" sz="1200" b="1" spc="-10" dirty="0">
              <a:solidFill>
                <a:srgbClr val="C00000"/>
              </a:solidFill>
              <a:latin typeface="Times New Roman"/>
              <a:cs typeface="Times New Roman"/>
            </a:endParaRPr>
          </a:p>
          <a:p>
            <a:pPr marL="1730375" marR="1257935" indent="-299085">
              <a:lnSpc>
                <a:spcPct val="99600"/>
              </a:lnSpc>
              <a:spcBef>
                <a:spcPts val="105"/>
              </a:spcBef>
            </a:pPr>
            <a:r>
              <a:rPr lang="en-IN" sz="1200" b="1" spc="-10" dirty="0">
                <a:solidFill>
                  <a:srgbClr val="C00000"/>
                </a:solidFill>
                <a:latin typeface="Times New Roman"/>
                <a:cs typeface="Times New Roman"/>
              </a:rPr>
              <a:t>    Khaja Shareef</a:t>
            </a:r>
          </a:p>
          <a:p>
            <a:pPr marL="1730375" marR="1257935" indent="-299085">
              <a:lnSpc>
                <a:spcPct val="99600"/>
              </a:lnSpc>
              <a:spcBef>
                <a:spcPts val="105"/>
              </a:spcBef>
            </a:pPr>
            <a:r>
              <a:rPr sz="1200" b="1" spc="-10" dirty="0">
                <a:solidFill>
                  <a:schemeClr val="tx1"/>
                </a:solidFill>
                <a:latin typeface="Times New Roman"/>
                <a:cs typeface="Times New Roman"/>
              </a:rPr>
              <a:t> </a:t>
            </a:r>
            <a:r>
              <a:rPr lang="en-US" sz="1200" b="1" spc="-10" dirty="0">
                <a:solidFill>
                  <a:schemeClr val="tx1"/>
                </a:solidFill>
                <a:latin typeface="Times New Roman"/>
                <a:cs typeface="Times New Roman"/>
              </a:rPr>
              <a:t>      CS&amp;IT HOD</a:t>
            </a:r>
            <a:endParaRPr sz="1200" dirty="0">
              <a:solidFill>
                <a:schemeClr val="tx1"/>
              </a:solidFill>
              <a:latin typeface="Times New Roman"/>
              <a:cs typeface="Times New Roman"/>
            </a:endParaRPr>
          </a:p>
          <a:p>
            <a:pPr marL="12700">
              <a:lnSpc>
                <a:spcPct val="100000"/>
              </a:lnSpc>
              <a:spcBef>
                <a:spcPts val="15"/>
              </a:spcBef>
            </a:pPr>
            <a:r>
              <a:rPr sz="1400" b="1" spc="-20" dirty="0">
                <a:solidFill>
                  <a:srgbClr val="001F5F"/>
                </a:solidFill>
                <a:latin typeface="Times New Roman"/>
                <a:cs typeface="Times New Roman"/>
              </a:rPr>
              <a:t>Department</a:t>
            </a:r>
            <a:r>
              <a:rPr sz="1400" b="1" spc="-55" dirty="0">
                <a:solidFill>
                  <a:srgbClr val="001F5F"/>
                </a:solidFill>
                <a:latin typeface="Times New Roman"/>
                <a:cs typeface="Times New Roman"/>
              </a:rPr>
              <a:t> </a:t>
            </a:r>
            <a:r>
              <a:rPr sz="1400" b="1" dirty="0">
                <a:solidFill>
                  <a:srgbClr val="001F5F"/>
                </a:solidFill>
                <a:latin typeface="Times New Roman"/>
                <a:cs typeface="Times New Roman"/>
              </a:rPr>
              <a:t>of</a:t>
            </a:r>
            <a:r>
              <a:rPr sz="1400" b="1" spc="-60" dirty="0">
                <a:solidFill>
                  <a:srgbClr val="001F5F"/>
                </a:solidFill>
                <a:latin typeface="Times New Roman"/>
                <a:cs typeface="Times New Roman"/>
              </a:rPr>
              <a:t> </a:t>
            </a:r>
            <a:r>
              <a:rPr sz="1400" b="1" spc="-20" dirty="0">
                <a:solidFill>
                  <a:srgbClr val="001F5F"/>
                </a:solidFill>
                <a:latin typeface="Times New Roman"/>
                <a:cs typeface="Times New Roman"/>
              </a:rPr>
              <a:t>Computer</a:t>
            </a:r>
            <a:r>
              <a:rPr sz="1400" b="1" spc="-45" dirty="0">
                <a:solidFill>
                  <a:srgbClr val="001F5F"/>
                </a:solidFill>
                <a:latin typeface="Times New Roman"/>
                <a:cs typeface="Times New Roman"/>
              </a:rPr>
              <a:t> </a:t>
            </a:r>
            <a:r>
              <a:rPr sz="1400" b="1" spc="-20" dirty="0">
                <a:solidFill>
                  <a:srgbClr val="001F5F"/>
                </a:solidFill>
                <a:latin typeface="Times New Roman"/>
                <a:cs typeface="Times New Roman"/>
              </a:rPr>
              <a:t>Science</a:t>
            </a:r>
            <a:r>
              <a:rPr sz="1400" b="1" spc="-65" dirty="0">
                <a:solidFill>
                  <a:srgbClr val="001F5F"/>
                </a:solidFill>
                <a:latin typeface="Times New Roman"/>
                <a:cs typeface="Times New Roman"/>
              </a:rPr>
              <a:t> </a:t>
            </a:r>
            <a:r>
              <a:rPr sz="1400" b="1" dirty="0">
                <a:solidFill>
                  <a:srgbClr val="001F5F"/>
                </a:solidFill>
                <a:latin typeface="Times New Roman"/>
                <a:cs typeface="Times New Roman"/>
              </a:rPr>
              <a:t>and</a:t>
            </a:r>
            <a:r>
              <a:rPr sz="1400" b="1" spc="-50" dirty="0">
                <a:solidFill>
                  <a:srgbClr val="001F5F"/>
                </a:solidFill>
                <a:latin typeface="Times New Roman"/>
                <a:cs typeface="Times New Roman"/>
              </a:rPr>
              <a:t> </a:t>
            </a:r>
            <a:r>
              <a:rPr sz="1400" b="1" spc="-10" dirty="0">
                <a:solidFill>
                  <a:srgbClr val="001F5F"/>
                </a:solidFill>
                <a:latin typeface="Times New Roman"/>
                <a:cs typeface="Times New Roman"/>
              </a:rPr>
              <a:t>Information</a:t>
            </a:r>
            <a:r>
              <a:rPr sz="1400" b="1" spc="-20" dirty="0">
                <a:solidFill>
                  <a:srgbClr val="001F5F"/>
                </a:solidFill>
                <a:latin typeface="Times New Roman"/>
                <a:cs typeface="Times New Roman"/>
              </a:rPr>
              <a:t> </a:t>
            </a:r>
            <a:r>
              <a:rPr sz="1400" b="1" spc="-10" dirty="0">
                <a:solidFill>
                  <a:srgbClr val="001F5F"/>
                </a:solidFill>
                <a:latin typeface="Times New Roman"/>
                <a:cs typeface="Times New Roman"/>
              </a:rPr>
              <a:t>Technology</a:t>
            </a:r>
            <a:endParaRPr sz="1400" dirty="0">
              <a:latin typeface="Times New Roman"/>
              <a:cs typeface="Times New Roman"/>
            </a:endParaRPr>
          </a:p>
        </p:txBody>
      </p:sp>
      <p:grpSp>
        <p:nvGrpSpPr>
          <p:cNvPr id="8" name="object 8"/>
          <p:cNvGrpSpPr/>
          <p:nvPr/>
        </p:nvGrpSpPr>
        <p:grpSpPr>
          <a:xfrm>
            <a:off x="304800" y="304799"/>
            <a:ext cx="6955790" cy="10086340"/>
            <a:chOff x="304800" y="304799"/>
            <a:chExt cx="6955790" cy="10086340"/>
          </a:xfrm>
        </p:grpSpPr>
        <p:sp>
          <p:nvSpPr>
            <p:cNvPr id="9" name="object 9"/>
            <p:cNvSpPr/>
            <p:nvPr/>
          </p:nvSpPr>
          <p:spPr>
            <a:xfrm>
              <a:off x="304800" y="304799"/>
              <a:ext cx="6955790" cy="10086340"/>
            </a:xfrm>
            <a:custGeom>
              <a:avLst/>
              <a:gdLst/>
              <a:ahLst/>
              <a:cxnLst/>
              <a:rect l="l" t="t" r="r" b="b"/>
              <a:pathLst>
                <a:path w="6955790" h="10086340">
                  <a:moveTo>
                    <a:pt x="6955536" y="0"/>
                  </a:moveTo>
                  <a:lnTo>
                    <a:pt x="6928104" y="0"/>
                  </a:lnTo>
                  <a:lnTo>
                    <a:pt x="6928104" y="27432"/>
                  </a:lnTo>
                  <a:lnTo>
                    <a:pt x="6928104" y="10058400"/>
                  </a:lnTo>
                  <a:lnTo>
                    <a:pt x="27432" y="10058400"/>
                  </a:lnTo>
                  <a:lnTo>
                    <a:pt x="27432" y="27432"/>
                  </a:lnTo>
                  <a:lnTo>
                    <a:pt x="6928104" y="27432"/>
                  </a:lnTo>
                  <a:lnTo>
                    <a:pt x="6928104" y="0"/>
                  </a:lnTo>
                  <a:lnTo>
                    <a:pt x="27432" y="0"/>
                  </a:lnTo>
                  <a:lnTo>
                    <a:pt x="0" y="0"/>
                  </a:lnTo>
                  <a:lnTo>
                    <a:pt x="0" y="27432"/>
                  </a:lnTo>
                  <a:lnTo>
                    <a:pt x="0" y="10058400"/>
                  </a:lnTo>
                  <a:lnTo>
                    <a:pt x="0" y="10085832"/>
                  </a:lnTo>
                  <a:lnTo>
                    <a:pt x="27432" y="10085832"/>
                  </a:lnTo>
                  <a:lnTo>
                    <a:pt x="6928104" y="10085832"/>
                  </a:lnTo>
                  <a:lnTo>
                    <a:pt x="6955536" y="10085832"/>
                  </a:lnTo>
                  <a:lnTo>
                    <a:pt x="6955536" y="10058400"/>
                  </a:lnTo>
                  <a:lnTo>
                    <a:pt x="6955536" y="27432"/>
                  </a:lnTo>
                  <a:lnTo>
                    <a:pt x="6955536" y="0"/>
                  </a:lnTo>
                  <a:close/>
                </a:path>
              </a:pathLst>
            </a:custGeom>
            <a:solidFill>
              <a:srgbClr val="000000"/>
            </a:solidFill>
          </p:spPr>
          <p:txBody>
            <a:bodyPr wrap="square" lIns="0" tIns="0" rIns="0" bIns="0" rtlCol="0"/>
            <a:lstStyle/>
            <a:p>
              <a:endParaRPr/>
            </a:p>
          </p:txBody>
        </p:sp>
        <p:pic>
          <p:nvPicPr>
            <p:cNvPr id="10" name="object 10"/>
            <p:cNvPicPr/>
            <p:nvPr/>
          </p:nvPicPr>
          <p:blipFill>
            <a:blip r:embed="rId2" cstate="print"/>
            <a:stretch>
              <a:fillRect/>
            </a:stretch>
          </p:blipFill>
          <p:spPr>
            <a:xfrm>
              <a:off x="2590800" y="5808560"/>
              <a:ext cx="2020570" cy="723811"/>
            </a:xfrm>
            <a:prstGeom prst="rect">
              <a:avLst/>
            </a:prstGeom>
          </p:spPr>
        </p:pic>
        <p:pic>
          <p:nvPicPr>
            <p:cNvPr id="11" name="object 11"/>
            <p:cNvPicPr/>
            <p:nvPr/>
          </p:nvPicPr>
          <p:blipFill>
            <a:blip r:embed="rId3" cstate="print"/>
            <a:stretch>
              <a:fillRect/>
            </a:stretch>
          </p:blipFill>
          <p:spPr>
            <a:xfrm>
              <a:off x="906780" y="6672198"/>
              <a:ext cx="5814822" cy="960755"/>
            </a:xfrm>
            <a:prstGeom prst="rect">
              <a:avLst/>
            </a:prstGeom>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037640" y="946150"/>
            <a:ext cx="5659755" cy="553085"/>
          </a:xfrm>
          <a:prstGeom prst="rect">
            <a:avLst/>
          </a:prstGeom>
        </p:spPr>
        <p:txBody>
          <a:bodyPr vert="horz" wrap="square" lIns="0" tIns="12700" rIns="0" bIns="0" rtlCol="0">
            <a:spAutoFit/>
          </a:bodyPr>
          <a:lstStyle/>
          <a:p>
            <a:pPr marR="95885" algn="ctr">
              <a:lnSpc>
                <a:spcPct val="100000"/>
              </a:lnSpc>
              <a:spcBef>
                <a:spcPts val="100"/>
              </a:spcBef>
            </a:pPr>
            <a:r>
              <a:rPr sz="1200" b="1" dirty="0">
                <a:latin typeface="Times New Roman"/>
                <a:cs typeface="Times New Roman"/>
              </a:rPr>
              <a:t>K</a:t>
            </a:r>
            <a:r>
              <a:rPr sz="1200" b="1" spc="-25" dirty="0">
                <a:latin typeface="Times New Roman"/>
                <a:cs typeface="Times New Roman"/>
              </a:rPr>
              <a:t> </a:t>
            </a:r>
            <a:r>
              <a:rPr sz="1200" b="1" dirty="0">
                <a:latin typeface="Times New Roman"/>
                <a:cs typeface="Times New Roman"/>
              </a:rPr>
              <a:t>L</a:t>
            </a:r>
            <a:r>
              <a:rPr sz="1200" b="1" spc="-15" dirty="0">
                <a:latin typeface="Times New Roman"/>
                <a:cs typeface="Times New Roman"/>
              </a:rPr>
              <a:t> </a:t>
            </a:r>
            <a:r>
              <a:rPr sz="1200" b="1" dirty="0">
                <a:latin typeface="Times New Roman"/>
                <a:cs typeface="Times New Roman"/>
              </a:rPr>
              <a:t>(Deemed</a:t>
            </a:r>
            <a:r>
              <a:rPr sz="1200" b="1" spc="-15" dirty="0">
                <a:latin typeface="Times New Roman"/>
                <a:cs typeface="Times New Roman"/>
              </a:rPr>
              <a:t> </a:t>
            </a:r>
            <a:r>
              <a:rPr sz="1200" b="1" dirty="0">
                <a:latin typeface="Times New Roman"/>
                <a:cs typeface="Times New Roman"/>
              </a:rPr>
              <a:t>to</a:t>
            </a:r>
            <a:r>
              <a:rPr sz="1200" b="1" spc="-15" dirty="0">
                <a:latin typeface="Times New Roman"/>
                <a:cs typeface="Times New Roman"/>
              </a:rPr>
              <a:t> </a:t>
            </a:r>
            <a:r>
              <a:rPr sz="1200" b="1" dirty="0">
                <a:latin typeface="Times New Roman"/>
                <a:cs typeface="Times New Roman"/>
              </a:rPr>
              <a:t>be)</a:t>
            </a:r>
            <a:r>
              <a:rPr sz="1200" b="1" spc="-10" dirty="0">
                <a:latin typeface="Times New Roman"/>
                <a:cs typeface="Times New Roman"/>
              </a:rPr>
              <a:t> University</a:t>
            </a:r>
            <a:endParaRPr sz="1200">
              <a:latin typeface="Times New Roman"/>
              <a:cs typeface="Times New Roman"/>
            </a:endParaRPr>
          </a:p>
          <a:p>
            <a:pPr marL="12700">
              <a:lnSpc>
                <a:spcPct val="100000"/>
              </a:lnSpc>
              <a:spcBef>
                <a:spcPts val="1270"/>
              </a:spcBef>
            </a:pPr>
            <a:r>
              <a:rPr sz="1200" b="1" dirty="0">
                <a:latin typeface="Times New Roman"/>
                <a:cs typeface="Times New Roman"/>
              </a:rPr>
              <a:t>DEPARTMENT</a:t>
            </a:r>
            <a:r>
              <a:rPr sz="1200" b="1" spc="-65" dirty="0">
                <a:latin typeface="Times New Roman"/>
                <a:cs typeface="Times New Roman"/>
              </a:rPr>
              <a:t> </a:t>
            </a:r>
            <a:r>
              <a:rPr sz="1200" b="1" dirty="0">
                <a:latin typeface="Times New Roman"/>
                <a:cs typeface="Times New Roman"/>
              </a:rPr>
              <a:t>OF</a:t>
            </a:r>
            <a:r>
              <a:rPr sz="1200" b="1" spc="-60" dirty="0">
                <a:latin typeface="Times New Roman"/>
                <a:cs typeface="Times New Roman"/>
              </a:rPr>
              <a:t> </a:t>
            </a:r>
            <a:r>
              <a:rPr sz="1200" b="1" dirty="0">
                <a:latin typeface="Times New Roman"/>
                <a:cs typeface="Times New Roman"/>
              </a:rPr>
              <a:t>COMPUTER</a:t>
            </a:r>
            <a:r>
              <a:rPr sz="1200" b="1" spc="-45" dirty="0">
                <a:latin typeface="Times New Roman"/>
                <a:cs typeface="Times New Roman"/>
              </a:rPr>
              <a:t> </a:t>
            </a:r>
            <a:r>
              <a:rPr sz="1200" b="1" dirty="0">
                <a:latin typeface="Times New Roman"/>
                <a:cs typeface="Times New Roman"/>
              </a:rPr>
              <a:t>SCIENCE</a:t>
            </a:r>
            <a:r>
              <a:rPr sz="1200" b="1" spc="-30" dirty="0">
                <a:latin typeface="Times New Roman"/>
                <a:cs typeface="Times New Roman"/>
              </a:rPr>
              <a:t> </a:t>
            </a:r>
            <a:r>
              <a:rPr sz="1200" b="1" dirty="0">
                <a:latin typeface="Times New Roman"/>
                <a:cs typeface="Times New Roman"/>
              </a:rPr>
              <a:t>AND</a:t>
            </a:r>
            <a:r>
              <a:rPr sz="1200" b="1" spc="-50" dirty="0">
                <a:latin typeface="Times New Roman"/>
                <a:cs typeface="Times New Roman"/>
              </a:rPr>
              <a:t> </a:t>
            </a:r>
            <a:r>
              <a:rPr sz="1200" b="1" dirty="0">
                <a:latin typeface="Times New Roman"/>
                <a:cs typeface="Times New Roman"/>
              </a:rPr>
              <a:t>INFORMATION</a:t>
            </a:r>
            <a:r>
              <a:rPr sz="1200" b="1" spc="-30" dirty="0">
                <a:latin typeface="Times New Roman"/>
                <a:cs typeface="Times New Roman"/>
              </a:rPr>
              <a:t> </a:t>
            </a:r>
            <a:r>
              <a:rPr sz="1200" b="1" spc="-10" dirty="0">
                <a:latin typeface="Times New Roman"/>
                <a:cs typeface="Times New Roman"/>
              </a:rPr>
              <a:t>TECHNOLOGY</a:t>
            </a:r>
            <a:endParaRPr sz="1200">
              <a:latin typeface="Times New Roman"/>
              <a:cs typeface="Times New Roman"/>
            </a:endParaRPr>
          </a:p>
        </p:txBody>
      </p:sp>
      <p:sp>
        <p:nvSpPr>
          <p:cNvPr id="3" name="object 3"/>
          <p:cNvSpPr txBox="1"/>
          <p:nvPr/>
        </p:nvSpPr>
        <p:spPr>
          <a:xfrm>
            <a:off x="436880" y="3441319"/>
            <a:ext cx="6689725" cy="1676741"/>
          </a:xfrm>
          <a:prstGeom prst="rect">
            <a:avLst/>
          </a:prstGeom>
        </p:spPr>
        <p:txBody>
          <a:bodyPr vert="horz" wrap="square" lIns="0" tIns="12065" rIns="0" bIns="0" rtlCol="0">
            <a:spAutoFit/>
          </a:bodyPr>
          <a:lstStyle/>
          <a:p>
            <a:pPr marL="156845" algn="ctr">
              <a:lnSpc>
                <a:spcPct val="100000"/>
              </a:lnSpc>
              <a:spcBef>
                <a:spcPts val="95"/>
              </a:spcBef>
            </a:pPr>
            <a:r>
              <a:rPr sz="1600" b="1" u="sng" spc="-10" dirty="0">
                <a:solidFill>
                  <a:srgbClr val="C00000"/>
                </a:solidFill>
                <a:uFill>
                  <a:solidFill>
                    <a:srgbClr val="C00000"/>
                  </a:solidFill>
                </a:uFill>
                <a:latin typeface="Times New Roman"/>
                <a:cs typeface="Times New Roman"/>
              </a:rPr>
              <a:t>Declaration</a:t>
            </a:r>
            <a:endParaRPr sz="1600" dirty="0">
              <a:latin typeface="Times New Roman"/>
              <a:cs typeface="Times New Roman"/>
            </a:endParaRPr>
          </a:p>
          <a:p>
            <a:pPr>
              <a:lnSpc>
                <a:spcPct val="100000"/>
              </a:lnSpc>
              <a:spcBef>
                <a:spcPts val="490"/>
              </a:spcBef>
            </a:pPr>
            <a:endParaRPr sz="1600" dirty="0">
              <a:latin typeface="Times New Roman"/>
              <a:cs typeface="Times New Roman"/>
            </a:endParaRPr>
          </a:p>
          <a:p>
            <a:pPr marL="12700" marR="5080" algn="just">
              <a:lnSpc>
                <a:spcPct val="100000"/>
              </a:lnSpc>
              <a:spcBef>
                <a:spcPts val="5"/>
              </a:spcBef>
            </a:pPr>
            <a:r>
              <a:rPr sz="1200" dirty="0">
                <a:latin typeface="Times New Roman"/>
                <a:cs typeface="Times New Roman"/>
              </a:rPr>
              <a:t>The</a:t>
            </a:r>
            <a:r>
              <a:rPr sz="1200" spc="45" dirty="0">
                <a:latin typeface="Times New Roman"/>
                <a:cs typeface="Times New Roman"/>
              </a:rPr>
              <a:t> </a:t>
            </a:r>
            <a:r>
              <a:rPr sz="1200" dirty="0">
                <a:latin typeface="Times New Roman"/>
                <a:cs typeface="Times New Roman"/>
              </a:rPr>
              <a:t>Project</a:t>
            </a:r>
            <a:r>
              <a:rPr sz="1200" spc="60" dirty="0">
                <a:latin typeface="Times New Roman"/>
                <a:cs typeface="Times New Roman"/>
              </a:rPr>
              <a:t> </a:t>
            </a:r>
            <a:r>
              <a:rPr sz="1200" dirty="0">
                <a:latin typeface="Times New Roman"/>
                <a:cs typeface="Times New Roman"/>
              </a:rPr>
              <a:t>Report</a:t>
            </a:r>
            <a:r>
              <a:rPr sz="1200" spc="55" dirty="0">
                <a:latin typeface="Times New Roman"/>
                <a:cs typeface="Times New Roman"/>
              </a:rPr>
              <a:t> </a:t>
            </a:r>
            <a:r>
              <a:rPr sz="1200" dirty="0">
                <a:latin typeface="Times New Roman"/>
                <a:cs typeface="Times New Roman"/>
              </a:rPr>
              <a:t>entitled</a:t>
            </a:r>
            <a:r>
              <a:rPr sz="1200" spc="75" dirty="0">
                <a:latin typeface="Times New Roman"/>
                <a:cs typeface="Times New Roman"/>
              </a:rPr>
              <a:t> </a:t>
            </a:r>
            <a:r>
              <a:rPr sz="1200" b="1" dirty="0">
                <a:solidFill>
                  <a:srgbClr val="FF0000"/>
                </a:solidFill>
                <a:latin typeface="Times New Roman"/>
                <a:cs typeface="Times New Roman"/>
              </a:rPr>
              <a:t>“</a:t>
            </a:r>
            <a:r>
              <a:rPr lang="en-IN" sz="1200" b="1" dirty="0">
                <a:solidFill>
                  <a:srgbClr val="FF0000"/>
                </a:solidFill>
              </a:rPr>
              <a:t>Library Management System with RFID Integration</a:t>
            </a:r>
            <a:r>
              <a:rPr sz="1200" b="1" dirty="0">
                <a:solidFill>
                  <a:srgbClr val="FF0000"/>
                </a:solidFill>
                <a:latin typeface="Times New Roman"/>
                <a:cs typeface="Times New Roman"/>
              </a:rPr>
              <a:t>”</a:t>
            </a:r>
            <a:r>
              <a:rPr sz="1200" b="1" spc="85" dirty="0">
                <a:solidFill>
                  <a:srgbClr val="FF0000"/>
                </a:solidFill>
                <a:latin typeface="Times New Roman"/>
                <a:cs typeface="Times New Roman"/>
              </a:rPr>
              <a:t> </a:t>
            </a:r>
            <a:r>
              <a:rPr sz="1200" dirty="0">
                <a:latin typeface="Times New Roman"/>
                <a:cs typeface="Times New Roman"/>
              </a:rPr>
              <a:t>is</a:t>
            </a:r>
            <a:r>
              <a:rPr sz="1200" spc="55" dirty="0">
                <a:latin typeface="Times New Roman"/>
                <a:cs typeface="Times New Roman"/>
              </a:rPr>
              <a:t> </a:t>
            </a:r>
            <a:r>
              <a:rPr sz="1200" dirty="0">
                <a:latin typeface="Times New Roman"/>
                <a:cs typeface="Times New Roman"/>
              </a:rPr>
              <a:t>a</a:t>
            </a:r>
            <a:r>
              <a:rPr sz="1200" spc="60" dirty="0">
                <a:latin typeface="Times New Roman"/>
                <a:cs typeface="Times New Roman"/>
              </a:rPr>
              <a:t> </a:t>
            </a:r>
            <a:r>
              <a:rPr sz="1200" dirty="0">
                <a:latin typeface="Times New Roman"/>
                <a:cs typeface="Times New Roman"/>
              </a:rPr>
              <a:t>record</a:t>
            </a:r>
            <a:r>
              <a:rPr sz="1200" spc="50" dirty="0">
                <a:latin typeface="Times New Roman"/>
                <a:cs typeface="Times New Roman"/>
              </a:rPr>
              <a:t> </a:t>
            </a:r>
            <a:r>
              <a:rPr sz="1200" dirty="0">
                <a:latin typeface="Times New Roman"/>
                <a:cs typeface="Times New Roman"/>
              </a:rPr>
              <a:t>of</a:t>
            </a:r>
            <a:r>
              <a:rPr sz="1200" spc="75" dirty="0">
                <a:latin typeface="Times New Roman"/>
                <a:cs typeface="Times New Roman"/>
              </a:rPr>
              <a:t> </a:t>
            </a:r>
            <a:r>
              <a:rPr sz="1200" spc="-10" dirty="0">
                <a:latin typeface="Times New Roman"/>
                <a:cs typeface="Times New Roman"/>
              </a:rPr>
              <a:t>bonafide </a:t>
            </a:r>
            <a:r>
              <a:rPr sz="1200" dirty="0">
                <a:latin typeface="Times New Roman"/>
                <a:cs typeface="Times New Roman"/>
              </a:rPr>
              <a:t>work</a:t>
            </a:r>
            <a:r>
              <a:rPr sz="1200" spc="-55" dirty="0">
                <a:latin typeface="Times New Roman"/>
                <a:cs typeface="Times New Roman"/>
              </a:rPr>
              <a:t> </a:t>
            </a:r>
            <a:r>
              <a:rPr sz="1200" dirty="0">
                <a:latin typeface="Times New Roman"/>
                <a:cs typeface="Times New Roman"/>
              </a:rPr>
              <a:t>of</a:t>
            </a:r>
            <a:r>
              <a:rPr sz="1200" spc="-55" dirty="0">
                <a:latin typeface="Times New Roman"/>
                <a:cs typeface="Times New Roman"/>
              </a:rPr>
              <a:t> </a:t>
            </a:r>
            <a:r>
              <a:rPr lang="en-US" sz="1200" b="1" spc="-10" dirty="0">
                <a:solidFill>
                  <a:srgbClr val="9BBA58"/>
                </a:solidFill>
                <a:latin typeface="Times New Roman"/>
                <a:cs typeface="Times New Roman"/>
              </a:rPr>
              <a:t>BACHU SIDDHARTA-2500090225</a:t>
            </a:r>
            <a:r>
              <a:rPr sz="1200" b="1" dirty="0">
                <a:solidFill>
                  <a:srgbClr val="9BBA58"/>
                </a:solidFill>
                <a:latin typeface="Times New Roman"/>
                <a:cs typeface="Times New Roman"/>
              </a:rPr>
              <a:t>,</a:t>
            </a:r>
            <a:r>
              <a:rPr sz="1200" b="1" spc="-50" dirty="0">
                <a:solidFill>
                  <a:srgbClr val="9BBA58"/>
                </a:solidFill>
                <a:latin typeface="Times New Roman"/>
                <a:cs typeface="Times New Roman"/>
              </a:rPr>
              <a:t> </a:t>
            </a:r>
            <a:r>
              <a:rPr lang="en-US" sz="1200" b="1" spc="-50" dirty="0">
                <a:solidFill>
                  <a:srgbClr val="9BBA58"/>
                </a:solidFill>
                <a:latin typeface="Times New Roman"/>
                <a:cs typeface="Times New Roman"/>
              </a:rPr>
              <a:t>V.SANTOSH</a:t>
            </a:r>
            <a:r>
              <a:rPr sz="1200" b="1" dirty="0">
                <a:solidFill>
                  <a:srgbClr val="9BBA58"/>
                </a:solidFill>
                <a:latin typeface="Times New Roman"/>
                <a:cs typeface="Times New Roman"/>
              </a:rPr>
              <a:t>-</a:t>
            </a:r>
            <a:r>
              <a:rPr sz="1200" b="1" spc="-55" dirty="0">
                <a:solidFill>
                  <a:srgbClr val="9BBA58"/>
                </a:solidFill>
                <a:latin typeface="Times New Roman"/>
                <a:cs typeface="Times New Roman"/>
              </a:rPr>
              <a:t> </a:t>
            </a:r>
            <a:r>
              <a:rPr sz="1200" b="1" dirty="0">
                <a:solidFill>
                  <a:srgbClr val="9BBA58"/>
                </a:solidFill>
                <a:latin typeface="Times New Roman"/>
                <a:cs typeface="Times New Roman"/>
              </a:rPr>
              <a:t>2520090</a:t>
            </a:r>
            <a:r>
              <a:rPr lang="en-US" sz="1200" b="1" dirty="0">
                <a:solidFill>
                  <a:srgbClr val="9BBA58"/>
                </a:solidFill>
                <a:latin typeface="Times New Roman"/>
                <a:cs typeface="Times New Roman"/>
              </a:rPr>
              <a:t>051,C.V.JASHWANTH REDDY-2520080025</a:t>
            </a:r>
            <a:r>
              <a:rPr sz="1200" b="1" spc="-55" dirty="0">
                <a:solidFill>
                  <a:srgbClr val="9BBA58"/>
                </a:solidFill>
                <a:latin typeface="Times New Roman"/>
                <a:cs typeface="Times New Roman"/>
              </a:rPr>
              <a:t> </a:t>
            </a:r>
            <a:r>
              <a:rPr sz="1200" spc="-10" dirty="0">
                <a:latin typeface="Times New Roman"/>
                <a:cs typeface="Times New Roman"/>
              </a:rPr>
              <a:t>submitted</a:t>
            </a:r>
            <a:r>
              <a:rPr sz="1200" spc="-65" dirty="0">
                <a:latin typeface="Times New Roman"/>
                <a:cs typeface="Times New Roman"/>
              </a:rPr>
              <a:t> </a:t>
            </a:r>
            <a:r>
              <a:rPr sz="1200" dirty="0">
                <a:latin typeface="Times New Roman"/>
                <a:cs typeface="Times New Roman"/>
              </a:rPr>
              <a:t>in</a:t>
            </a:r>
            <a:r>
              <a:rPr sz="1200" spc="-50" dirty="0">
                <a:latin typeface="Times New Roman"/>
                <a:cs typeface="Times New Roman"/>
              </a:rPr>
              <a:t> </a:t>
            </a:r>
            <a:r>
              <a:rPr sz="1200" spc="-10" dirty="0">
                <a:latin typeface="Times New Roman"/>
                <a:cs typeface="Times New Roman"/>
              </a:rPr>
              <a:t>partial fulfillment</a:t>
            </a:r>
            <a:r>
              <a:rPr sz="1200" spc="-40" dirty="0">
                <a:latin typeface="Times New Roman"/>
                <a:cs typeface="Times New Roman"/>
              </a:rPr>
              <a:t> </a:t>
            </a:r>
            <a:r>
              <a:rPr sz="1200" dirty="0">
                <a:latin typeface="Times New Roman"/>
                <a:cs typeface="Times New Roman"/>
              </a:rPr>
              <a:t>of</a:t>
            </a:r>
            <a:r>
              <a:rPr sz="1200" spc="-45" dirty="0">
                <a:latin typeface="Times New Roman"/>
                <a:cs typeface="Times New Roman"/>
              </a:rPr>
              <a:t> </a:t>
            </a:r>
            <a:r>
              <a:rPr sz="1200" spc="-10" dirty="0">
                <a:latin typeface="Times New Roman"/>
                <a:cs typeface="Times New Roman"/>
              </a:rPr>
              <a:t>the</a:t>
            </a:r>
            <a:r>
              <a:rPr sz="1200" spc="-45" dirty="0">
                <a:latin typeface="Times New Roman"/>
                <a:cs typeface="Times New Roman"/>
              </a:rPr>
              <a:t> </a:t>
            </a:r>
            <a:r>
              <a:rPr sz="1200" spc="-10" dirty="0">
                <a:latin typeface="Times New Roman"/>
                <a:cs typeface="Times New Roman"/>
              </a:rPr>
              <a:t>requirements</a:t>
            </a:r>
            <a:r>
              <a:rPr sz="1200" spc="-40" dirty="0">
                <a:latin typeface="Times New Roman"/>
                <a:cs typeface="Times New Roman"/>
              </a:rPr>
              <a:t> </a:t>
            </a:r>
            <a:r>
              <a:rPr sz="1200" dirty="0">
                <a:latin typeface="Times New Roman"/>
                <a:cs typeface="Times New Roman"/>
              </a:rPr>
              <a:t>of</a:t>
            </a:r>
            <a:r>
              <a:rPr sz="1200" spc="-45" dirty="0">
                <a:latin typeface="Times New Roman"/>
                <a:cs typeface="Times New Roman"/>
              </a:rPr>
              <a:t> </a:t>
            </a:r>
            <a:r>
              <a:rPr sz="1200" spc="-10" dirty="0">
                <a:latin typeface="Times New Roman"/>
                <a:cs typeface="Times New Roman"/>
              </a:rPr>
              <a:t>the</a:t>
            </a:r>
            <a:r>
              <a:rPr sz="1200" spc="-45" dirty="0">
                <a:latin typeface="Times New Roman"/>
                <a:cs typeface="Times New Roman"/>
              </a:rPr>
              <a:t> </a:t>
            </a:r>
            <a:r>
              <a:rPr sz="1200" spc="-10" dirty="0">
                <a:latin typeface="Times New Roman"/>
                <a:cs typeface="Times New Roman"/>
              </a:rPr>
              <a:t>course</a:t>
            </a:r>
            <a:r>
              <a:rPr sz="1200" spc="-50" dirty="0">
                <a:latin typeface="Times New Roman"/>
                <a:cs typeface="Times New Roman"/>
              </a:rPr>
              <a:t> </a:t>
            </a:r>
            <a:r>
              <a:rPr sz="1200" spc="-10" dirty="0">
                <a:latin typeface="Times New Roman"/>
                <a:cs typeface="Times New Roman"/>
              </a:rPr>
              <a:t>DATABASE</a:t>
            </a:r>
            <a:r>
              <a:rPr sz="1200" spc="-40" dirty="0">
                <a:latin typeface="Times New Roman"/>
                <a:cs typeface="Times New Roman"/>
              </a:rPr>
              <a:t> </a:t>
            </a:r>
            <a:r>
              <a:rPr sz="1200" dirty="0">
                <a:latin typeface="Times New Roman"/>
                <a:cs typeface="Times New Roman"/>
              </a:rPr>
              <a:t>SYSTEMS</a:t>
            </a:r>
            <a:r>
              <a:rPr sz="1200" spc="-40" dirty="0">
                <a:latin typeface="Times New Roman"/>
                <a:cs typeface="Times New Roman"/>
              </a:rPr>
              <a:t> </a:t>
            </a:r>
            <a:r>
              <a:rPr sz="1200" spc="-10" dirty="0">
                <a:latin typeface="Times New Roman"/>
                <a:cs typeface="Times New Roman"/>
              </a:rPr>
              <a:t>ENGINEERING</a:t>
            </a:r>
            <a:r>
              <a:rPr sz="1200" spc="-45" dirty="0">
                <a:latin typeface="Times New Roman"/>
                <a:cs typeface="Times New Roman"/>
              </a:rPr>
              <a:t> </a:t>
            </a:r>
            <a:r>
              <a:rPr sz="1200" dirty="0">
                <a:latin typeface="Times New Roman"/>
                <a:cs typeface="Times New Roman"/>
              </a:rPr>
              <a:t>AND</a:t>
            </a:r>
            <a:r>
              <a:rPr sz="1200" spc="-45" dirty="0">
                <a:latin typeface="Times New Roman"/>
                <a:cs typeface="Times New Roman"/>
              </a:rPr>
              <a:t> </a:t>
            </a:r>
            <a:r>
              <a:rPr sz="1200" spc="-10" dirty="0">
                <a:latin typeface="Times New Roman"/>
                <a:cs typeface="Times New Roman"/>
              </a:rPr>
              <a:t>DISTRIBUTED </a:t>
            </a:r>
            <a:r>
              <a:rPr sz="1200" dirty="0">
                <a:latin typeface="Times New Roman"/>
                <a:cs typeface="Times New Roman"/>
              </a:rPr>
              <a:t>BACKEND</a:t>
            </a:r>
            <a:r>
              <a:rPr sz="1200" spc="45" dirty="0">
                <a:latin typeface="Times New Roman"/>
                <a:cs typeface="Times New Roman"/>
              </a:rPr>
              <a:t> </a:t>
            </a:r>
            <a:r>
              <a:rPr sz="1200" dirty="0">
                <a:latin typeface="Times New Roman"/>
                <a:cs typeface="Times New Roman"/>
              </a:rPr>
              <a:t>DEVELOPMENT</a:t>
            </a:r>
            <a:r>
              <a:rPr sz="1200" spc="40" dirty="0">
                <a:latin typeface="Times New Roman"/>
                <a:cs typeface="Times New Roman"/>
              </a:rPr>
              <a:t> </a:t>
            </a:r>
            <a:r>
              <a:rPr sz="1200" dirty="0">
                <a:latin typeface="Times New Roman"/>
                <a:cs typeface="Times New Roman"/>
              </a:rPr>
              <a:t>(25CS1302E),</a:t>
            </a:r>
            <a:r>
              <a:rPr sz="1200" spc="45" dirty="0">
                <a:latin typeface="Times New Roman"/>
                <a:cs typeface="Times New Roman"/>
              </a:rPr>
              <a:t> </a:t>
            </a:r>
            <a:r>
              <a:rPr sz="1200" dirty="0">
                <a:latin typeface="Times New Roman"/>
                <a:cs typeface="Times New Roman"/>
              </a:rPr>
              <a:t>Section</a:t>
            </a:r>
            <a:r>
              <a:rPr sz="1200" spc="50" dirty="0">
                <a:latin typeface="Times New Roman"/>
                <a:cs typeface="Times New Roman"/>
              </a:rPr>
              <a:t> </a:t>
            </a:r>
            <a:r>
              <a:rPr sz="1200" dirty="0">
                <a:latin typeface="Times New Roman"/>
                <a:cs typeface="Times New Roman"/>
              </a:rPr>
              <a:t>1</a:t>
            </a:r>
            <a:r>
              <a:rPr lang="en-US" sz="1200" dirty="0">
                <a:latin typeface="Times New Roman"/>
                <a:cs typeface="Times New Roman"/>
              </a:rPr>
              <a:t>2</a:t>
            </a:r>
            <a:r>
              <a:rPr sz="1200" dirty="0">
                <a:latin typeface="Times New Roman"/>
                <a:cs typeface="Times New Roman"/>
              </a:rPr>
              <a:t>,</a:t>
            </a:r>
            <a:r>
              <a:rPr sz="1200" spc="45" dirty="0">
                <a:latin typeface="Times New Roman"/>
                <a:cs typeface="Times New Roman"/>
              </a:rPr>
              <a:t> </a:t>
            </a:r>
            <a:r>
              <a:rPr sz="1200" dirty="0">
                <a:latin typeface="Times New Roman"/>
                <a:cs typeface="Times New Roman"/>
              </a:rPr>
              <a:t>Team</a:t>
            </a:r>
            <a:r>
              <a:rPr sz="1200" spc="45" dirty="0">
                <a:latin typeface="Times New Roman"/>
                <a:cs typeface="Times New Roman"/>
              </a:rPr>
              <a:t> </a:t>
            </a:r>
            <a:r>
              <a:rPr lang="en-US" sz="1200" spc="45" dirty="0">
                <a:latin typeface="Times New Roman"/>
                <a:cs typeface="Times New Roman"/>
              </a:rPr>
              <a:t>22</a:t>
            </a:r>
            <a:r>
              <a:rPr sz="1200" dirty="0">
                <a:latin typeface="Times New Roman"/>
                <a:cs typeface="Times New Roman"/>
              </a:rPr>
              <a:t>,</a:t>
            </a:r>
            <a:r>
              <a:rPr sz="1200" spc="50" dirty="0">
                <a:latin typeface="Times New Roman"/>
                <a:cs typeface="Times New Roman"/>
              </a:rPr>
              <a:t> </a:t>
            </a:r>
            <a:r>
              <a:rPr sz="1200" dirty="0">
                <a:latin typeface="Times New Roman"/>
                <a:cs typeface="Times New Roman"/>
              </a:rPr>
              <a:t>during</a:t>
            </a:r>
            <a:r>
              <a:rPr sz="1200" spc="40" dirty="0">
                <a:latin typeface="Times New Roman"/>
                <a:cs typeface="Times New Roman"/>
              </a:rPr>
              <a:t> </a:t>
            </a:r>
            <a:r>
              <a:rPr sz="1200" dirty="0">
                <a:latin typeface="Times New Roman"/>
                <a:cs typeface="Times New Roman"/>
              </a:rPr>
              <a:t>2026–2027,</a:t>
            </a:r>
            <a:r>
              <a:rPr sz="1200" spc="45" dirty="0">
                <a:latin typeface="Times New Roman"/>
                <a:cs typeface="Times New Roman"/>
              </a:rPr>
              <a:t> </a:t>
            </a:r>
            <a:r>
              <a:rPr sz="1200" dirty="0">
                <a:latin typeface="Times New Roman"/>
                <a:cs typeface="Times New Roman"/>
              </a:rPr>
              <a:t>Trimester</a:t>
            </a:r>
            <a:r>
              <a:rPr sz="1200" spc="45" dirty="0">
                <a:latin typeface="Times New Roman"/>
                <a:cs typeface="Times New Roman"/>
              </a:rPr>
              <a:t> </a:t>
            </a:r>
            <a:r>
              <a:rPr sz="1200" dirty="0">
                <a:latin typeface="Times New Roman"/>
                <a:cs typeface="Times New Roman"/>
              </a:rPr>
              <a:t>4,</a:t>
            </a:r>
            <a:r>
              <a:rPr sz="1200" spc="45" dirty="0">
                <a:latin typeface="Times New Roman"/>
                <a:cs typeface="Times New Roman"/>
              </a:rPr>
              <a:t> </a:t>
            </a:r>
            <a:r>
              <a:rPr sz="1200" dirty="0">
                <a:latin typeface="Times New Roman"/>
                <a:cs typeface="Times New Roman"/>
              </a:rPr>
              <a:t>at</a:t>
            </a:r>
            <a:r>
              <a:rPr sz="1200" spc="55" dirty="0">
                <a:latin typeface="Times New Roman"/>
                <a:cs typeface="Times New Roman"/>
              </a:rPr>
              <a:t> </a:t>
            </a:r>
            <a:r>
              <a:rPr sz="1200" spc="-25" dirty="0">
                <a:latin typeface="Times New Roman"/>
                <a:cs typeface="Times New Roman"/>
              </a:rPr>
              <a:t>KLH </a:t>
            </a:r>
            <a:r>
              <a:rPr sz="1200" dirty="0">
                <a:latin typeface="Times New Roman"/>
                <a:cs typeface="Times New Roman"/>
              </a:rPr>
              <a:t>University.</a:t>
            </a:r>
            <a:r>
              <a:rPr sz="1200" spc="15" dirty="0">
                <a:latin typeface="Times New Roman"/>
                <a:cs typeface="Times New Roman"/>
              </a:rPr>
              <a:t> </a:t>
            </a:r>
            <a:r>
              <a:rPr sz="1200" dirty="0">
                <a:latin typeface="Times New Roman"/>
                <a:cs typeface="Times New Roman"/>
              </a:rPr>
              <a:t>The</a:t>
            </a:r>
            <a:r>
              <a:rPr sz="1200" spc="10" dirty="0">
                <a:latin typeface="Times New Roman"/>
                <a:cs typeface="Times New Roman"/>
              </a:rPr>
              <a:t> </a:t>
            </a:r>
            <a:r>
              <a:rPr sz="1200" dirty="0">
                <a:latin typeface="Times New Roman"/>
                <a:cs typeface="Times New Roman"/>
              </a:rPr>
              <a:t>results</a:t>
            </a:r>
            <a:r>
              <a:rPr sz="1200" spc="20" dirty="0">
                <a:latin typeface="Times New Roman"/>
                <a:cs typeface="Times New Roman"/>
              </a:rPr>
              <a:t> </a:t>
            </a:r>
            <a:r>
              <a:rPr sz="1200" dirty="0">
                <a:latin typeface="Times New Roman"/>
                <a:cs typeface="Times New Roman"/>
              </a:rPr>
              <a:t>embodied</a:t>
            </a:r>
            <a:r>
              <a:rPr sz="1200" spc="15" dirty="0">
                <a:latin typeface="Times New Roman"/>
                <a:cs typeface="Times New Roman"/>
              </a:rPr>
              <a:t> </a:t>
            </a:r>
            <a:r>
              <a:rPr sz="1200" dirty="0">
                <a:latin typeface="Times New Roman"/>
                <a:cs typeface="Times New Roman"/>
              </a:rPr>
              <a:t>in</a:t>
            </a:r>
            <a:r>
              <a:rPr sz="1200" spc="20" dirty="0">
                <a:latin typeface="Times New Roman"/>
                <a:cs typeface="Times New Roman"/>
              </a:rPr>
              <a:t> </a:t>
            </a:r>
            <a:r>
              <a:rPr sz="1200" dirty="0">
                <a:latin typeface="Times New Roman"/>
                <a:cs typeface="Times New Roman"/>
              </a:rPr>
              <a:t>this</a:t>
            </a:r>
            <a:r>
              <a:rPr sz="1200" spc="15" dirty="0">
                <a:latin typeface="Times New Roman"/>
                <a:cs typeface="Times New Roman"/>
              </a:rPr>
              <a:t> </a:t>
            </a:r>
            <a:r>
              <a:rPr sz="1200" dirty="0">
                <a:latin typeface="Times New Roman"/>
                <a:cs typeface="Times New Roman"/>
              </a:rPr>
              <a:t>report</a:t>
            </a:r>
            <a:r>
              <a:rPr sz="1200" spc="15" dirty="0">
                <a:latin typeface="Times New Roman"/>
                <a:cs typeface="Times New Roman"/>
              </a:rPr>
              <a:t> </a:t>
            </a:r>
            <a:r>
              <a:rPr sz="1200" dirty="0">
                <a:latin typeface="Times New Roman"/>
                <a:cs typeface="Times New Roman"/>
              </a:rPr>
              <a:t>have</a:t>
            </a:r>
            <a:r>
              <a:rPr sz="1200" spc="15" dirty="0">
                <a:latin typeface="Times New Roman"/>
                <a:cs typeface="Times New Roman"/>
              </a:rPr>
              <a:t> </a:t>
            </a:r>
            <a:r>
              <a:rPr sz="1200" dirty="0">
                <a:latin typeface="Times New Roman"/>
                <a:cs typeface="Times New Roman"/>
              </a:rPr>
              <a:t>not</a:t>
            </a:r>
            <a:r>
              <a:rPr sz="1200" spc="15" dirty="0">
                <a:latin typeface="Times New Roman"/>
                <a:cs typeface="Times New Roman"/>
              </a:rPr>
              <a:t> </a:t>
            </a:r>
            <a:r>
              <a:rPr sz="1200" dirty="0">
                <a:latin typeface="Times New Roman"/>
                <a:cs typeface="Times New Roman"/>
              </a:rPr>
              <a:t>been</a:t>
            </a:r>
            <a:r>
              <a:rPr sz="1200" spc="25" dirty="0">
                <a:latin typeface="Times New Roman"/>
                <a:cs typeface="Times New Roman"/>
              </a:rPr>
              <a:t> </a:t>
            </a:r>
            <a:r>
              <a:rPr sz="1200" dirty="0">
                <a:latin typeface="Times New Roman"/>
                <a:cs typeface="Times New Roman"/>
              </a:rPr>
              <a:t>copied</a:t>
            </a:r>
            <a:r>
              <a:rPr sz="1200" spc="15" dirty="0">
                <a:latin typeface="Times New Roman"/>
                <a:cs typeface="Times New Roman"/>
              </a:rPr>
              <a:t> </a:t>
            </a:r>
            <a:r>
              <a:rPr sz="1200" dirty="0">
                <a:latin typeface="Times New Roman"/>
                <a:cs typeface="Times New Roman"/>
              </a:rPr>
              <a:t>from</a:t>
            </a:r>
            <a:r>
              <a:rPr sz="1200" spc="30" dirty="0">
                <a:latin typeface="Times New Roman"/>
                <a:cs typeface="Times New Roman"/>
              </a:rPr>
              <a:t> </a:t>
            </a:r>
            <a:r>
              <a:rPr sz="1200" dirty="0">
                <a:latin typeface="Times New Roman"/>
                <a:cs typeface="Times New Roman"/>
              </a:rPr>
              <a:t>any</a:t>
            </a:r>
            <a:r>
              <a:rPr sz="1200" spc="-5" dirty="0">
                <a:latin typeface="Times New Roman"/>
                <a:cs typeface="Times New Roman"/>
              </a:rPr>
              <a:t> </a:t>
            </a:r>
            <a:r>
              <a:rPr sz="1200" dirty="0">
                <a:latin typeface="Times New Roman"/>
                <a:cs typeface="Times New Roman"/>
              </a:rPr>
              <a:t>other</a:t>
            </a:r>
            <a:r>
              <a:rPr sz="1200" spc="10" dirty="0">
                <a:latin typeface="Times New Roman"/>
                <a:cs typeface="Times New Roman"/>
              </a:rPr>
              <a:t> </a:t>
            </a:r>
            <a:r>
              <a:rPr sz="1200" dirty="0">
                <a:latin typeface="Times New Roman"/>
                <a:cs typeface="Times New Roman"/>
              </a:rPr>
              <a:t>student,</a:t>
            </a:r>
            <a:r>
              <a:rPr sz="1200" spc="20" dirty="0">
                <a:latin typeface="Times New Roman"/>
                <a:cs typeface="Times New Roman"/>
              </a:rPr>
              <a:t> </a:t>
            </a:r>
            <a:r>
              <a:rPr sz="1200" dirty="0">
                <a:latin typeface="Times New Roman"/>
                <a:cs typeface="Times New Roman"/>
              </a:rPr>
              <a:t>department,</a:t>
            </a:r>
            <a:r>
              <a:rPr sz="1200" spc="15" dirty="0">
                <a:latin typeface="Times New Roman"/>
                <a:cs typeface="Times New Roman"/>
              </a:rPr>
              <a:t> </a:t>
            </a:r>
            <a:r>
              <a:rPr sz="1200" spc="-25" dirty="0">
                <a:latin typeface="Times New Roman"/>
                <a:cs typeface="Times New Roman"/>
              </a:rPr>
              <a:t>or </a:t>
            </a:r>
            <a:r>
              <a:rPr sz="1200" spc="-10" dirty="0">
                <a:latin typeface="Times New Roman"/>
                <a:cs typeface="Times New Roman"/>
              </a:rPr>
              <a:t>institution.</a:t>
            </a:r>
            <a:endParaRPr sz="1200" dirty="0">
              <a:latin typeface="Times New Roman"/>
              <a:cs typeface="Times New Roman"/>
            </a:endParaRPr>
          </a:p>
        </p:txBody>
      </p:sp>
      <p:sp>
        <p:nvSpPr>
          <p:cNvPr id="4" name="object 4"/>
          <p:cNvSpPr txBox="1"/>
          <p:nvPr/>
        </p:nvSpPr>
        <p:spPr>
          <a:xfrm>
            <a:off x="4442840" y="7681721"/>
            <a:ext cx="2508885" cy="848950"/>
          </a:xfrm>
          <a:prstGeom prst="rect">
            <a:avLst/>
          </a:prstGeom>
        </p:spPr>
        <p:txBody>
          <a:bodyPr vert="horz" wrap="square" lIns="0" tIns="12700" rIns="0" bIns="0" rtlCol="0">
            <a:spAutoFit/>
          </a:bodyPr>
          <a:lstStyle/>
          <a:p>
            <a:pPr marL="12700">
              <a:lnSpc>
                <a:spcPct val="100000"/>
              </a:lnSpc>
              <a:spcBef>
                <a:spcPts val="100"/>
              </a:spcBef>
            </a:pPr>
            <a:r>
              <a:rPr lang="en-US" sz="1200" b="1" dirty="0">
                <a:latin typeface="Times New Roman"/>
                <a:cs typeface="Times New Roman"/>
              </a:rPr>
              <a:t>BACHU SIDDHARTHA</a:t>
            </a:r>
            <a:r>
              <a:rPr sz="1200" b="1" dirty="0">
                <a:latin typeface="Times New Roman"/>
                <a:cs typeface="Times New Roman"/>
              </a:rPr>
              <a:t>–</a:t>
            </a:r>
            <a:r>
              <a:rPr sz="1200" b="1" spc="-75" dirty="0">
                <a:latin typeface="Times New Roman"/>
                <a:cs typeface="Times New Roman"/>
              </a:rPr>
              <a:t> </a:t>
            </a:r>
            <a:r>
              <a:rPr sz="1200" b="1" spc="-10" dirty="0">
                <a:latin typeface="Times New Roman"/>
                <a:cs typeface="Times New Roman"/>
              </a:rPr>
              <a:t>25</a:t>
            </a:r>
            <a:r>
              <a:rPr lang="en-US" sz="1200" b="1" spc="-10" dirty="0">
                <a:latin typeface="Times New Roman"/>
                <a:cs typeface="Times New Roman"/>
              </a:rPr>
              <a:t>0</a:t>
            </a:r>
            <a:r>
              <a:rPr sz="1200" b="1" spc="-10" dirty="0">
                <a:latin typeface="Times New Roman"/>
                <a:cs typeface="Times New Roman"/>
              </a:rPr>
              <a:t>0090</a:t>
            </a:r>
            <a:r>
              <a:rPr lang="en-US" sz="1200" b="1" spc="-10" dirty="0">
                <a:latin typeface="Times New Roman"/>
                <a:cs typeface="Times New Roman"/>
              </a:rPr>
              <a:t>225</a:t>
            </a:r>
            <a:endParaRPr sz="1200" dirty="0">
              <a:latin typeface="Times New Roman"/>
              <a:cs typeface="Times New Roman"/>
            </a:endParaRPr>
          </a:p>
          <a:p>
            <a:pPr marL="12700">
              <a:lnSpc>
                <a:spcPct val="100000"/>
              </a:lnSpc>
              <a:spcBef>
                <a:spcPts val="1140"/>
              </a:spcBef>
            </a:pPr>
            <a:r>
              <a:rPr lang="en-US" sz="1200" b="1" spc="-75" dirty="0">
                <a:latin typeface="Times New Roman"/>
                <a:cs typeface="Times New Roman"/>
              </a:rPr>
              <a:t>V.SANTOSH</a:t>
            </a:r>
            <a:r>
              <a:rPr sz="1200" b="1" spc="-75" dirty="0">
                <a:latin typeface="Times New Roman"/>
                <a:cs typeface="Times New Roman"/>
              </a:rPr>
              <a:t> </a:t>
            </a:r>
            <a:r>
              <a:rPr sz="1200" b="1" dirty="0">
                <a:latin typeface="Times New Roman"/>
                <a:cs typeface="Times New Roman"/>
              </a:rPr>
              <a:t>–</a:t>
            </a:r>
            <a:r>
              <a:rPr sz="1200" b="1" spc="-5" dirty="0">
                <a:latin typeface="Times New Roman"/>
                <a:cs typeface="Times New Roman"/>
              </a:rPr>
              <a:t> </a:t>
            </a:r>
            <a:r>
              <a:rPr sz="1200" b="1" spc="-10" dirty="0">
                <a:latin typeface="Times New Roman"/>
                <a:cs typeface="Times New Roman"/>
              </a:rPr>
              <a:t>2520090</a:t>
            </a:r>
            <a:r>
              <a:rPr lang="en-US" sz="1200" b="1" spc="-10" dirty="0">
                <a:latin typeface="Times New Roman"/>
                <a:cs typeface="Times New Roman"/>
              </a:rPr>
              <a:t>051</a:t>
            </a:r>
          </a:p>
          <a:p>
            <a:pPr marL="12700">
              <a:lnSpc>
                <a:spcPct val="100000"/>
              </a:lnSpc>
              <a:spcBef>
                <a:spcPts val="1140"/>
              </a:spcBef>
            </a:pPr>
            <a:r>
              <a:rPr lang="en-US" sz="1200" b="1" spc="-10" dirty="0">
                <a:latin typeface="Times New Roman"/>
                <a:cs typeface="Times New Roman"/>
              </a:rPr>
              <a:t>V.JASWANTH REDDY-2520080025</a:t>
            </a:r>
            <a:endParaRPr sz="1200" dirty="0">
              <a:latin typeface="Times New Roman"/>
              <a:cs typeface="Times New Roman"/>
            </a:endParaRPr>
          </a:p>
        </p:txBody>
      </p:sp>
      <p:grpSp>
        <p:nvGrpSpPr>
          <p:cNvPr id="5" name="object 5"/>
          <p:cNvGrpSpPr/>
          <p:nvPr/>
        </p:nvGrpSpPr>
        <p:grpSpPr>
          <a:xfrm>
            <a:off x="304800" y="304799"/>
            <a:ext cx="6955790" cy="10086340"/>
            <a:chOff x="304800" y="304799"/>
            <a:chExt cx="6955790" cy="10086340"/>
          </a:xfrm>
        </p:grpSpPr>
        <p:sp>
          <p:nvSpPr>
            <p:cNvPr id="6" name="object 6"/>
            <p:cNvSpPr/>
            <p:nvPr/>
          </p:nvSpPr>
          <p:spPr>
            <a:xfrm>
              <a:off x="304800" y="304799"/>
              <a:ext cx="6955790" cy="10086340"/>
            </a:xfrm>
            <a:custGeom>
              <a:avLst/>
              <a:gdLst/>
              <a:ahLst/>
              <a:cxnLst/>
              <a:rect l="l" t="t" r="r" b="b"/>
              <a:pathLst>
                <a:path w="6955790" h="10086340">
                  <a:moveTo>
                    <a:pt x="6955536" y="0"/>
                  </a:moveTo>
                  <a:lnTo>
                    <a:pt x="6928104" y="0"/>
                  </a:lnTo>
                  <a:lnTo>
                    <a:pt x="6928104" y="27432"/>
                  </a:lnTo>
                  <a:lnTo>
                    <a:pt x="6928104" y="10058400"/>
                  </a:lnTo>
                  <a:lnTo>
                    <a:pt x="27432" y="10058400"/>
                  </a:lnTo>
                  <a:lnTo>
                    <a:pt x="27432" y="27432"/>
                  </a:lnTo>
                  <a:lnTo>
                    <a:pt x="6928104" y="27432"/>
                  </a:lnTo>
                  <a:lnTo>
                    <a:pt x="6928104" y="0"/>
                  </a:lnTo>
                  <a:lnTo>
                    <a:pt x="27432" y="0"/>
                  </a:lnTo>
                  <a:lnTo>
                    <a:pt x="0" y="0"/>
                  </a:lnTo>
                  <a:lnTo>
                    <a:pt x="0" y="27432"/>
                  </a:lnTo>
                  <a:lnTo>
                    <a:pt x="0" y="10058400"/>
                  </a:lnTo>
                  <a:lnTo>
                    <a:pt x="0" y="10085832"/>
                  </a:lnTo>
                  <a:lnTo>
                    <a:pt x="27432" y="10085832"/>
                  </a:lnTo>
                  <a:lnTo>
                    <a:pt x="6928104" y="10085832"/>
                  </a:lnTo>
                  <a:lnTo>
                    <a:pt x="6955536" y="10085832"/>
                  </a:lnTo>
                  <a:lnTo>
                    <a:pt x="6955536" y="10058400"/>
                  </a:lnTo>
                  <a:lnTo>
                    <a:pt x="6955536" y="27432"/>
                  </a:lnTo>
                  <a:lnTo>
                    <a:pt x="6955536" y="0"/>
                  </a:lnTo>
                  <a:close/>
                </a:path>
              </a:pathLst>
            </a:custGeom>
            <a:solidFill>
              <a:srgbClr val="000000"/>
            </a:solidFill>
          </p:spPr>
          <p:txBody>
            <a:bodyPr wrap="square" lIns="0" tIns="0" rIns="0" bIns="0" rtlCol="0"/>
            <a:lstStyle/>
            <a:p>
              <a:endParaRPr/>
            </a:p>
          </p:txBody>
        </p:sp>
        <p:pic>
          <p:nvPicPr>
            <p:cNvPr id="7" name="object 7"/>
            <p:cNvPicPr/>
            <p:nvPr/>
          </p:nvPicPr>
          <p:blipFill>
            <a:blip r:embed="rId2" cstate="print"/>
            <a:stretch>
              <a:fillRect/>
            </a:stretch>
          </p:blipFill>
          <p:spPr>
            <a:xfrm>
              <a:off x="2677160" y="1898014"/>
              <a:ext cx="2160651" cy="774065"/>
            </a:xfrm>
            <a:prstGeom prst="rect">
              <a:avLst/>
            </a:prstGeom>
          </p:spPr>
        </p:pic>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037640" y="1026921"/>
            <a:ext cx="5661025" cy="561975"/>
          </a:xfrm>
          <a:prstGeom prst="rect">
            <a:avLst/>
          </a:prstGeom>
        </p:spPr>
        <p:txBody>
          <a:bodyPr vert="horz" wrap="square" lIns="0" tIns="12700" rIns="0" bIns="0" rtlCol="0">
            <a:spAutoFit/>
          </a:bodyPr>
          <a:lstStyle/>
          <a:p>
            <a:pPr marL="311150" algn="ctr">
              <a:lnSpc>
                <a:spcPct val="100000"/>
              </a:lnSpc>
              <a:spcBef>
                <a:spcPts val="100"/>
              </a:spcBef>
            </a:pPr>
            <a:r>
              <a:rPr sz="1400" b="1" dirty="0">
                <a:solidFill>
                  <a:srgbClr val="001F5F"/>
                </a:solidFill>
                <a:latin typeface="Times New Roman"/>
                <a:cs typeface="Times New Roman"/>
              </a:rPr>
              <a:t>K</a:t>
            </a:r>
            <a:r>
              <a:rPr sz="1400" b="1" spc="-40" dirty="0">
                <a:solidFill>
                  <a:srgbClr val="001F5F"/>
                </a:solidFill>
                <a:latin typeface="Times New Roman"/>
                <a:cs typeface="Times New Roman"/>
              </a:rPr>
              <a:t> </a:t>
            </a:r>
            <a:r>
              <a:rPr sz="1400" b="1" dirty="0">
                <a:solidFill>
                  <a:srgbClr val="001F5F"/>
                </a:solidFill>
                <a:latin typeface="Times New Roman"/>
                <a:cs typeface="Times New Roman"/>
              </a:rPr>
              <a:t>L</a:t>
            </a:r>
            <a:r>
              <a:rPr sz="1400" b="1" spc="-10" dirty="0">
                <a:solidFill>
                  <a:srgbClr val="001F5F"/>
                </a:solidFill>
                <a:latin typeface="Times New Roman"/>
                <a:cs typeface="Times New Roman"/>
              </a:rPr>
              <a:t> </a:t>
            </a:r>
            <a:r>
              <a:rPr sz="1400" b="1" dirty="0">
                <a:solidFill>
                  <a:srgbClr val="001F5F"/>
                </a:solidFill>
                <a:latin typeface="Times New Roman"/>
                <a:cs typeface="Times New Roman"/>
              </a:rPr>
              <a:t>(Deemed</a:t>
            </a:r>
            <a:r>
              <a:rPr sz="1400" b="1" spc="-20" dirty="0">
                <a:solidFill>
                  <a:srgbClr val="001F5F"/>
                </a:solidFill>
                <a:latin typeface="Times New Roman"/>
                <a:cs typeface="Times New Roman"/>
              </a:rPr>
              <a:t> </a:t>
            </a:r>
            <a:r>
              <a:rPr sz="1400" b="1" dirty="0">
                <a:solidFill>
                  <a:srgbClr val="001F5F"/>
                </a:solidFill>
                <a:latin typeface="Times New Roman"/>
                <a:cs typeface="Times New Roman"/>
              </a:rPr>
              <a:t>to</a:t>
            </a:r>
            <a:r>
              <a:rPr sz="1400" b="1" spc="-10" dirty="0">
                <a:solidFill>
                  <a:srgbClr val="001F5F"/>
                </a:solidFill>
                <a:latin typeface="Times New Roman"/>
                <a:cs typeface="Times New Roman"/>
              </a:rPr>
              <a:t> </a:t>
            </a:r>
            <a:r>
              <a:rPr sz="1400" b="1" dirty="0">
                <a:solidFill>
                  <a:srgbClr val="001F5F"/>
                </a:solidFill>
                <a:latin typeface="Times New Roman"/>
                <a:cs typeface="Times New Roman"/>
              </a:rPr>
              <a:t>be)</a:t>
            </a:r>
            <a:r>
              <a:rPr sz="1400" b="1" spc="-45" dirty="0">
                <a:solidFill>
                  <a:srgbClr val="001F5F"/>
                </a:solidFill>
                <a:latin typeface="Times New Roman"/>
                <a:cs typeface="Times New Roman"/>
              </a:rPr>
              <a:t> </a:t>
            </a:r>
            <a:r>
              <a:rPr sz="1400" b="1" spc="-10" dirty="0">
                <a:solidFill>
                  <a:srgbClr val="001F5F"/>
                </a:solidFill>
                <a:latin typeface="Times New Roman"/>
                <a:cs typeface="Times New Roman"/>
              </a:rPr>
              <a:t>University</a:t>
            </a:r>
            <a:endParaRPr sz="1400">
              <a:latin typeface="Times New Roman"/>
              <a:cs typeface="Times New Roman"/>
            </a:endParaRPr>
          </a:p>
          <a:p>
            <a:pPr marL="12700">
              <a:lnSpc>
                <a:spcPct val="100000"/>
              </a:lnSpc>
              <a:spcBef>
                <a:spcPts val="1100"/>
              </a:spcBef>
            </a:pPr>
            <a:r>
              <a:rPr sz="1200" b="1" dirty="0">
                <a:solidFill>
                  <a:srgbClr val="C00000"/>
                </a:solidFill>
                <a:latin typeface="Times New Roman"/>
                <a:cs typeface="Times New Roman"/>
              </a:rPr>
              <a:t>DEPARTMENT</a:t>
            </a:r>
            <a:r>
              <a:rPr sz="1200" b="1" spc="-60" dirty="0">
                <a:solidFill>
                  <a:srgbClr val="C00000"/>
                </a:solidFill>
                <a:latin typeface="Times New Roman"/>
                <a:cs typeface="Times New Roman"/>
              </a:rPr>
              <a:t> </a:t>
            </a:r>
            <a:r>
              <a:rPr sz="1200" b="1" dirty="0">
                <a:solidFill>
                  <a:srgbClr val="C00000"/>
                </a:solidFill>
                <a:latin typeface="Times New Roman"/>
                <a:cs typeface="Times New Roman"/>
              </a:rPr>
              <a:t>OF</a:t>
            </a:r>
            <a:r>
              <a:rPr sz="1200" b="1" spc="-60" dirty="0">
                <a:solidFill>
                  <a:srgbClr val="C00000"/>
                </a:solidFill>
                <a:latin typeface="Times New Roman"/>
                <a:cs typeface="Times New Roman"/>
              </a:rPr>
              <a:t> </a:t>
            </a:r>
            <a:r>
              <a:rPr sz="1200" b="1" dirty="0">
                <a:solidFill>
                  <a:srgbClr val="C00000"/>
                </a:solidFill>
                <a:latin typeface="Times New Roman"/>
                <a:cs typeface="Times New Roman"/>
              </a:rPr>
              <a:t>COMPUTER</a:t>
            </a:r>
            <a:r>
              <a:rPr sz="1200" b="1" spc="-50" dirty="0">
                <a:solidFill>
                  <a:srgbClr val="C00000"/>
                </a:solidFill>
                <a:latin typeface="Times New Roman"/>
                <a:cs typeface="Times New Roman"/>
              </a:rPr>
              <a:t> </a:t>
            </a:r>
            <a:r>
              <a:rPr sz="1200" b="1" dirty="0">
                <a:solidFill>
                  <a:srgbClr val="C00000"/>
                </a:solidFill>
                <a:latin typeface="Times New Roman"/>
                <a:cs typeface="Times New Roman"/>
              </a:rPr>
              <a:t>SCIENCE</a:t>
            </a:r>
            <a:r>
              <a:rPr sz="1200" b="1" spc="-45" dirty="0">
                <a:solidFill>
                  <a:srgbClr val="C00000"/>
                </a:solidFill>
                <a:latin typeface="Times New Roman"/>
                <a:cs typeface="Times New Roman"/>
              </a:rPr>
              <a:t> </a:t>
            </a:r>
            <a:r>
              <a:rPr sz="1200" b="1" dirty="0">
                <a:solidFill>
                  <a:srgbClr val="C00000"/>
                </a:solidFill>
                <a:latin typeface="Times New Roman"/>
                <a:cs typeface="Times New Roman"/>
              </a:rPr>
              <a:t>AND</a:t>
            </a:r>
            <a:r>
              <a:rPr sz="1200" b="1" spc="-40" dirty="0">
                <a:solidFill>
                  <a:srgbClr val="C00000"/>
                </a:solidFill>
                <a:latin typeface="Times New Roman"/>
                <a:cs typeface="Times New Roman"/>
              </a:rPr>
              <a:t> </a:t>
            </a:r>
            <a:r>
              <a:rPr sz="1200" b="1" dirty="0">
                <a:solidFill>
                  <a:srgbClr val="C00000"/>
                </a:solidFill>
                <a:latin typeface="Times New Roman"/>
                <a:cs typeface="Times New Roman"/>
              </a:rPr>
              <a:t>INFORMATION</a:t>
            </a:r>
            <a:r>
              <a:rPr sz="1200" b="1" spc="-35" dirty="0">
                <a:solidFill>
                  <a:srgbClr val="C00000"/>
                </a:solidFill>
                <a:latin typeface="Times New Roman"/>
                <a:cs typeface="Times New Roman"/>
              </a:rPr>
              <a:t> </a:t>
            </a:r>
            <a:r>
              <a:rPr sz="1200" b="1" spc="-10" dirty="0">
                <a:solidFill>
                  <a:srgbClr val="C00000"/>
                </a:solidFill>
                <a:latin typeface="Times New Roman"/>
                <a:cs typeface="Times New Roman"/>
              </a:rPr>
              <a:t>TECHNOLOGY</a:t>
            </a:r>
            <a:endParaRPr sz="1200">
              <a:latin typeface="Times New Roman"/>
              <a:cs typeface="Times New Roman"/>
            </a:endParaRPr>
          </a:p>
        </p:txBody>
      </p:sp>
      <p:sp>
        <p:nvSpPr>
          <p:cNvPr id="3" name="object 3"/>
          <p:cNvSpPr txBox="1"/>
          <p:nvPr/>
        </p:nvSpPr>
        <p:spPr>
          <a:xfrm>
            <a:off x="3072510" y="3052698"/>
            <a:ext cx="1602105" cy="299720"/>
          </a:xfrm>
          <a:prstGeom prst="rect">
            <a:avLst/>
          </a:prstGeom>
        </p:spPr>
        <p:txBody>
          <a:bodyPr vert="horz" wrap="square" lIns="0" tIns="12700" rIns="0" bIns="0" rtlCol="0">
            <a:spAutoFit/>
          </a:bodyPr>
          <a:lstStyle/>
          <a:p>
            <a:pPr marL="12700">
              <a:lnSpc>
                <a:spcPct val="100000"/>
              </a:lnSpc>
              <a:spcBef>
                <a:spcPts val="100"/>
              </a:spcBef>
            </a:pPr>
            <a:r>
              <a:rPr sz="1800" b="1" spc="-10" dirty="0">
                <a:solidFill>
                  <a:srgbClr val="C00000"/>
                </a:solidFill>
                <a:latin typeface="Times New Roman"/>
                <a:cs typeface="Times New Roman"/>
              </a:rPr>
              <a:t>CERTIFICATE</a:t>
            </a:r>
            <a:endParaRPr sz="1800">
              <a:latin typeface="Times New Roman"/>
              <a:cs typeface="Times New Roman"/>
            </a:endParaRPr>
          </a:p>
        </p:txBody>
      </p:sp>
      <p:sp>
        <p:nvSpPr>
          <p:cNvPr id="4" name="object 4"/>
          <p:cNvSpPr txBox="1"/>
          <p:nvPr/>
        </p:nvSpPr>
        <p:spPr>
          <a:xfrm>
            <a:off x="436880" y="3625723"/>
            <a:ext cx="6691630" cy="1159292"/>
          </a:xfrm>
          <a:prstGeom prst="rect">
            <a:avLst/>
          </a:prstGeom>
        </p:spPr>
        <p:txBody>
          <a:bodyPr vert="horz" wrap="square" lIns="0" tIns="12700" rIns="0" bIns="0" rtlCol="0">
            <a:spAutoFit/>
          </a:bodyPr>
          <a:lstStyle/>
          <a:p>
            <a:pPr marL="12700" marR="5080" algn="just">
              <a:lnSpc>
                <a:spcPct val="100000"/>
              </a:lnSpc>
              <a:spcBef>
                <a:spcPts val="100"/>
              </a:spcBef>
            </a:pPr>
            <a:r>
              <a:rPr sz="1200" dirty="0">
                <a:latin typeface="Times New Roman"/>
                <a:cs typeface="Times New Roman"/>
              </a:rPr>
              <a:t>This</a:t>
            </a:r>
            <a:r>
              <a:rPr sz="1200" spc="35" dirty="0">
                <a:latin typeface="Times New Roman"/>
                <a:cs typeface="Times New Roman"/>
              </a:rPr>
              <a:t> </a:t>
            </a:r>
            <a:r>
              <a:rPr sz="1200" dirty="0">
                <a:latin typeface="Times New Roman"/>
                <a:cs typeface="Times New Roman"/>
              </a:rPr>
              <a:t>is</a:t>
            </a:r>
            <a:r>
              <a:rPr sz="1200" spc="35" dirty="0">
                <a:latin typeface="Times New Roman"/>
                <a:cs typeface="Times New Roman"/>
              </a:rPr>
              <a:t> </a:t>
            </a:r>
            <a:r>
              <a:rPr sz="1200" dirty="0">
                <a:latin typeface="Times New Roman"/>
                <a:cs typeface="Times New Roman"/>
              </a:rPr>
              <a:t>to</a:t>
            </a:r>
            <a:r>
              <a:rPr sz="1200" spc="35" dirty="0">
                <a:latin typeface="Times New Roman"/>
                <a:cs typeface="Times New Roman"/>
              </a:rPr>
              <a:t> </a:t>
            </a:r>
            <a:r>
              <a:rPr sz="1200" dirty="0">
                <a:latin typeface="Times New Roman"/>
                <a:cs typeface="Times New Roman"/>
              </a:rPr>
              <a:t>certify</a:t>
            </a:r>
            <a:r>
              <a:rPr sz="1200" spc="5" dirty="0">
                <a:latin typeface="Times New Roman"/>
                <a:cs typeface="Times New Roman"/>
              </a:rPr>
              <a:t> </a:t>
            </a:r>
            <a:r>
              <a:rPr sz="1200" dirty="0">
                <a:latin typeface="Times New Roman"/>
                <a:cs typeface="Times New Roman"/>
              </a:rPr>
              <a:t>that</a:t>
            </a:r>
            <a:r>
              <a:rPr sz="1200" spc="35" dirty="0">
                <a:latin typeface="Times New Roman"/>
                <a:cs typeface="Times New Roman"/>
              </a:rPr>
              <a:t> </a:t>
            </a:r>
            <a:r>
              <a:rPr sz="1200" dirty="0">
                <a:latin typeface="Times New Roman"/>
                <a:cs typeface="Times New Roman"/>
              </a:rPr>
              <a:t>the</a:t>
            </a:r>
            <a:r>
              <a:rPr sz="1200" spc="40" dirty="0">
                <a:latin typeface="Times New Roman"/>
                <a:cs typeface="Times New Roman"/>
              </a:rPr>
              <a:t> </a:t>
            </a:r>
            <a:r>
              <a:rPr sz="1200" dirty="0">
                <a:latin typeface="Times New Roman"/>
                <a:cs typeface="Times New Roman"/>
              </a:rPr>
              <a:t>project</a:t>
            </a:r>
            <a:r>
              <a:rPr sz="1200" spc="35" dirty="0">
                <a:latin typeface="Times New Roman"/>
                <a:cs typeface="Times New Roman"/>
              </a:rPr>
              <a:t> </a:t>
            </a:r>
            <a:r>
              <a:rPr sz="1200" dirty="0">
                <a:latin typeface="Times New Roman"/>
                <a:cs typeface="Times New Roman"/>
              </a:rPr>
              <a:t>report</a:t>
            </a:r>
            <a:r>
              <a:rPr sz="1200" spc="30" dirty="0">
                <a:latin typeface="Times New Roman"/>
                <a:cs typeface="Times New Roman"/>
              </a:rPr>
              <a:t> </a:t>
            </a:r>
            <a:r>
              <a:rPr sz="1200" dirty="0">
                <a:latin typeface="Times New Roman"/>
                <a:cs typeface="Times New Roman"/>
              </a:rPr>
              <a:t>entitled</a:t>
            </a:r>
            <a:r>
              <a:rPr sz="1200" spc="60" dirty="0">
                <a:latin typeface="Times New Roman"/>
                <a:cs typeface="Times New Roman"/>
              </a:rPr>
              <a:t> </a:t>
            </a:r>
            <a:r>
              <a:rPr sz="1200" b="1" dirty="0">
                <a:solidFill>
                  <a:srgbClr val="FF0000"/>
                </a:solidFill>
                <a:latin typeface="Times New Roman"/>
                <a:cs typeface="Times New Roman"/>
              </a:rPr>
              <a:t>“</a:t>
            </a:r>
            <a:r>
              <a:rPr lang="en-IN" sz="1200" b="1" dirty="0">
                <a:solidFill>
                  <a:srgbClr val="FF0000"/>
                </a:solidFill>
              </a:rPr>
              <a:t>Library Management System with RFID Integration</a:t>
            </a:r>
            <a:r>
              <a:rPr sz="1200" b="1" dirty="0">
                <a:solidFill>
                  <a:srgbClr val="FF0000"/>
                </a:solidFill>
                <a:latin typeface="Times New Roman"/>
                <a:cs typeface="Times New Roman"/>
              </a:rPr>
              <a:t>”</a:t>
            </a:r>
            <a:r>
              <a:rPr sz="1200" b="1" spc="40" dirty="0">
                <a:solidFill>
                  <a:srgbClr val="FF0000"/>
                </a:solidFill>
                <a:latin typeface="Times New Roman"/>
                <a:cs typeface="Times New Roman"/>
              </a:rPr>
              <a:t> </a:t>
            </a:r>
            <a:r>
              <a:rPr sz="1200" dirty="0">
                <a:latin typeface="Times New Roman"/>
                <a:cs typeface="Times New Roman"/>
              </a:rPr>
              <a:t>is</a:t>
            </a:r>
            <a:r>
              <a:rPr sz="1200" spc="35" dirty="0">
                <a:latin typeface="Times New Roman"/>
                <a:cs typeface="Times New Roman"/>
              </a:rPr>
              <a:t> </a:t>
            </a:r>
            <a:r>
              <a:rPr sz="1200" spc="-50" dirty="0">
                <a:latin typeface="Times New Roman"/>
                <a:cs typeface="Times New Roman"/>
              </a:rPr>
              <a:t>a </a:t>
            </a:r>
            <a:r>
              <a:rPr sz="1200" dirty="0">
                <a:latin typeface="Times New Roman"/>
                <a:cs typeface="Times New Roman"/>
              </a:rPr>
              <a:t>bonafide</a:t>
            </a:r>
            <a:r>
              <a:rPr sz="1200" spc="25" dirty="0">
                <a:latin typeface="Times New Roman"/>
                <a:cs typeface="Times New Roman"/>
              </a:rPr>
              <a:t> </a:t>
            </a:r>
            <a:r>
              <a:rPr sz="1200" dirty="0">
                <a:latin typeface="Times New Roman"/>
                <a:cs typeface="Times New Roman"/>
              </a:rPr>
              <a:t>work</a:t>
            </a:r>
            <a:r>
              <a:rPr sz="1200" spc="20" dirty="0">
                <a:latin typeface="Times New Roman"/>
                <a:cs typeface="Times New Roman"/>
              </a:rPr>
              <a:t> </a:t>
            </a:r>
            <a:r>
              <a:rPr sz="1200" dirty="0">
                <a:latin typeface="Times New Roman"/>
                <a:cs typeface="Times New Roman"/>
              </a:rPr>
              <a:t>done</a:t>
            </a:r>
            <a:r>
              <a:rPr sz="1200" spc="25"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submitted</a:t>
            </a:r>
            <a:r>
              <a:rPr sz="1200" spc="20" dirty="0">
                <a:latin typeface="Times New Roman"/>
                <a:cs typeface="Times New Roman"/>
              </a:rPr>
              <a:t> </a:t>
            </a:r>
            <a:r>
              <a:rPr sz="1200" dirty="0">
                <a:latin typeface="Times New Roman"/>
                <a:cs typeface="Times New Roman"/>
              </a:rPr>
              <a:t>by</a:t>
            </a:r>
            <a:r>
              <a:rPr sz="1200" spc="25" dirty="0">
                <a:latin typeface="Times New Roman"/>
                <a:cs typeface="Times New Roman"/>
              </a:rPr>
              <a:t> </a:t>
            </a:r>
            <a:r>
              <a:rPr lang="en-US" sz="1200" b="1" spc="25" dirty="0">
                <a:solidFill>
                  <a:srgbClr val="92D050"/>
                </a:solidFill>
                <a:latin typeface="Times New Roman"/>
                <a:cs typeface="Times New Roman"/>
              </a:rPr>
              <a:t>BACHU SIDDHARTHA</a:t>
            </a:r>
            <a:r>
              <a:rPr sz="1200" b="1" spc="25" dirty="0">
                <a:solidFill>
                  <a:srgbClr val="92D050"/>
                </a:solidFill>
                <a:latin typeface="Times New Roman"/>
                <a:cs typeface="Times New Roman"/>
              </a:rPr>
              <a:t> </a:t>
            </a:r>
            <a:r>
              <a:rPr sz="1200" b="1" dirty="0">
                <a:solidFill>
                  <a:srgbClr val="92D050"/>
                </a:solidFill>
                <a:latin typeface="Times New Roman"/>
                <a:cs typeface="Times New Roman"/>
              </a:rPr>
              <a:t>–</a:t>
            </a:r>
            <a:r>
              <a:rPr sz="1200" b="1" spc="35" dirty="0">
                <a:solidFill>
                  <a:srgbClr val="92D050"/>
                </a:solidFill>
                <a:latin typeface="Times New Roman"/>
                <a:cs typeface="Times New Roman"/>
              </a:rPr>
              <a:t> </a:t>
            </a:r>
            <a:r>
              <a:rPr sz="1200" b="1" dirty="0">
                <a:solidFill>
                  <a:srgbClr val="92D050"/>
                </a:solidFill>
                <a:latin typeface="Times New Roman"/>
                <a:cs typeface="Times New Roman"/>
              </a:rPr>
              <a:t>25</a:t>
            </a:r>
            <a:r>
              <a:rPr lang="en-US" sz="1200" b="1" dirty="0">
                <a:solidFill>
                  <a:srgbClr val="92D050"/>
                </a:solidFill>
                <a:latin typeface="Times New Roman"/>
                <a:cs typeface="Times New Roman"/>
              </a:rPr>
              <a:t>0</a:t>
            </a:r>
            <a:r>
              <a:rPr sz="1200" b="1" dirty="0">
                <a:solidFill>
                  <a:srgbClr val="92D050"/>
                </a:solidFill>
                <a:latin typeface="Times New Roman"/>
                <a:cs typeface="Times New Roman"/>
              </a:rPr>
              <a:t>0090</a:t>
            </a:r>
            <a:r>
              <a:rPr lang="en-US" sz="1200" b="1" dirty="0">
                <a:solidFill>
                  <a:srgbClr val="92D050"/>
                </a:solidFill>
                <a:latin typeface="Times New Roman"/>
                <a:cs typeface="Times New Roman"/>
              </a:rPr>
              <a:t>225</a:t>
            </a:r>
            <a:r>
              <a:rPr sz="1200" b="1" dirty="0">
                <a:solidFill>
                  <a:srgbClr val="92D050"/>
                </a:solidFill>
                <a:latin typeface="Times New Roman"/>
                <a:cs typeface="Times New Roman"/>
              </a:rPr>
              <a:t>,</a:t>
            </a:r>
            <a:r>
              <a:rPr sz="1200" b="1" spc="20" dirty="0">
                <a:solidFill>
                  <a:srgbClr val="92D050"/>
                </a:solidFill>
                <a:latin typeface="Times New Roman"/>
                <a:cs typeface="Times New Roman"/>
              </a:rPr>
              <a:t> </a:t>
            </a:r>
            <a:r>
              <a:rPr lang="en-US" sz="1200" b="1" spc="20" dirty="0">
                <a:solidFill>
                  <a:srgbClr val="9BBA58"/>
                </a:solidFill>
                <a:latin typeface="Times New Roman"/>
                <a:cs typeface="Times New Roman"/>
              </a:rPr>
              <a:t>V.SANTOSH</a:t>
            </a:r>
            <a:r>
              <a:rPr sz="1200" b="1" spc="25" dirty="0">
                <a:solidFill>
                  <a:srgbClr val="9BBA58"/>
                </a:solidFill>
                <a:latin typeface="Times New Roman"/>
                <a:cs typeface="Times New Roman"/>
              </a:rPr>
              <a:t> </a:t>
            </a:r>
            <a:r>
              <a:rPr sz="1200" b="1" spc="-50" dirty="0">
                <a:solidFill>
                  <a:srgbClr val="9BBA58"/>
                </a:solidFill>
                <a:latin typeface="Times New Roman"/>
                <a:cs typeface="Times New Roman"/>
              </a:rPr>
              <a:t>– </a:t>
            </a:r>
            <a:r>
              <a:rPr sz="1200" b="1" dirty="0">
                <a:solidFill>
                  <a:srgbClr val="9BBA58"/>
                </a:solidFill>
                <a:latin typeface="Times New Roman"/>
                <a:cs typeface="Times New Roman"/>
              </a:rPr>
              <a:t>252009</a:t>
            </a:r>
            <a:r>
              <a:rPr lang="en-US" sz="1200" b="1" dirty="0">
                <a:solidFill>
                  <a:srgbClr val="9BBA58"/>
                </a:solidFill>
                <a:latin typeface="Times New Roman"/>
                <a:cs typeface="Times New Roman"/>
              </a:rPr>
              <a:t>0051,C.V.JASHWANTH-2520080025.</a:t>
            </a:r>
            <a:r>
              <a:rPr sz="1200" b="1" spc="-50" dirty="0">
                <a:solidFill>
                  <a:srgbClr val="9BBA58"/>
                </a:solidFill>
                <a:latin typeface="Times New Roman"/>
                <a:cs typeface="Times New Roman"/>
              </a:rPr>
              <a:t> </a:t>
            </a:r>
            <a:r>
              <a:rPr sz="1200" dirty="0">
                <a:latin typeface="Times New Roman"/>
                <a:cs typeface="Times New Roman"/>
              </a:rPr>
              <a:t>in</a:t>
            </a:r>
            <a:r>
              <a:rPr sz="1200" spc="-50" dirty="0">
                <a:latin typeface="Times New Roman"/>
                <a:cs typeface="Times New Roman"/>
              </a:rPr>
              <a:t> </a:t>
            </a:r>
            <a:r>
              <a:rPr sz="1200" spc="-10" dirty="0">
                <a:latin typeface="Times New Roman"/>
                <a:cs typeface="Times New Roman"/>
              </a:rPr>
              <a:t>partial</a:t>
            </a:r>
            <a:r>
              <a:rPr sz="1200" spc="-30" dirty="0">
                <a:latin typeface="Times New Roman"/>
                <a:cs typeface="Times New Roman"/>
              </a:rPr>
              <a:t> </a:t>
            </a:r>
            <a:r>
              <a:rPr sz="1200" spc="-10" dirty="0">
                <a:latin typeface="Times New Roman"/>
                <a:cs typeface="Times New Roman"/>
              </a:rPr>
              <a:t>fulfillment</a:t>
            </a:r>
            <a:r>
              <a:rPr sz="1200" spc="-50" dirty="0">
                <a:latin typeface="Times New Roman"/>
                <a:cs typeface="Times New Roman"/>
              </a:rPr>
              <a:t> </a:t>
            </a:r>
            <a:r>
              <a:rPr sz="1200" dirty="0">
                <a:latin typeface="Times New Roman"/>
                <a:cs typeface="Times New Roman"/>
              </a:rPr>
              <a:t>of</a:t>
            </a:r>
            <a:r>
              <a:rPr sz="1200" spc="-55"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spc="-10" dirty="0">
                <a:latin typeface="Times New Roman"/>
                <a:cs typeface="Times New Roman"/>
              </a:rPr>
              <a:t>requirements</a:t>
            </a:r>
            <a:r>
              <a:rPr sz="1200" spc="-45" dirty="0">
                <a:latin typeface="Times New Roman"/>
                <a:cs typeface="Times New Roman"/>
              </a:rPr>
              <a:t> </a:t>
            </a:r>
            <a:r>
              <a:rPr sz="1200" dirty="0">
                <a:latin typeface="Times New Roman"/>
                <a:cs typeface="Times New Roman"/>
              </a:rPr>
              <a:t>of</a:t>
            </a:r>
            <a:r>
              <a:rPr sz="1200" spc="-55"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course</a:t>
            </a:r>
            <a:r>
              <a:rPr sz="1200" spc="-30" dirty="0">
                <a:latin typeface="Times New Roman"/>
                <a:cs typeface="Times New Roman"/>
              </a:rPr>
              <a:t> </a:t>
            </a:r>
            <a:r>
              <a:rPr sz="1200" dirty="0">
                <a:solidFill>
                  <a:srgbClr val="FF0000"/>
                </a:solidFill>
                <a:latin typeface="Times New Roman"/>
                <a:cs typeface="Times New Roman"/>
              </a:rPr>
              <a:t>DATABASE</a:t>
            </a:r>
            <a:r>
              <a:rPr sz="1200" spc="-45" dirty="0">
                <a:solidFill>
                  <a:srgbClr val="FF0000"/>
                </a:solidFill>
                <a:latin typeface="Times New Roman"/>
                <a:cs typeface="Times New Roman"/>
              </a:rPr>
              <a:t> </a:t>
            </a:r>
            <a:r>
              <a:rPr sz="1200" dirty="0">
                <a:solidFill>
                  <a:srgbClr val="FF0000"/>
                </a:solidFill>
                <a:latin typeface="Times New Roman"/>
                <a:cs typeface="Times New Roman"/>
              </a:rPr>
              <a:t>SYSTEMS</a:t>
            </a:r>
            <a:r>
              <a:rPr sz="1200" spc="-45" dirty="0">
                <a:solidFill>
                  <a:srgbClr val="FF0000"/>
                </a:solidFill>
                <a:latin typeface="Times New Roman"/>
                <a:cs typeface="Times New Roman"/>
              </a:rPr>
              <a:t> </a:t>
            </a:r>
            <a:r>
              <a:rPr sz="1200" spc="-10" dirty="0">
                <a:solidFill>
                  <a:srgbClr val="FF0000"/>
                </a:solidFill>
                <a:latin typeface="Times New Roman"/>
                <a:cs typeface="Times New Roman"/>
              </a:rPr>
              <a:t>ENGINEERING </a:t>
            </a:r>
            <a:r>
              <a:rPr sz="1200" dirty="0">
                <a:solidFill>
                  <a:srgbClr val="FF0000"/>
                </a:solidFill>
                <a:latin typeface="Times New Roman"/>
                <a:cs typeface="Times New Roman"/>
              </a:rPr>
              <a:t>AND</a:t>
            </a:r>
            <a:r>
              <a:rPr sz="1200" spc="-20" dirty="0">
                <a:solidFill>
                  <a:srgbClr val="FF0000"/>
                </a:solidFill>
                <a:latin typeface="Times New Roman"/>
                <a:cs typeface="Times New Roman"/>
              </a:rPr>
              <a:t> </a:t>
            </a:r>
            <a:r>
              <a:rPr sz="1200" spc="-10" dirty="0">
                <a:solidFill>
                  <a:srgbClr val="FF0000"/>
                </a:solidFill>
                <a:latin typeface="Times New Roman"/>
                <a:cs typeface="Times New Roman"/>
              </a:rPr>
              <a:t>DISTRIBUTED </a:t>
            </a:r>
            <a:r>
              <a:rPr sz="1200" dirty="0">
                <a:solidFill>
                  <a:srgbClr val="FF0000"/>
                </a:solidFill>
                <a:latin typeface="Times New Roman"/>
                <a:cs typeface="Times New Roman"/>
              </a:rPr>
              <a:t>BACKEND</a:t>
            </a:r>
            <a:r>
              <a:rPr sz="1200" spc="-15" dirty="0">
                <a:solidFill>
                  <a:srgbClr val="FF0000"/>
                </a:solidFill>
                <a:latin typeface="Times New Roman"/>
                <a:cs typeface="Times New Roman"/>
              </a:rPr>
              <a:t> </a:t>
            </a:r>
            <a:r>
              <a:rPr sz="1200" dirty="0">
                <a:solidFill>
                  <a:srgbClr val="FF0000"/>
                </a:solidFill>
                <a:latin typeface="Times New Roman"/>
                <a:cs typeface="Times New Roman"/>
              </a:rPr>
              <a:t>DEVELOPMENT</a:t>
            </a:r>
            <a:r>
              <a:rPr sz="1200" spc="-5" dirty="0">
                <a:solidFill>
                  <a:srgbClr val="FF0000"/>
                </a:solidFill>
                <a:latin typeface="Times New Roman"/>
                <a:cs typeface="Times New Roman"/>
              </a:rPr>
              <a:t> </a:t>
            </a:r>
            <a:r>
              <a:rPr sz="1200" dirty="0">
                <a:latin typeface="Times New Roman"/>
                <a:cs typeface="Times New Roman"/>
              </a:rPr>
              <a:t>(25CS1302E),</a:t>
            </a:r>
            <a:r>
              <a:rPr sz="1200" spc="-15" dirty="0">
                <a:latin typeface="Times New Roman"/>
                <a:cs typeface="Times New Roman"/>
              </a:rPr>
              <a:t> </a:t>
            </a:r>
            <a:r>
              <a:rPr sz="1200" dirty="0">
                <a:latin typeface="Times New Roman"/>
                <a:cs typeface="Times New Roman"/>
              </a:rPr>
              <a:t>Section</a:t>
            </a:r>
            <a:r>
              <a:rPr sz="1200" spc="-15" dirty="0">
                <a:latin typeface="Times New Roman"/>
                <a:cs typeface="Times New Roman"/>
              </a:rPr>
              <a:t> </a:t>
            </a:r>
            <a:r>
              <a:rPr sz="1200" dirty="0">
                <a:latin typeface="Times New Roman"/>
                <a:cs typeface="Times New Roman"/>
              </a:rPr>
              <a:t>10,</a:t>
            </a:r>
            <a:r>
              <a:rPr sz="1200" spc="-15" dirty="0">
                <a:latin typeface="Times New Roman"/>
                <a:cs typeface="Times New Roman"/>
              </a:rPr>
              <a:t> </a:t>
            </a:r>
            <a:r>
              <a:rPr sz="1200" dirty="0">
                <a:latin typeface="Times New Roman"/>
                <a:cs typeface="Times New Roman"/>
              </a:rPr>
              <a:t>Team</a:t>
            </a:r>
            <a:r>
              <a:rPr sz="1200" spc="-15" dirty="0">
                <a:latin typeface="Times New Roman"/>
                <a:cs typeface="Times New Roman"/>
              </a:rPr>
              <a:t> </a:t>
            </a:r>
            <a:r>
              <a:rPr sz="1200" dirty="0">
                <a:latin typeface="Times New Roman"/>
                <a:cs typeface="Times New Roman"/>
              </a:rPr>
              <a:t>1,</a:t>
            </a:r>
            <a:r>
              <a:rPr sz="1200" spc="-20" dirty="0">
                <a:latin typeface="Times New Roman"/>
                <a:cs typeface="Times New Roman"/>
              </a:rPr>
              <a:t> </a:t>
            </a:r>
            <a:r>
              <a:rPr sz="1200" dirty="0">
                <a:latin typeface="Times New Roman"/>
                <a:cs typeface="Times New Roman"/>
              </a:rPr>
              <a:t>at</a:t>
            </a:r>
            <a:r>
              <a:rPr sz="1200" spc="-15" dirty="0">
                <a:latin typeface="Times New Roman"/>
                <a:cs typeface="Times New Roman"/>
              </a:rPr>
              <a:t> </a:t>
            </a:r>
            <a:r>
              <a:rPr sz="1200" dirty="0">
                <a:latin typeface="Times New Roman"/>
                <a:cs typeface="Times New Roman"/>
              </a:rPr>
              <a:t>KLH</a:t>
            </a:r>
            <a:r>
              <a:rPr sz="1200" spc="-10" dirty="0">
                <a:latin typeface="Times New Roman"/>
                <a:cs typeface="Times New Roman"/>
              </a:rPr>
              <a:t> University</a:t>
            </a:r>
            <a:endParaRPr sz="1200" dirty="0">
              <a:latin typeface="Times New Roman"/>
              <a:cs typeface="Times New Roman"/>
            </a:endParaRPr>
          </a:p>
          <a:p>
            <a:pPr marL="12700" algn="just">
              <a:lnSpc>
                <a:spcPct val="100000"/>
              </a:lnSpc>
              <a:spcBef>
                <a:spcPts val="275"/>
              </a:spcBef>
            </a:pPr>
            <a:r>
              <a:rPr sz="1200" dirty="0">
                <a:latin typeface="Times New Roman"/>
                <a:cs typeface="Times New Roman"/>
              </a:rPr>
              <a:t>during</a:t>
            </a:r>
            <a:r>
              <a:rPr sz="1200" spc="-45" dirty="0">
                <a:latin typeface="Times New Roman"/>
                <a:cs typeface="Times New Roman"/>
              </a:rPr>
              <a:t> </a:t>
            </a:r>
            <a:r>
              <a:rPr sz="1200" dirty="0">
                <a:solidFill>
                  <a:srgbClr val="FF0000"/>
                </a:solidFill>
                <a:latin typeface="Times New Roman"/>
                <a:cs typeface="Times New Roman"/>
              </a:rPr>
              <a:t>2026–2027,</a:t>
            </a:r>
            <a:r>
              <a:rPr sz="1200" spc="-25" dirty="0">
                <a:solidFill>
                  <a:srgbClr val="FF0000"/>
                </a:solidFill>
                <a:latin typeface="Times New Roman"/>
                <a:cs typeface="Times New Roman"/>
              </a:rPr>
              <a:t> </a:t>
            </a:r>
            <a:r>
              <a:rPr sz="1200" dirty="0">
                <a:solidFill>
                  <a:srgbClr val="FF0000"/>
                </a:solidFill>
                <a:latin typeface="Times New Roman"/>
                <a:cs typeface="Times New Roman"/>
              </a:rPr>
              <a:t>Trimester</a:t>
            </a:r>
            <a:r>
              <a:rPr sz="1200" spc="-30" dirty="0">
                <a:solidFill>
                  <a:srgbClr val="FF0000"/>
                </a:solidFill>
                <a:latin typeface="Times New Roman"/>
                <a:cs typeface="Times New Roman"/>
              </a:rPr>
              <a:t> </a:t>
            </a:r>
            <a:r>
              <a:rPr sz="1200" spc="-25" dirty="0">
                <a:solidFill>
                  <a:srgbClr val="FF0000"/>
                </a:solidFill>
                <a:latin typeface="Times New Roman"/>
                <a:cs typeface="Times New Roman"/>
              </a:rPr>
              <a:t>4.</a:t>
            </a:r>
            <a:endParaRPr sz="1200" dirty="0">
              <a:latin typeface="Times New Roman"/>
              <a:cs typeface="Times New Roman"/>
            </a:endParaRPr>
          </a:p>
        </p:txBody>
      </p:sp>
      <p:sp>
        <p:nvSpPr>
          <p:cNvPr id="5" name="object 5"/>
          <p:cNvSpPr txBox="1"/>
          <p:nvPr/>
        </p:nvSpPr>
        <p:spPr>
          <a:xfrm>
            <a:off x="4645533" y="6766940"/>
            <a:ext cx="1492885" cy="208279"/>
          </a:xfrm>
          <a:prstGeom prst="rect">
            <a:avLst/>
          </a:prstGeom>
        </p:spPr>
        <p:txBody>
          <a:bodyPr vert="horz" wrap="square" lIns="0" tIns="12700" rIns="0" bIns="0" rtlCol="0">
            <a:spAutoFit/>
          </a:bodyPr>
          <a:lstStyle/>
          <a:p>
            <a:pPr marL="12700">
              <a:lnSpc>
                <a:spcPct val="100000"/>
              </a:lnSpc>
              <a:spcBef>
                <a:spcPts val="100"/>
              </a:spcBef>
            </a:pPr>
            <a:r>
              <a:rPr sz="1200" b="1" dirty="0">
                <a:latin typeface="Times New Roman"/>
                <a:cs typeface="Times New Roman"/>
              </a:rPr>
              <a:t>Signature</a:t>
            </a:r>
            <a:r>
              <a:rPr sz="1200" b="1" spc="-40" dirty="0">
                <a:latin typeface="Times New Roman"/>
                <a:cs typeface="Times New Roman"/>
              </a:rPr>
              <a:t> </a:t>
            </a:r>
            <a:r>
              <a:rPr sz="1200" b="1" dirty="0">
                <a:latin typeface="Times New Roman"/>
                <a:cs typeface="Times New Roman"/>
              </a:rPr>
              <a:t>of</a:t>
            </a:r>
            <a:r>
              <a:rPr sz="1200" b="1" spc="-25" dirty="0">
                <a:latin typeface="Times New Roman"/>
                <a:cs typeface="Times New Roman"/>
              </a:rPr>
              <a:t> </a:t>
            </a:r>
            <a:r>
              <a:rPr sz="1200" b="1" dirty="0">
                <a:latin typeface="Times New Roman"/>
                <a:cs typeface="Times New Roman"/>
              </a:rPr>
              <a:t>the</a:t>
            </a:r>
            <a:r>
              <a:rPr sz="1200" b="1" spc="-40" dirty="0">
                <a:latin typeface="Times New Roman"/>
                <a:cs typeface="Times New Roman"/>
              </a:rPr>
              <a:t> </a:t>
            </a:r>
            <a:r>
              <a:rPr sz="1200" b="1" spc="-20" dirty="0">
                <a:latin typeface="Times New Roman"/>
                <a:cs typeface="Times New Roman"/>
              </a:rPr>
              <a:t>Guide</a:t>
            </a:r>
            <a:endParaRPr sz="1200">
              <a:latin typeface="Times New Roman"/>
              <a:cs typeface="Times New Roman"/>
            </a:endParaRPr>
          </a:p>
        </p:txBody>
      </p:sp>
      <p:sp>
        <p:nvSpPr>
          <p:cNvPr id="6" name="object 6"/>
          <p:cNvSpPr txBox="1"/>
          <p:nvPr/>
        </p:nvSpPr>
        <p:spPr>
          <a:xfrm>
            <a:off x="1011732" y="8929877"/>
            <a:ext cx="237680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Signature</a:t>
            </a:r>
            <a:r>
              <a:rPr sz="1200" b="1" spc="-65" dirty="0">
                <a:latin typeface="Times New Roman"/>
                <a:cs typeface="Times New Roman"/>
              </a:rPr>
              <a:t> </a:t>
            </a:r>
            <a:r>
              <a:rPr sz="1200" b="1" dirty="0">
                <a:latin typeface="Times New Roman"/>
                <a:cs typeface="Times New Roman"/>
              </a:rPr>
              <a:t>of</a:t>
            </a:r>
            <a:r>
              <a:rPr sz="1200" b="1" spc="-20" dirty="0">
                <a:latin typeface="Times New Roman"/>
                <a:cs typeface="Times New Roman"/>
              </a:rPr>
              <a:t> </a:t>
            </a:r>
            <a:r>
              <a:rPr sz="1200" b="1" spc="-10" dirty="0">
                <a:latin typeface="Times New Roman"/>
                <a:cs typeface="Times New Roman"/>
              </a:rPr>
              <a:t>the</a:t>
            </a:r>
            <a:r>
              <a:rPr sz="1200" b="1" spc="-50" dirty="0">
                <a:latin typeface="Times New Roman"/>
                <a:cs typeface="Times New Roman"/>
              </a:rPr>
              <a:t> </a:t>
            </a:r>
            <a:r>
              <a:rPr sz="1200" b="1" dirty="0">
                <a:latin typeface="Times New Roman"/>
                <a:cs typeface="Times New Roman"/>
              </a:rPr>
              <a:t>Course</a:t>
            </a:r>
            <a:r>
              <a:rPr sz="1200" b="1" spc="-60" dirty="0">
                <a:latin typeface="Times New Roman"/>
                <a:cs typeface="Times New Roman"/>
              </a:rPr>
              <a:t> </a:t>
            </a:r>
            <a:r>
              <a:rPr sz="1200" b="1" spc="-10" dirty="0">
                <a:latin typeface="Times New Roman"/>
                <a:cs typeface="Times New Roman"/>
              </a:rPr>
              <a:t>Coordinator</a:t>
            </a:r>
            <a:endParaRPr sz="1200">
              <a:latin typeface="Times New Roman"/>
              <a:cs typeface="Times New Roman"/>
            </a:endParaRPr>
          </a:p>
        </p:txBody>
      </p:sp>
      <p:sp>
        <p:nvSpPr>
          <p:cNvPr id="7" name="object 7"/>
          <p:cNvSpPr txBox="1"/>
          <p:nvPr/>
        </p:nvSpPr>
        <p:spPr>
          <a:xfrm>
            <a:off x="4724780" y="8929877"/>
            <a:ext cx="1435100" cy="208279"/>
          </a:xfrm>
          <a:prstGeom prst="rect">
            <a:avLst/>
          </a:prstGeom>
        </p:spPr>
        <p:txBody>
          <a:bodyPr vert="horz" wrap="square" lIns="0" tIns="12700" rIns="0" bIns="0" rtlCol="0">
            <a:spAutoFit/>
          </a:bodyPr>
          <a:lstStyle/>
          <a:p>
            <a:pPr marL="12700">
              <a:lnSpc>
                <a:spcPct val="100000"/>
              </a:lnSpc>
              <a:spcBef>
                <a:spcPts val="100"/>
              </a:spcBef>
            </a:pPr>
            <a:r>
              <a:rPr sz="1200" b="1" dirty="0">
                <a:latin typeface="Times New Roman"/>
                <a:cs typeface="Times New Roman"/>
              </a:rPr>
              <a:t>Signature</a:t>
            </a:r>
            <a:r>
              <a:rPr sz="1200" b="1" spc="-60" dirty="0">
                <a:latin typeface="Times New Roman"/>
                <a:cs typeface="Times New Roman"/>
              </a:rPr>
              <a:t> </a:t>
            </a:r>
            <a:r>
              <a:rPr sz="1200" b="1" dirty="0">
                <a:latin typeface="Times New Roman"/>
                <a:cs typeface="Times New Roman"/>
              </a:rPr>
              <a:t>of</a:t>
            </a:r>
            <a:r>
              <a:rPr sz="1200" b="1" spc="-35" dirty="0">
                <a:latin typeface="Times New Roman"/>
                <a:cs typeface="Times New Roman"/>
              </a:rPr>
              <a:t> </a:t>
            </a:r>
            <a:r>
              <a:rPr sz="1200" b="1" dirty="0">
                <a:latin typeface="Times New Roman"/>
                <a:cs typeface="Times New Roman"/>
              </a:rPr>
              <a:t>the</a:t>
            </a:r>
            <a:r>
              <a:rPr sz="1200" b="1" spc="-45" dirty="0">
                <a:latin typeface="Times New Roman"/>
                <a:cs typeface="Times New Roman"/>
              </a:rPr>
              <a:t> </a:t>
            </a:r>
            <a:r>
              <a:rPr sz="1200" b="1" spc="-25" dirty="0">
                <a:latin typeface="Times New Roman"/>
                <a:cs typeface="Times New Roman"/>
              </a:rPr>
              <a:t>HOD</a:t>
            </a:r>
            <a:endParaRPr sz="1200">
              <a:latin typeface="Times New Roman"/>
              <a:cs typeface="Times New Roman"/>
            </a:endParaRPr>
          </a:p>
        </p:txBody>
      </p:sp>
      <p:grpSp>
        <p:nvGrpSpPr>
          <p:cNvPr id="8" name="object 8"/>
          <p:cNvGrpSpPr/>
          <p:nvPr/>
        </p:nvGrpSpPr>
        <p:grpSpPr>
          <a:xfrm>
            <a:off x="304800" y="304799"/>
            <a:ext cx="6955790" cy="10086340"/>
            <a:chOff x="304800" y="304799"/>
            <a:chExt cx="6955790" cy="10086340"/>
          </a:xfrm>
        </p:grpSpPr>
        <p:sp>
          <p:nvSpPr>
            <p:cNvPr id="9" name="object 9"/>
            <p:cNvSpPr/>
            <p:nvPr/>
          </p:nvSpPr>
          <p:spPr>
            <a:xfrm>
              <a:off x="304800" y="304799"/>
              <a:ext cx="6955790" cy="10086340"/>
            </a:xfrm>
            <a:custGeom>
              <a:avLst/>
              <a:gdLst/>
              <a:ahLst/>
              <a:cxnLst/>
              <a:rect l="l" t="t" r="r" b="b"/>
              <a:pathLst>
                <a:path w="6955790" h="10086340">
                  <a:moveTo>
                    <a:pt x="6955536" y="0"/>
                  </a:moveTo>
                  <a:lnTo>
                    <a:pt x="6928104" y="0"/>
                  </a:lnTo>
                  <a:lnTo>
                    <a:pt x="6928104" y="27432"/>
                  </a:lnTo>
                  <a:lnTo>
                    <a:pt x="6928104" y="10058400"/>
                  </a:lnTo>
                  <a:lnTo>
                    <a:pt x="27432" y="10058400"/>
                  </a:lnTo>
                  <a:lnTo>
                    <a:pt x="27432" y="27432"/>
                  </a:lnTo>
                  <a:lnTo>
                    <a:pt x="6928104" y="27432"/>
                  </a:lnTo>
                  <a:lnTo>
                    <a:pt x="6928104" y="0"/>
                  </a:lnTo>
                  <a:lnTo>
                    <a:pt x="27432" y="0"/>
                  </a:lnTo>
                  <a:lnTo>
                    <a:pt x="0" y="0"/>
                  </a:lnTo>
                  <a:lnTo>
                    <a:pt x="0" y="27432"/>
                  </a:lnTo>
                  <a:lnTo>
                    <a:pt x="0" y="10058400"/>
                  </a:lnTo>
                  <a:lnTo>
                    <a:pt x="0" y="10085832"/>
                  </a:lnTo>
                  <a:lnTo>
                    <a:pt x="27432" y="10085832"/>
                  </a:lnTo>
                  <a:lnTo>
                    <a:pt x="6928104" y="10085832"/>
                  </a:lnTo>
                  <a:lnTo>
                    <a:pt x="6955536" y="10085832"/>
                  </a:lnTo>
                  <a:lnTo>
                    <a:pt x="6955536" y="10058400"/>
                  </a:lnTo>
                  <a:lnTo>
                    <a:pt x="6955536" y="27432"/>
                  </a:lnTo>
                  <a:lnTo>
                    <a:pt x="6955536" y="0"/>
                  </a:lnTo>
                  <a:close/>
                </a:path>
              </a:pathLst>
            </a:custGeom>
            <a:solidFill>
              <a:srgbClr val="000000"/>
            </a:solidFill>
          </p:spPr>
          <p:txBody>
            <a:bodyPr wrap="square" lIns="0" tIns="0" rIns="0" bIns="0" rtlCol="0"/>
            <a:lstStyle/>
            <a:p>
              <a:endParaRPr/>
            </a:p>
          </p:txBody>
        </p:sp>
        <p:pic>
          <p:nvPicPr>
            <p:cNvPr id="10" name="object 10"/>
            <p:cNvPicPr/>
            <p:nvPr/>
          </p:nvPicPr>
          <p:blipFill>
            <a:blip r:embed="rId2" cstate="print"/>
            <a:stretch>
              <a:fillRect/>
            </a:stretch>
          </p:blipFill>
          <p:spPr>
            <a:xfrm>
              <a:off x="2729229" y="1963419"/>
              <a:ext cx="2242185" cy="803275"/>
            </a:xfrm>
            <a:prstGeom prst="rect">
              <a:avLst/>
            </a:prstGeom>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44500" y="900429"/>
            <a:ext cx="6681470" cy="4125595"/>
          </a:xfrm>
          <a:prstGeom prst="rect">
            <a:avLst/>
          </a:prstGeom>
        </p:spPr>
        <p:txBody>
          <a:bodyPr vert="horz" wrap="square" lIns="0" tIns="12065" rIns="0" bIns="0" rtlCol="0">
            <a:spAutoFit/>
          </a:bodyPr>
          <a:lstStyle/>
          <a:p>
            <a:pPr algn="ctr">
              <a:lnSpc>
                <a:spcPct val="100000"/>
              </a:lnSpc>
              <a:spcBef>
                <a:spcPts val="95"/>
              </a:spcBef>
            </a:pPr>
            <a:r>
              <a:rPr sz="1600" b="1" spc="-10" dirty="0">
                <a:solidFill>
                  <a:srgbClr val="C00000"/>
                </a:solidFill>
                <a:latin typeface="Times New Roman"/>
                <a:cs typeface="Times New Roman"/>
              </a:rPr>
              <a:t>ACKNOWLEDGEMENT</a:t>
            </a:r>
            <a:endParaRPr sz="1600" dirty="0">
              <a:latin typeface="Times New Roman"/>
              <a:cs typeface="Times New Roman"/>
            </a:endParaRPr>
          </a:p>
          <a:p>
            <a:pPr marL="12700" marR="10160" algn="just">
              <a:lnSpc>
                <a:spcPct val="143800"/>
              </a:lnSpc>
              <a:spcBef>
                <a:spcPts val="790"/>
              </a:spcBef>
            </a:pPr>
            <a:r>
              <a:rPr sz="1200" dirty="0">
                <a:latin typeface="Times New Roman"/>
                <a:cs typeface="Times New Roman"/>
              </a:rPr>
              <a:t>The</a:t>
            </a:r>
            <a:r>
              <a:rPr sz="1200" spc="50" dirty="0">
                <a:latin typeface="Times New Roman"/>
                <a:cs typeface="Times New Roman"/>
              </a:rPr>
              <a:t> </a:t>
            </a:r>
            <a:r>
              <a:rPr sz="1200" dirty="0">
                <a:latin typeface="Times New Roman"/>
                <a:cs typeface="Times New Roman"/>
              </a:rPr>
              <a:t>success</a:t>
            </a:r>
            <a:r>
              <a:rPr sz="1200" spc="65" dirty="0">
                <a:latin typeface="Times New Roman"/>
                <a:cs typeface="Times New Roman"/>
              </a:rPr>
              <a:t> </a:t>
            </a:r>
            <a:r>
              <a:rPr sz="1200" dirty="0">
                <a:latin typeface="Times New Roman"/>
                <a:cs typeface="Times New Roman"/>
              </a:rPr>
              <a:t>in</a:t>
            </a:r>
            <a:r>
              <a:rPr sz="1200" spc="60" dirty="0">
                <a:latin typeface="Times New Roman"/>
                <a:cs typeface="Times New Roman"/>
              </a:rPr>
              <a:t> </a:t>
            </a:r>
            <a:r>
              <a:rPr sz="1200" dirty="0">
                <a:latin typeface="Times New Roman"/>
                <a:cs typeface="Times New Roman"/>
              </a:rPr>
              <a:t>this</a:t>
            </a:r>
            <a:r>
              <a:rPr sz="1200" spc="70" dirty="0">
                <a:latin typeface="Times New Roman"/>
                <a:cs typeface="Times New Roman"/>
              </a:rPr>
              <a:t> </a:t>
            </a:r>
            <a:r>
              <a:rPr sz="1200" dirty="0">
                <a:latin typeface="Times New Roman"/>
                <a:cs typeface="Times New Roman"/>
              </a:rPr>
              <a:t>project</a:t>
            </a:r>
            <a:r>
              <a:rPr sz="1200" spc="60" dirty="0">
                <a:latin typeface="Times New Roman"/>
                <a:cs typeface="Times New Roman"/>
              </a:rPr>
              <a:t> </a:t>
            </a:r>
            <a:r>
              <a:rPr sz="1200" dirty="0">
                <a:latin typeface="Times New Roman"/>
                <a:cs typeface="Times New Roman"/>
              </a:rPr>
              <a:t>would</a:t>
            </a:r>
            <a:r>
              <a:rPr sz="1200" spc="60" dirty="0">
                <a:latin typeface="Times New Roman"/>
                <a:cs typeface="Times New Roman"/>
              </a:rPr>
              <a:t> </a:t>
            </a:r>
            <a:r>
              <a:rPr sz="1200" dirty="0">
                <a:latin typeface="Times New Roman"/>
                <a:cs typeface="Times New Roman"/>
              </a:rPr>
              <a:t>not</a:t>
            </a:r>
            <a:r>
              <a:rPr sz="1200" spc="60" dirty="0">
                <a:latin typeface="Times New Roman"/>
                <a:cs typeface="Times New Roman"/>
              </a:rPr>
              <a:t> </a:t>
            </a:r>
            <a:r>
              <a:rPr sz="1200" dirty="0">
                <a:latin typeface="Times New Roman"/>
                <a:cs typeface="Times New Roman"/>
              </a:rPr>
              <a:t>have</a:t>
            </a:r>
            <a:r>
              <a:rPr sz="1200" spc="55" dirty="0">
                <a:latin typeface="Times New Roman"/>
                <a:cs typeface="Times New Roman"/>
              </a:rPr>
              <a:t> </a:t>
            </a:r>
            <a:r>
              <a:rPr sz="1200" dirty="0">
                <a:latin typeface="Times New Roman"/>
                <a:cs typeface="Times New Roman"/>
              </a:rPr>
              <a:t>been</a:t>
            </a:r>
            <a:r>
              <a:rPr sz="1200" spc="65" dirty="0">
                <a:latin typeface="Times New Roman"/>
                <a:cs typeface="Times New Roman"/>
              </a:rPr>
              <a:t> </a:t>
            </a:r>
            <a:r>
              <a:rPr sz="1200" dirty="0">
                <a:latin typeface="Times New Roman"/>
                <a:cs typeface="Times New Roman"/>
              </a:rPr>
              <a:t>possible</a:t>
            </a:r>
            <a:r>
              <a:rPr sz="1200" spc="60" dirty="0">
                <a:latin typeface="Times New Roman"/>
                <a:cs typeface="Times New Roman"/>
              </a:rPr>
              <a:t> </a:t>
            </a:r>
            <a:r>
              <a:rPr sz="1200" dirty="0">
                <a:latin typeface="Times New Roman"/>
                <a:cs typeface="Times New Roman"/>
              </a:rPr>
              <a:t>but</a:t>
            </a:r>
            <a:r>
              <a:rPr sz="1200" spc="65" dirty="0">
                <a:latin typeface="Times New Roman"/>
                <a:cs typeface="Times New Roman"/>
              </a:rPr>
              <a:t> </a:t>
            </a:r>
            <a:r>
              <a:rPr sz="1200" dirty="0">
                <a:latin typeface="Times New Roman"/>
                <a:cs typeface="Times New Roman"/>
              </a:rPr>
              <a:t>for</a:t>
            </a:r>
            <a:r>
              <a:rPr sz="1200" spc="50" dirty="0">
                <a:latin typeface="Times New Roman"/>
                <a:cs typeface="Times New Roman"/>
              </a:rPr>
              <a:t> </a:t>
            </a:r>
            <a:r>
              <a:rPr sz="1200" dirty="0">
                <a:latin typeface="Times New Roman"/>
                <a:cs typeface="Times New Roman"/>
              </a:rPr>
              <a:t>the</a:t>
            </a:r>
            <a:r>
              <a:rPr sz="1200" spc="60" dirty="0">
                <a:latin typeface="Times New Roman"/>
                <a:cs typeface="Times New Roman"/>
              </a:rPr>
              <a:t> </a:t>
            </a:r>
            <a:r>
              <a:rPr sz="1200" dirty="0">
                <a:latin typeface="Times New Roman"/>
                <a:cs typeface="Times New Roman"/>
              </a:rPr>
              <a:t>timely</a:t>
            </a:r>
            <a:r>
              <a:rPr sz="1200" spc="35" dirty="0">
                <a:latin typeface="Times New Roman"/>
                <a:cs typeface="Times New Roman"/>
              </a:rPr>
              <a:t> </a:t>
            </a:r>
            <a:r>
              <a:rPr sz="1200" dirty="0">
                <a:latin typeface="Times New Roman"/>
                <a:cs typeface="Times New Roman"/>
              </a:rPr>
              <a:t>help</a:t>
            </a:r>
            <a:r>
              <a:rPr sz="1200" spc="70" dirty="0">
                <a:latin typeface="Times New Roman"/>
                <a:cs typeface="Times New Roman"/>
              </a:rPr>
              <a:t> </a:t>
            </a:r>
            <a:r>
              <a:rPr sz="1200" dirty="0">
                <a:latin typeface="Times New Roman"/>
                <a:cs typeface="Times New Roman"/>
              </a:rPr>
              <a:t>and</a:t>
            </a:r>
            <a:r>
              <a:rPr sz="1200" spc="70" dirty="0">
                <a:latin typeface="Times New Roman"/>
                <a:cs typeface="Times New Roman"/>
              </a:rPr>
              <a:t> </a:t>
            </a:r>
            <a:r>
              <a:rPr sz="1200" dirty="0">
                <a:latin typeface="Times New Roman"/>
                <a:cs typeface="Times New Roman"/>
              </a:rPr>
              <a:t>guidance</a:t>
            </a:r>
            <a:r>
              <a:rPr sz="1200" spc="50" dirty="0">
                <a:latin typeface="Times New Roman"/>
                <a:cs typeface="Times New Roman"/>
              </a:rPr>
              <a:t> </a:t>
            </a:r>
            <a:r>
              <a:rPr sz="1200" dirty="0">
                <a:latin typeface="Times New Roman"/>
                <a:cs typeface="Times New Roman"/>
              </a:rPr>
              <a:t>rendered</a:t>
            </a:r>
            <a:r>
              <a:rPr sz="1200" spc="60" dirty="0">
                <a:latin typeface="Times New Roman"/>
                <a:cs typeface="Times New Roman"/>
              </a:rPr>
              <a:t> </a:t>
            </a:r>
            <a:r>
              <a:rPr sz="1200" spc="-25" dirty="0">
                <a:latin typeface="Times New Roman"/>
                <a:cs typeface="Times New Roman"/>
              </a:rPr>
              <a:t>by </a:t>
            </a:r>
            <a:r>
              <a:rPr sz="1200" dirty="0">
                <a:latin typeface="Times New Roman"/>
                <a:cs typeface="Times New Roman"/>
              </a:rPr>
              <a:t>many</a:t>
            </a:r>
            <a:r>
              <a:rPr sz="1200" spc="-20" dirty="0">
                <a:latin typeface="Times New Roman"/>
                <a:cs typeface="Times New Roman"/>
              </a:rPr>
              <a:t> </a:t>
            </a:r>
            <a:r>
              <a:rPr sz="1200" dirty="0">
                <a:latin typeface="Times New Roman"/>
                <a:cs typeface="Times New Roman"/>
              </a:rPr>
              <a:t>people.</a:t>
            </a:r>
            <a:r>
              <a:rPr sz="1200" spc="5" dirty="0">
                <a:latin typeface="Times New Roman"/>
                <a:cs typeface="Times New Roman"/>
              </a:rPr>
              <a:t> </a:t>
            </a:r>
            <a:r>
              <a:rPr sz="1200" dirty="0">
                <a:latin typeface="Times New Roman"/>
                <a:cs typeface="Times New Roman"/>
              </a:rPr>
              <a:t>Our wish</a:t>
            </a:r>
            <a:r>
              <a:rPr sz="1200" spc="5" dirty="0">
                <a:latin typeface="Times New Roman"/>
                <a:cs typeface="Times New Roman"/>
              </a:rPr>
              <a:t> </a:t>
            </a:r>
            <a:r>
              <a:rPr sz="1200" dirty="0">
                <a:latin typeface="Times New Roman"/>
                <a:cs typeface="Times New Roman"/>
              </a:rPr>
              <a:t>to</a:t>
            </a:r>
            <a:r>
              <a:rPr sz="1200" spc="15" dirty="0">
                <a:latin typeface="Times New Roman"/>
                <a:cs typeface="Times New Roman"/>
              </a:rPr>
              <a:t> </a:t>
            </a:r>
            <a:r>
              <a:rPr sz="1200" dirty="0">
                <a:latin typeface="Times New Roman"/>
                <a:cs typeface="Times New Roman"/>
              </a:rPr>
              <a:t>express</a:t>
            </a:r>
            <a:r>
              <a:rPr sz="1200" spc="10" dirty="0">
                <a:latin typeface="Times New Roman"/>
                <a:cs typeface="Times New Roman"/>
              </a:rPr>
              <a:t> </a:t>
            </a:r>
            <a:r>
              <a:rPr sz="1200" dirty="0">
                <a:latin typeface="Times New Roman"/>
                <a:cs typeface="Times New Roman"/>
              </a:rPr>
              <a:t>my</a:t>
            </a:r>
            <a:r>
              <a:rPr sz="1200" spc="-30" dirty="0">
                <a:latin typeface="Times New Roman"/>
                <a:cs typeface="Times New Roman"/>
              </a:rPr>
              <a:t> </a:t>
            </a:r>
            <a:r>
              <a:rPr sz="1200" dirty="0">
                <a:latin typeface="Times New Roman"/>
                <a:cs typeface="Times New Roman"/>
              </a:rPr>
              <a:t>sincere</a:t>
            </a:r>
            <a:r>
              <a:rPr sz="1200" spc="-5" dirty="0">
                <a:latin typeface="Times New Roman"/>
                <a:cs typeface="Times New Roman"/>
              </a:rPr>
              <a:t> </a:t>
            </a:r>
            <a:r>
              <a:rPr sz="1200" dirty="0">
                <a:latin typeface="Times New Roman"/>
                <a:cs typeface="Times New Roman"/>
              </a:rPr>
              <a:t>thanks</a:t>
            </a:r>
            <a:r>
              <a:rPr sz="1200" spc="5" dirty="0">
                <a:latin typeface="Times New Roman"/>
                <a:cs typeface="Times New Roman"/>
              </a:rPr>
              <a:t> </a:t>
            </a:r>
            <a:r>
              <a:rPr sz="1200" dirty="0">
                <a:latin typeface="Times New Roman"/>
                <a:cs typeface="Times New Roman"/>
              </a:rPr>
              <a:t>to</a:t>
            </a:r>
            <a:r>
              <a:rPr sz="1200" spc="15" dirty="0">
                <a:latin typeface="Times New Roman"/>
                <a:cs typeface="Times New Roman"/>
              </a:rPr>
              <a:t> </a:t>
            </a:r>
            <a:r>
              <a:rPr sz="1200" dirty="0">
                <a:latin typeface="Times New Roman"/>
                <a:cs typeface="Times New Roman"/>
              </a:rPr>
              <a:t>all</a:t>
            </a:r>
            <a:r>
              <a:rPr sz="1200" spc="10" dirty="0">
                <a:latin typeface="Times New Roman"/>
                <a:cs typeface="Times New Roman"/>
              </a:rPr>
              <a:t> </a:t>
            </a:r>
            <a:r>
              <a:rPr sz="1200" dirty="0">
                <a:latin typeface="Times New Roman"/>
                <a:cs typeface="Times New Roman"/>
              </a:rPr>
              <a:t>those</a:t>
            </a:r>
            <a:r>
              <a:rPr sz="1200" spc="35" dirty="0">
                <a:latin typeface="Times New Roman"/>
                <a:cs typeface="Times New Roman"/>
              </a:rPr>
              <a:t> </a:t>
            </a:r>
            <a:r>
              <a:rPr sz="1200" dirty="0">
                <a:latin typeface="Times New Roman"/>
                <a:cs typeface="Times New Roman"/>
              </a:rPr>
              <a:t>who</a:t>
            </a:r>
            <a:r>
              <a:rPr sz="1200" spc="5" dirty="0">
                <a:latin typeface="Times New Roman"/>
                <a:cs typeface="Times New Roman"/>
              </a:rPr>
              <a:t> </a:t>
            </a:r>
            <a:r>
              <a:rPr sz="1200" dirty="0">
                <a:latin typeface="Times New Roman"/>
                <a:cs typeface="Times New Roman"/>
              </a:rPr>
              <a:t>has</a:t>
            </a:r>
            <a:r>
              <a:rPr sz="1200" spc="-5" dirty="0">
                <a:latin typeface="Times New Roman"/>
                <a:cs typeface="Times New Roman"/>
              </a:rPr>
              <a:t> </a:t>
            </a:r>
            <a:r>
              <a:rPr sz="1200" dirty="0">
                <a:latin typeface="Times New Roman"/>
                <a:cs typeface="Times New Roman"/>
              </a:rPr>
              <a:t>assisted</a:t>
            </a:r>
            <a:r>
              <a:rPr sz="1200" spc="5" dirty="0">
                <a:latin typeface="Times New Roman"/>
                <a:cs typeface="Times New Roman"/>
              </a:rPr>
              <a:t> </a:t>
            </a:r>
            <a:r>
              <a:rPr sz="1200" dirty="0">
                <a:latin typeface="Times New Roman"/>
                <a:cs typeface="Times New Roman"/>
              </a:rPr>
              <a:t>us</a:t>
            </a:r>
            <a:r>
              <a:rPr sz="1200" spc="5" dirty="0">
                <a:latin typeface="Times New Roman"/>
                <a:cs typeface="Times New Roman"/>
              </a:rPr>
              <a:t> </a:t>
            </a:r>
            <a:r>
              <a:rPr sz="1200" dirty="0">
                <a:latin typeface="Times New Roman"/>
                <a:cs typeface="Times New Roman"/>
              </a:rPr>
              <a:t>in</a:t>
            </a:r>
            <a:r>
              <a:rPr sz="1200" spc="10" dirty="0">
                <a:latin typeface="Times New Roman"/>
                <a:cs typeface="Times New Roman"/>
              </a:rPr>
              <a:t> </a:t>
            </a:r>
            <a:r>
              <a:rPr sz="1200" dirty="0">
                <a:latin typeface="Times New Roman"/>
                <a:cs typeface="Times New Roman"/>
              </a:rPr>
              <a:t>one</a:t>
            </a:r>
            <a:r>
              <a:rPr sz="1200" spc="5" dirty="0">
                <a:latin typeface="Times New Roman"/>
                <a:cs typeface="Times New Roman"/>
              </a:rPr>
              <a:t> </a:t>
            </a:r>
            <a:r>
              <a:rPr sz="1200" dirty="0">
                <a:latin typeface="Times New Roman"/>
                <a:cs typeface="Times New Roman"/>
              </a:rPr>
              <a:t>way</a:t>
            </a:r>
            <a:r>
              <a:rPr sz="1200" spc="-20" dirty="0">
                <a:latin typeface="Times New Roman"/>
                <a:cs typeface="Times New Roman"/>
              </a:rPr>
              <a:t> </a:t>
            </a:r>
            <a:r>
              <a:rPr sz="1200" dirty="0">
                <a:latin typeface="Times New Roman"/>
                <a:cs typeface="Times New Roman"/>
              </a:rPr>
              <a:t>or</a:t>
            </a:r>
            <a:r>
              <a:rPr sz="1200" spc="15" dirty="0">
                <a:latin typeface="Times New Roman"/>
                <a:cs typeface="Times New Roman"/>
              </a:rPr>
              <a:t> </a:t>
            </a:r>
            <a:r>
              <a:rPr sz="1200" dirty="0">
                <a:latin typeface="Times New Roman"/>
                <a:cs typeface="Times New Roman"/>
              </a:rPr>
              <a:t>the</a:t>
            </a:r>
            <a:r>
              <a:rPr sz="1200" spc="5" dirty="0">
                <a:latin typeface="Times New Roman"/>
                <a:cs typeface="Times New Roman"/>
              </a:rPr>
              <a:t> </a:t>
            </a:r>
            <a:r>
              <a:rPr sz="1200" spc="-10" dirty="0">
                <a:latin typeface="Times New Roman"/>
                <a:cs typeface="Times New Roman"/>
              </a:rPr>
              <a:t>other </a:t>
            </a:r>
            <a:r>
              <a:rPr sz="1200" dirty="0">
                <a:latin typeface="Times New Roman"/>
                <a:cs typeface="Times New Roman"/>
              </a:rPr>
              <a:t>for</a:t>
            </a:r>
            <a:r>
              <a:rPr sz="1200" spc="-3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completion</a:t>
            </a:r>
            <a:r>
              <a:rPr sz="1200" spc="-20"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my</a:t>
            </a:r>
            <a:r>
              <a:rPr sz="1200" spc="-30" dirty="0">
                <a:latin typeface="Times New Roman"/>
                <a:cs typeface="Times New Roman"/>
              </a:rPr>
              <a:t> </a:t>
            </a:r>
            <a:r>
              <a:rPr sz="1200" spc="-10" dirty="0">
                <a:latin typeface="Times New Roman"/>
                <a:cs typeface="Times New Roman"/>
              </a:rPr>
              <a:t>project.</a:t>
            </a:r>
            <a:endParaRPr sz="1200" dirty="0">
              <a:latin typeface="Times New Roman"/>
              <a:cs typeface="Times New Roman"/>
            </a:endParaRPr>
          </a:p>
          <a:p>
            <a:pPr>
              <a:lnSpc>
                <a:spcPct val="100000"/>
              </a:lnSpc>
            </a:pPr>
            <a:endParaRPr sz="1200" dirty="0">
              <a:latin typeface="Times New Roman"/>
              <a:cs typeface="Times New Roman"/>
            </a:endParaRPr>
          </a:p>
          <a:p>
            <a:pPr>
              <a:lnSpc>
                <a:spcPct val="100000"/>
              </a:lnSpc>
              <a:spcBef>
                <a:spcPts val="15"/>
              </a:spcBef>
            </a:pPr>
            <a:endParaRPr sz="1200" dirty="0">
              <a:latin typeface="Times New Roman"/>
              <a:cs typeface="Times New Roman"/>
            </a:endParaRPr>
          </a:p>
          <a:p>
            <a:pPr marL="29209" marR="26670" algn="just">
              <a:lnSpc>
                <a:spcPct val="102099"/>
              </a:lnSpc>
            </a:pPr>
            <a:r>
              <a:rPr sz="1200" dirty="0">
                <a:latin typeface="Times New Roman"/>
                <a:cs typeface="Times New Roman"/>
              </a:rPr>
              <a:t>Our</a:t>
            </a:r>
            <a:r>
              <a:rPr sz="1200" spc="-10" dirty="0">
                <a:latin typeface="Times New Roman"/>
                <a:cs typeface="Times New Roman"/>
              </a:rPr>
              <a:t> </a:t>
            </a:r>
            <a:r>
              <a:rPr sz="1200" dirty="0">
                <a:latin typeface="Times New Roman"/>
                <a:cs typeface="Times New Roman"/>
              </a:rPr>
              <a:t>greatest</a:t>
            </a:r>
            <a:r>
              <a:rPr sz="1200" spc="-5" dirty="0">
                <a:latin typeface="Times New Roman"/>
                <a:cs typeface="Times New Roman"/>
              </a:rPr>
              <a:t> </a:t>
            </a:r>
            <a:r>
              <a:rPr sz="1200" dirty="0">
                <a:latin typeface="Times New Roman"/>
                <a:cs typeface="Times New Roman"/>
              </a:rPr>
              <a:t>appreciation</a:t>
            </a:r>
            <a:r>
              <a:rPr sz="1200" spc="5" dirty="0">
                <a:latin typeface="Times New Roman"/>
                <a:cs typeface="Times New Roman"/>
              </a:rPr>
              <a:t> </a:t>
            </a:r>
            <a:r>
              <a:rPr sz="1200" dirty="0">
                <a:latin typeface="Times New Roman"/>
                <a:cs typeface="Times New Roman"/>
              </a:rPr>
              <a:t>to my</a:t>
            </a:r>
            <a:r>
              <a:rPr sz="1200" spc="-40" dirty="0">
                <a:latin typeface="Times New Roman"/>
                <a:cs typeface="Times New Roman"/>
              </a:rPr>
              <a:t> </a:t>
            </a:r>
            <a:r>
              <a:rPr sz="1200" dirty="0">
                <a:latin typeface="Times New Roman"/>
                <a:cs typeface="Times New Roman"/>
              </a:rPr>
              <a:t>Course</a:t>
            </a:r>
            <a:r>
              <a:rPr sz="1200" spc="-10" dirty="0">
                <a:latin typeface="Times New Roman"/>
                <a:cs typeface="Times New Roman"/>
              </a:rPr>
              <a:t> </a:t>
            </a:r>
            <a:r>
              <a:rPr sz="1200" dirty="0">
                <a:latin typeface="Times New Roman"/>
                <a:cs typeface="Times New Roman"/>
              </a:rPr>
              <a:t>Coordinator</a:t>
            </a:r>
            <a:r>
              <a:rPr sz="1200" spc="10" dirty="0">
                <a:latin typeface="Times New Roman"/>
                <a:cs typeface="Times New Roman"/>
              </a:rPr>
              <a:t> </a:t>
            </a:r>
            <a:r>
              <a:rPr sz="1200" dirty="0">
                <a:solidFill>
                  <a:srgbClr val="EC0000"/>
                </a:solidFill>
                <a:latin typeface="Times New Roman"/>
                <a:cs typeface="Times New Roman"/>
              </a:rPr>
              <a:t>Dr</a:t>
            </a:r>
            <a:r>
              <a:rPr sz="1200" spc="-10" dirty="0">
                <a:solidFill>
                  <a:srgbClr val="EC0000"/>
                </a:solidFill>
                <a:latin typeface="Times New Roman"/>
                <a:cs typeface="Times New Roman"/>
              </a:rPr>
              <a:t> </a:t>
            </a:r>
            <a:r>
              <a:rPr sz="1200" dirty="0">
                <a:latin typeface="Times New Roman"/>
                <a:cs typeface="Times New Roman"/>
              </a:rPr>
              <a:t>,</a:t>
            </a:r>
            <a:r>
              <a:rPr sz="1200" spc="-5" dirty="0">
                <a:latin typeface="Times New Roman"/>
                <a:cs typeface="Times New Roman"/>
              </a:rPr>
              <a:t> </a:t>
            </a:r>
            <a:r>
              <a:rPr sz="1200" dirty="0">
                <a:latin typeface="Times New Roman"/>
                <a:cs typeface="Times New Roman"/>
              </a:rPr>
              <a:t>and</a:t>
            </a:r>
            <a:r>
              <a:rPr sz="1200" spc="-5" dirty="0">
                <a:latin typeface="Times New Roman"/>
                <a:cs typeface="Times New Roman"/>
              </a:rPr>
              <a:t> </a:t>
            </a:r>
            <a:r>
              <a:rPr sz="1200" dirty="0">
                <a:latin typeface="Times New Roman"/>
                <a:cs typeface="Times New Roman"/>
              </a:rPr>
              <a:t>my</a:t>
            </a:r>
            <a:r>
              <a:rPr sz="1200" spc="-25" dirty="0">
                <a:latin typeface="Times New Roman"/>
                <a:cs typeface="Times New Roman"/>
              </a:rPr>
              <a:t> </a:t>
            </a:r>
            <a:r>
              <a:rPr sz="1200" dirty="0">
                <a:latin typeface="Times New Roman"/>
                <a:cs typeface="Times New Roman"/>
              </a:rPr>
              <a:t>guide</a:t>
            </a:r>
            <a:r>
              <a:rPr lang="en-US" sz="1200" dirty="0">
                <a:latin typeface="Times New Roman"/>
                <a:cs typeface="Times New Roman"/>
              </a:rPr>
              <a:t> </a:t>
            </a:r>
            <a:r>
              <a:rPr lang="en-IN" sz="1200" b="1" dirty="0">
                <a:solidFill>
                  <a:srgbClr val="FF0000"/>
                </a:solidFill>
                <a:latin typeface="Times New Roman"/>
                <a:cs typeface="Times New Roman"/>
              </a:rPr>
              <a:t>Dr.</a:t>
            </a:r>
            <a:r>
              <a:rPr lang="en-IN" sz="1200" b="1" spc="270" dirty="0">
                <a:solidFill>
                  <a:srgbClr val="FF0000"/>
                </a:solidFill>
                <a:latin typeface="Times New Roman"/>
                <a:cs typeface="Times New Roman"/>
              </a:rPr>
              <a:t> </a:t>
            </a:r>
            <a:r>
              <a:rPr lang="en-IN" sz="1200" b="1" dirty="0">
                <a:solidFill>
                  <a:srgbClr val="FF0000"/>
                </a:solidFill>
                <a:latin typeface="Times New Roman"/>
                <a:cs typeface="Times New Roman"/>
              </a:rPr>
              <a:t>Kaja</a:t>
            </a:r>
            <a:r>
              <a:rPr lang="en-IN" sz="1200" b="1" spc="270" dirty="0">
                <a:solidFill>
                  <a:srgbClr val="FF0000"/>
                </a:solidFill>
                <a:latin typeface="Times New Roman"/>
                <a:cs typeface="Times New Roman"/>
              </a:rPr>
              <a:t> </a:t>
            </a:r>
            <a:r>
              <a:rPr lang="en-IN" sz="1200" b="1" dirty="0">
                <a:solidFill>
                  <a:srgbClr val="FF0000"/>
                </a:solidFill>
                <a:latin typeface="Times New Roman"/>
                <a:cs typeface="Times New Roman"/>
              </a:rPr>
              <a:t>Shareef</a:t>
            </a:r>
            <a:r>
              <a:rPr sz="1200" b="1" dirty="0">
                <a:solidFill>
                  <a:srgbClr val="C00000"/>
                </a:solidFill>
                <a:latin typeface="Times New Roman"/>
                <a:cs typeface="Times New Roman"/>
              </a:rPr>
              <a:t>,</a:t>
            </a:r>
            <a:r>
              <a:rPr sz="1200" b="1" spc="-5" dirty="0">
                <a:solidFill>
                  <a:srgbClr val="C00000"/>
                </a:solidFill>
                <a:latin typeface="Times New Roman"/>
                <a:cs typeface="Times New Roman"/>
              </a:rPr>
              <a:t> </a:t>
            </a:r>
            <a:r>
              <a:rPr sz="1200" dirty="0">
                <a:latin typeface="Times New Roman"/>
                <a:cs typeface="Times New Roman"/>
              </a:rPr>
              <a:t>Department </a:t>
            </a:r>
            <a:r>
              <a:rPr sz="1200" spc="-25" dirty="0">
                <a:latin typeface="Times New Roman"/>
                <a:cs typeface="Times New Roman"/>
              </a:rPr>
              <a:t>of </a:t>
            </a:r>
            <a:r>
              <a:rPr sz="1200" dirty="0">
                <a:latin typeface="Times New Roman"/>
                <a:cs typeface="Times New Roman"/>
              </a:rPr>
              <a:t>Computer</a:t>
            </a:r>
            <a:r>
              <a:rPr sz="1200" spc="-15" dirty="0">
                <a:latin typeface="Times New Roman"/>
                <a:cs typeface="Times New Roman"/>
              </a:rPr>
              <a:t> </a:t>
            </a:r>
            <a:r>
              <a:rPr sz="1200" dirty="0">
                <a:latin typeface="Times New Roman"/>
                <a:cs typeface="Times New Roman"/>
              </a:rPr>
              <a:t>Science</a:t>
            </a:r>
            <a:r>
              <a:rPr sz="1200" spc="5" dirty="0">
                <a:latin typeface="Times New Roman"/>
                <a:cs typeface="Times New Roman"/>
              </a:rPr>
              <a:t> </a:t>
            </a:r>
            <a:r>
              <a:rPr sz="1200" dirty="0">
                <a:latin typeface="Times New Roman"/>
                <a:cs typeface="Times New Roman"/>
              </a:rPr>
              <a:t>and Information Technology</a:t>
            </a:r>
            <a:r>
              <a:rPr sz="1200" spc="-10" dirty="0">
                <a:latin typeface="Times New Roman"/>
                <a:cs typeface="Times New Roman"/>
              </a:rPr>
              <a:t> </a:t>
            </a:r>
            <a:r>
              <a:rPr sz="1200" dirty="0">
                <a:latin typeface="Times New Roman"/>
                <a:cs typeface="Times New Roman"/>
              </a:rPr>
              <a:t>which</a:t>
            </a:r>
            <a:r>
              <a:rPr sz="1200" spc="-10" dirty="0">
                <a:latin typeface="Times New Roman"/>
                <a:cs typeface="Times New Roman"/>
              </a:rPr>
              <a:t> </a:t>
            </a:r>
            <a:r>
              <a:rPr sz="1200" dirty="0">
                <a:latin typeface="Times New Roman"/>
                <a:cs typeface="Times New Roman"/>
              </a:rPr>
              <a:t>cannot be</a:t>
            </a:r>
            <a:r>
              <a:rPr sz="1200" spc="-5" dirty="0">
                <a:latin typeface="Times New Roman"/>
                <a:cs typeface="Times New Roman"/>
              </a:rPr>
              <a:t> </a:t>
            </a:r>
            <a:r>
              <a:rPr sz="1200" dirty="0">
                <a:latin typeface="Times New Roman"/>
                <a:cs typeface="Times New Roman"/>
              </a:rPr>
              <a:t>expressed in</a:t>
            </a:r>
            <a:r>
              <a:rPr sz="1200" spc="-5" dirty="0">
                <a:latin typeface="Times New Roman"/>
                <a:cs typeface="Times New Roman"/>
              </a:rPr>
              <a:t> </a:t>
            </a:r>
            <a:r>
              <a:rPr sz="1200" dirty="0">
                <a:latin typeface="Times New Roman"/>
                <a:cs typeface="Times New Roman"/>
              </a:rPr>
              <a:t>words</a:t>
            </a:r>
            <a:r>
              <a:rPr sz="1200" spc="-5" dirty="0">
                <a:latin typeface="Times New Roman"/>
                <a:cs typeface="Times New Roman"/>
              </a:rPr>
              <a:t> </a:t>
            </a:r>
            <a:r>
              <a:rPr sz="1200" dirty="0">
                <a:latin typeface="Times New Roman"/>
                <a:cs typeface="Times New Roman"/>
              </a:rPr>
              <a:t>for</a:t>
            </a:r>
            <a:r>
              <a:rPr sz="1200" spc="-15" dirty="0">
                <a:latin typeface="Times New Roman"/>
                <a:cs typeface="Times New Roman"/>
              </a:rPr>
              <a:t> </a:t>
            </a:r>
            <a:r>
              <a:rPr sz="1200" dirty="0">
                <a:latin typeface="Times New Roman"/>
                <a:cs typeface="Times New Roman"/>
              </a:rPr>
              <a:t>his/her</a:t>
            </a:r>
            <a:r>
              <a:rPr sz="1200" spc="-10" dirty="0">
                <a:latin typeface="Times New Roman"/>
                <a:cs typeface="Times New Roman"/>
              </a:rPr>
              <a:t> tremendous </a:t>
            </a:r>
            <a:r>
              <a:rPr sz="1200" dirty="0">
                <a:latin typeface="Times New Roman"/>
                <a:cs typeface="Times New Roman"/>
              </a:rPr>
              <a:t>support,</a:t>
            </a:r>
            <a:r>
              <a:rPr sz="1200" spc="-10" dirty="0">
                <a:latin typeface="Times New Roman"/>
                <a:cs typeface="Times New Roman"/>
              </a:rPr>
              <a:t> encouragement</a:t>
            </a:r>
            <a:r>
              <a:rPr sz="1200" dirty="0">
                <a:latin typeface="Times New Roman"/>
                <a:cs typeface="Times New Roman"/>
              </a:rPr>
              <a:t> and</a:t>
            </a:r>
            <a:r>
              <a:rPr sz="1200" spc="-5" dirty="0">
                <a:latin typeface="Times New Roman"/>
                <a:cs typeface="Times New Roman"/>
              </a:rPr>
              <a:t> </a:t>
            </a:r>
            <a:r>
              <a:rPr sz="1200" dirty="0">
                <a:latin typeface="Times New Roman"/>
                <a:cs typeface="Times New Roman"/>
              </a:rPr>
              <a:t>guidance</a:t>
            </a:r>
            <a:r>
              <a:rPr sz="1200" spc="-5" dirty="0">
                <a:latin typeface="Times New Roman"/>
                <a:cs typeface="Times New Roman"/>
              </a:rPr>
              <a:t> </a:t>
            </a:r>
            <a:r>
              <a:rPr sz="1200" dirty="0">
                <a:latin typeface="Times New Roman"/>
                <a:cs typeface="Times New Roman"/>
              </a:rPr>
              <a:t>for</a:t>
            </a:r>
            <a:r>
              <a:rPr sz="1200" spc="-15" dirty="0">
                <a:latin typeface="Times New Roman"/>
                <a:cs typeface="Times New Roman"/>
              </a:rPr>
              <a:t> </a:t>
            </a:r>
            <a:r>
              <a:rPr sz="1200" dirty="0">
                <a:latin typeface="Times New Roman"/>
                <a:cs typeface="Times New Roman"/>
              </a:rPr>
              <a:t>this</a:t>
            </a:r>
            <a:r>
              <a:rPr sz="1200" spc="-10" dirty="0">
                <a:latin typeface="Times New Roman"/>
                <a:cs typeface="Times New Roman"/>
              </a:rPr>
              <a:t> project.</a:t>
            </a:r>
            <a:endParaRPr sz="1200" dirty="0">
              <a:latin typeface="Times New Roman"/>
              <a:cs typeface="Times New Roman"/>
            </a:endParaRPr>
          </a:p>
          <a:p>
            <a:pPr>
              <a:lnSpc>
                <a:spcPct val="100000"/>
              </a:lnSpc>
              <a:spcBef>
                <a:spcPts val="204"/>
              </a:spcBef>
            </a:pPr>
            <a:endParaRPr sz="1200" dirty="0">
              <a:latin typeface="Times New Roman"/>
              <a:cs typeface="Times New Roman"/>
            </a:endParaRPr>
          </a:p>
          <a:p>
            <a:pPr marL="12700" marR="5080" algn="just">
              <a:lnSpc>
                <a:spcPct val="143700"/>
              </a:lnSpc>
            </a:pPr>
            <a:r>
              <a:rPr sz="1200" dirty="0">
                <a:latin typeface="Times New Roman"/>
                <a:cs typeface="Times New Roman"/>
              </a:rPr>
              <a:t>We</a:t>
            </a:r>
            <a:r>
              <a:rPr sz="1200" spc="260" dirty="0">
                <a:latin typeface="Times New Roman"/>
                <a:cs typeface="Times New Roman"/>
              </a:rPr>
              <a:t> </a:t>
            </a:r>
            <a:r>
              <a:rPr sz="1200" dirty="0">
                <a:latin typeface="Times New Roman"/>
                <a:cs typeface="Times New Roman"/>
              </a:rPr>
              <a:t>express</a:t>
            </a:r>
            <a:r>
              <a:rPr sz="1200" spc="275" dirty="0">
                <a:latin typeface="Times New Roman"/>
                <a:cs typeface="Times New Roman"/>
              </a:rPr>
              <a:t> </a:t>
            </a:r>
            <a:r>
              <a:rPr sz="1200" dirty="0">
                <a:latin typeface="Times New Roman"/>
                <a:cs typeface="Times New Roman"/>
              </a:rPr>
              <a:t>our</a:t>
            </a:r>
            <a:r>
              <a:rPr sz="1200" spc="270" dirty="0">
                <a:latin typeface="Times New Roman"/>
                <a:cs typeface="Times New Roman"/>
              </a:rPr>
              <a:t> </a:t>
            </a:r>
            <a:r>
              <a:rPr sz="1200" dirty="0">
                <a:latin typeface="Times New Roman"/>
                <a:cs typeface="Times New Roman"/>
              </a:rPr>
              <a:t>gratitude</a:t>
            </a:r>
            <a:r>
              <a:rPr sz="1200" spc="265" dirty="0">
                <a:latin typeface="Times New Roman"/>
                <a:cs typeface="Times New Roman"/>
              </a:rPr>
              <a:t> </a:t>
            </a:r>
            <a:r>
              <a:rPr sz="1200" dirty="0">
                <a:latin typeface="Times New Roman"/>
                <a:cs typeface="Times New Roman"/>
              </a:rPr>
              <a:t>to</a:t>
            </a:r>
            <a:r>
              <a:rPr sz="1200" spc="275" dirty="0">
                <a:latin typeface="Times New Roman"/>
                <a:cs typeface="Times New Roman"/>
              </a:rPr>
              <a:t> </a:t>
            </a:r>
            <a:r>
              <a:rPr sz="1200" b="1" dirty="0">
                <a:solidFill>
                  <a:srgbClr val="0A0A0A"/>
                </a:solidFill>
                <a:latin typeface="Times New Roman"/>
                <a:cs typeface="Times New Roman"/>
              </a:rPr>
              <a:t>Dr.</a:t>
            </a:r>
            <a:r>
              <a:rPr sz="1200" b="1" spc="270" dirty="0">
                <a:solidFill>
                  <a:srgbClr val="0A0A0A"/>
                </a:solidFill>
                <a:latin typeface="Times New Roman"/>
                <a:cs typeface="Times New Roman"/>
              </a:rPr>
              <a:t> </a:t>
            </a:r>
            <a:r>
              <a:rPr sz="1200" b="1" dirty="0">
                <a:solidFill>
                  <a:srgbClr val="0A0A0A"/>
                </a:solidFill>
                <a:latin typeface="Times New Roman"/>
                <a:cs typeface="Times New Roman"/>
              </a:rPr>
              <a:t>Kaja</a:t>
            </a:r>
            <a:r>
              <a:rPr sz="1200" b="1" spc="270" dirty="0">
                <a:solidFill>
                  <a:srgbClr val="0A0A0A"/>
                </a:solidFill>
                <a:latin typeface="Times New Roman"/>
                <a:cs typeface="Times New Roman"/>
              </a:rPr>
              <a:t> </a:t>
            </a:r>
            <a:r>
              <a:rPr sz="1200" b="1" dirty="0">
                <a:solidFill>
                  <a:srgbClr val="0A0A0A"/>
                </a:solidFill>
                <a:latin typeface="Times New Roman"/>
                <a:cs typeface="Times New Roman"/>
              </a:rPr>
              <a:t>Shareef</a:t>
            </a:r>
            <a:r>
              <a:rPr sz="1200" dirty="0">
                <a:solidFill>
                  <a:srgbClr val="0A0A0A"/>
                </a:solidFill>
                <a:latin typeface="Times New Roman"/>
                <a:cs typeface="Times New Roman"/>
              </a:rPr>
              <a:t>,</a:t>
            </a:r>
            <a:r>
              <a:rPr sz="1200" spc="275" dirty="0">
                <a:solidFill>
                  <a:srgbClr val="0A0A0A"/>
                </a:solidFill>
                <a:latin typeface="Times New Roman"/>
                <a:cs typeface="Times New Roman"/>
              </a:rPr>
              <a:t> </a:t>
            </a:r>
            <a:r>
              <a:rPr sz="1200" dirty="0">
                <a:latin typeface="Times New Roman"/>
                <a:cs typeface="Times New Roman"/>
              </a:rPr>
              <a:t>Head</a:t>
            </a:r>
            <a:r>
              <a:rPr sz="1200" spc="265" dirty="0">
                <a:latin typeface="Times New Roman"/>
                <a:cs typeface="Times New Roman"/>
              </a:rPr>
              <a:t> </a:t>
            </a:r>
            <a:r>
              <a:rPr sz="1200" dirty="0">
                <a:latin typeface="Times New Roman"/>
                <a:cs typeface="Times New Roman"/>
              </a:rPr>
              <a:t>of</a:t>
            </a:r>
            <a:r>
              <a:rPr sz="1200" spc="270" dirty="0">
                <a:latin typeface="Times New Roman"/>
                <a:cs typeface="Times New Roman"/>
              </a:rPr>
              <a:t> </a:t>
            </a:r>
            <a:r>
              <a:rPr sz="1200" dirty="0">
                <a:latin typeface="Times New Roman"/>
                <a:cs typeface="Times New Roman"/>
              </a:rPr>
              <a:t>the</a:t>
            </a:r>
            <a:r>
              <a:rPr sz="1200" spc="275" dirty="0">
                <a:latin typeface="Times New Roman"/>
                <a:cs typeface="Times New Roman"/>
              </a:rPr>
              <a:t> </a:t>
            </a:r>
            <a:r>
              <a:rPr sz="1200" b="1" i="1" dirty="0">
                <a:solidFill>
                  <a:srgbClr val="C00000"/>
                </a:solidFill>
                <a:latin typeface="Times New Roman"/>
                <a:cs typeface="Times New Roman"/>
              </a:rPr>
              <a:t>Department</a:t>
            </a:r>
            <a:r>
              <a:rPr sz="1200" b="1" i="1" spc="260" dirty="0">
                <a:solidFill>
                  <a:srgbClr val="C00000"/>
                </a:solidFill>
                <a:latin typeface="Times New Roman"/>
                <a:cs typeface="Times New Roman"/>
              </a:rPr>
              <a:t> </a:t>
            </a:r>
            <a:r>
              <a:rPr sz="1200" b="1" i="1" dirty="0">
                <a:solidFill>
                  <a:srgbClr val="C00000"/>
                </a:solidFill>
                <a:latin typeface="Times New Roman"/>
                <a:cs typeface="Times New Roman"/>
              </a:rPr>
              <a:t>for</a:t>
            </a:r>
            <a:r>
              <a:rPr sz="1200" b="1" i="1" spc="265" dirty="0">
                <a:solidFill>
                  <a:srgbClr val="C00000"/>
                </a:solidFill>
                <a:latin typeface="Times New Roman"/>
                <a:cs typeface="Times New Roman"/>
              </a:rPr>
              <a:t> </a:t>
            </a:r>
            <a:r>
              <a:rPr sz="1200" b="1" i="1" dirty="0">
                <a:solidFill>
                  <a:srgbClr val="C00000"/>
                </a:solidFill>
                <a:latin typeface="Times New Roman"/>
                <a:cs typeface="Times New Roman"/>
              </a:rPr>
              <a:t>Computer</a:t>
            </a:r>
            <a:r>
              <a:rPr sz="1200" b="1" i="1" spc="270" dirty="0">
                <a:solidFill>
                  <a:srgbClr val="C00000"/>
                </a:solidFill>
                <a:latin typeface="Times New Roman"/>
                <a:cs typeface="Times New Roman"/>
              </a:rPr>
              <a:t> </a:t>
            </a:r>
            <a:r>
              <a:rPr sz="1200" b="1" i="1" dirty="0">
                <a:solidFill>
                  <a:srgbClr val="C00000"/>
                </a:solidFill>
                <a:latin typeface="Times New Roman"/>
                <a:cs typeface="Times New Roman"/>
              </a:rPr>
              <a:t>Science</a:t>
            </a:r>
            <a:r>
              <a:rPr sz="1200" b="1" i="1" spc="265" dirty="0">
                <a:solidFill>
                  <a:srgbClr val="C00000"/>
                </a:solidFill>
                <a:latin typeface="Times New Roman"/>
                <a:cs typeface="Times New Roman"/>
              </a:rPr>
              <a:t> </a:t>
            </a:r>
            <a:r>
              <a:rPr sz="1200" b="1" i="1" spc="-25" dirty="0">
                <a:solidFill>
                  <a:srgbClr val="C00000"/>
                </a:solidFill>
                <a:latin typeface="Times New Roman"/>
                <a:cs typeface="Times New Roman"/>
              </a:rPr>
              <a:t>and </a:t>
            </a:r>
            <a:r>
              <a:rPr sz="1200" b="1" i="1" dirty="0">
                <a:solidFill>
                  <a:srgbClr val="C00000"/>
                </a:solidFill>
                <a:latin typeface="Times New Roman"/>
                <a:cs typeface="Times New Roman"/>
              </a:rPr>
              <a:t>Information</a:t>
            </a:r>
            <a:r>
              <a:rPr sz="1200" b="1" i="1" spc="10" dirty="0">
                <a:solidFill>
                  <a:srgbClr val="C00000"/>
                </a:solidFill>
                <a:latin typeface="Times New Roman"/>
                <a:cs typeface="Times New Roman"/>
              </a:rPr>
              <a:t> </a:t>
            </a:r>
            <a:r>
              <a:rPr sz="1200" b="1" i="1" dirty="0">
                <a:solidFill>
                  <a:srgbClr val="C00000"/>
                </a:solidFill>
                <a:latin typeface="Times New Roman"/>
                <a:cs typeface="Times New Roman"/>
              </a:rPr>
              <a:t>Technology</a:t>
            </a:r>
            <a:r>
              <a:rPr sz="1200" b="1" i="1" spc="-5" dirty="0">
                <a:solidFill>
                  <a:srgbClr val="C00000"/>
                </a:solidFill>
                <a:latin typeface="Times New Roman"/>
                <a:cs typeface="Times New Roman"/>
              </a:rPr>
              <a:t> </a:t>
            </a:r>
            <a:r>
              <a:rPr sz="1200" dirty="0">
                <a:latin typeface="Times New Roman"/>
                <a:cs typeface="Times New Roman"/>
              </a:rPr>
              <a:t>for</a:t>
            </a:r>
            <a:r>
              <a:rPr sz="1200" spc="5" dirty="0">
                <a:latin typeface="Times New Roman"/>
                <a:cs typeface="Times New Roman"/>
              </a:rPr>
              <a:t> </a:t>
            </a:r>
            <a:r>
              <a:rPr sz="1200" dirty="0">
                <a:latin typeface="Times New Roman"/>
                <a:cs typeface="Times New Roman"/>
              </a:rPr>
              <a:t>providing</a:t>
            </a:r>
            <a:r>
              <a:rPr sz="1200" spc="-10" dirty="0">
                <a:latin typeface="Times New Roman"/>
                <a:cs typeface="Times New Roman"/>
              </a:rPr>
              <a:t> </a:t>
            </a:r>
            <a:r>
              <a:rPr sz="1200" dirty="0">
                <a:latin typeface="Times New Roman"/>
                <a:cs typeface="Times New Roman"/>
              </a:rPr>
              <a:t>us</a:t>
            </a:r>
            <a:r>
              <a:rPr sz="1200" spc="15" dirty="0">
                <a:latin typeface="Times New Roman"/>
                <a:cs typeface="Times New Roman"/>
              </a:rPr>
              <a:t> </a:t>
            </a:r>
            <a:r>
              <a:rPr sz="1200" dirty="0">
                <a:latin typeface="Times New Roman"/>
                <a:cs typeface="Times New Roman"/>
              </a:rPr>
              <a:t>with</a:t>
            </a:r>
            <a:r>
              <a:rPr sz="1200" spc="10" dirty="0">
                <a:latin typeface="Times New Roman"/>
                <a:cs typeface="Times New Roman"/>
              </a:rPr>
              <a:t> </a:t>
            </a:r>
            <a:r>
              <a:rPr sz="1200" dirty="0">
                <a:latin typeface="Times New Roman"/>
                <a:cs typeface="Times New Roman"/>
              </a:rPr>
              <a:t>adequate</a:t>
            </a:r>
            <a:r>
              <a:rPr sz="1200" spc="15" dirty="0">
                <a:latin typeface="Times New Roman"/>
                <a:cs typeface="Times New Roman"/>
              </a:rPr>
              <a:t> </a:t>
            </a:r>
            <a:r>
              <a:rPr sz="1200" dirty="0">
                <a:latin typeface="Times New Roman"/>
                <a:cs typeface="Times New Roman"/>
              </a:rPr>
              <a:t>facilities,</a:t>
            </a:r>
            <a:r>
              <a:rPr sz="1200" spc="15" dirty="0">
                <a:latin typeface="Times New Roman"/>
                <a:cs typeface="Times New Roman"/>
              </a:rPr>
              <a:t> </a:t>
            </a:r>
            <a:r>
              <a:rPr sz="1200" dirty="0">
                <a:latin typeface="Times New Roman"/>
                <a:cs typeface="Times New Roman"/>
              </a:rPr>
              <a:t>ways</a:t>
            </a:r>
            <a:r>
              <a:rPr sz="1200" spc="20" dirty="0">
                <a:latin typeface="Times New Roman"/>
                <a:cs typeface="Times New Roman"/>
              </a:rPr>
              <a:t> </a:t>
            </a:r>
            <a:r>
              <a:rPr sz="1200" dirty="0">
                <a:latin typeface="Times New Roman"/>
                <a:cs typeface="Times New Roman"/>
              </a:rPr>
              <a:t>and</a:t>
            </a:r>
            <a:r>
              <a:rPr sz="1200" spc="10" dirty="0">
                <a:latin typeface="Times New Roman"/>
                <a:cs typeface="Times New Roman"/>
              </a:rPr>
              <a:t> </a:t>
            </a:r>
            <a:r>
              <a:rPr sz="1200" dirty="0">
                <a:latin typeface="Times New Roman"/>
                <a:cs typeface="Times New Roman"/>
              </a:rPr>
              <a:t>means</a:t>
            </a:r>
            <a:r>
              <a:rPr sz="1200" spc="20" dirty="0">
                <a:latin typeface="Times New Roman"/>
                <a:cs typeface="Times New Roman"/>
              </a:rPr>
              <a:t> </a:t>
            </a:r>
            <a:r>
              <a:rPr sz="1200" dirty="0">
                <a:latin typeface="Times New Roman"/>
                <a:cs typeface="Times New Roman"/>
              </a:rPr>
              <a:t>by</a:t>
            </a:r>
            <a:r>
              <a:rPr sz="1200" spc="-15" dirty="0">
                <a:latin typeface="Times New Roman"/>
                <a:cs typeface="Times New Roman"/>
              </a:rPr>
              <a:t> </a:t>
            </a:r>
            <a:r>
              <a:rPr sz="1200" dirty="0">
                <a:latin typeface="Times New Roman"/>
                <a:cs typeface="Times New Roman"/>
              </a:rPr>
              <a:t>which</a:t>
            </a:r>
            <a:r>
              <a:rPr sz="1200" spc="15" dirty="0">
                <a:latin typeface="Times New Roman"/>
                <a:cs typeface="Times New Roman"/>
              </a:rPr>
              <a:t> </a:t>
            </a:r>
            <a:r>
              <a:rPr sz="1200" dirty="0">
                <a:latin typeface="Times New Roman"/>
                <a:cs typeface="Times New Roman"/>
              </a:rPr>
              <a:t>we</a:t>
            </a:r>
            <a:r>
              <a:rPr sz="1200" spc="10" dirty="0">
                <a:latin typeface="Times New Roman"/>
                <a:cs typeface="Times New Roman"/>
              </a:rPr>
              <a:t> </a:t>
            </a:r>
            <a:r>
              <a:rPr sz="1200" dirty="0">
                <a:latin typeface="Times New Roman"/>
                <a:cs typeface="Times New Roman"/>
              </a:rPr>
              <a:t>are</a:t>
            </a:r>
            <a:r>
              <a:rPr sz="1200" spc="5" dirty="0">
                <a:latin typeface="Times New Roman"/>
                <a:cs typeface="Times New Roman"/>
              </a:rPr>
              <a:t> </a:t>
            </a:r>
            <a:r>
              <a:rPr sz="1200" dirty="0">
                <a:latin typeface="Times New Roman"/>
                <a:cs typeface="Times New Roman"/>
              </a:rPr>
              <a:t>able</a:t>
            </a:r>
            <a:r>
              <a:rPr sz="1200" spc="20" dirty="0">
                <a:latin typeface="Times New Roman"/>
                <a:cs typeface="Times New Roman"/>
              </a:rPr>
              <a:t> </a:t>
            </a:r>
            <a:r>
              <a:rPr sz="1200" spc="-25" dirty="0">
                <a:latin typeface="Times New Roman"/>
                <a:cs typeface="Times New Roman"/>
              </a:rPr>
              <a:t>to </a:t>
            </a:r>
            <a:r>
              <a:rPr sz="1200" dirty="0">
                <a:latin typeface="Times New Roman"/>
                <a:cs typeface="Times New Roman"/>
              </a:rPr>
              <a:t>complete</a:t>
            </a:r>
            <a:r>
              <a:rPr sz="1200" spc="-25" dirty="0">
                <a:latin typeface="Times New Roman"/>
                <a:cs typeface="Times New Roman"/>
              </a:rPr>
              <a:t> </a:t>
            </a:r>
            <a:r>
              <a:rPr sz="1200" dirty="0">
                <a:latin typeface="Times New Roman"/>
                <a:cs typeface="Times New Roman"/>
              </a:rPr>
              <a:t>this</a:t>
            </a:r>
            <a:r>
              <a:rPr sz="1200" spc="-25" dirty="0">
                <a:latin typeface="Times New Roman"/>
                <a:cs typeface="Times New Roman"/>
              </a:rPr>
              <a:t> </a:t>
            </a:r>
            <a:r>
              <a:rPr sz="1200" spc="-10" dirty="0">
                <a:latin typeface="Times New Roman"/>
                <a:cs typeface="Times New Roman"/>
              </a:rPr>
              <a:t>project-</a:t>
            </a:r>
            <a:r>
              <a:rPr sz="1200" dirty="0">
                <a:latin typeface="Times New Roman"/>
                <a:cs typeface="Times New Roman"/>
              </a:rPr>
              <a:t>based</a:t>
            </a:r>
            <a:r>
              <a:rPr sz="1200" spc="-15" dirty="0">
                <a:latin typeface="Times New Roman"/>
                <a:cs typeface="Times New Roman"/>
              </a:rPr>
              <a:t> </a:t>
            </a:r>
            <a:r>
              <a:rPr sz="1200" spc="-20" dirty="0">
                <a:latin typeface="Times New Roman"/>
                <a:cs typeface="Times New Roman"/>
              </a:rPr>
              <a:t>Lab.</a:t>
            </a:r>
            <a:endParaRPr sz="1200" dirty="0">
              <a:latin typeface="Times New Roman"/>
              <a:cs typeface="Times New Roman"/>
            </a:endParaRPr>
          </a:p>
          <a:p>
            <a:pPr>
              <a:lnSpc>
                <a:spcPct val="100000"/>
              </a:lnSpc>
              <a:spcBef>
                <a:spcPts val="795"/>
              </a:spcBef>
            </a:pPr>
            <a:endParaRPr sz="1200" dirty="0">
              <a:latin typeface="Times New Roman"/>
              <a:cs typeface="Times New Roman"/>
            </a:endParaRPr>
          </a:p>
          <a:p>
            <a:pPr marL="12700" marR="5080" algn="just">
              <a:lnSpc>
                <a:spcPct val="143700"/>
              </a:lnSpc>
            </a:pPr>
            <a:r>
              <a:rPr sz="1200" spc="-10" dirty="0">
                <a:latin typeface="Times New Roman"/>
                <a:cs typeface="Times New Roman"/>
              </a:rPr>
              <a:t>We</a:t>
            </a:r>
            <a:r>
              <a:rPr sz="1200" spc="-55" dirty="0">
                <a:latin typeface="Times New Roman"/>
                <a:cs typeface="Times New Roman"/>
              </a:rPr>
              <a:t> </a:t>
            </a:r>
            <a:r>
              <a:rPr sz="1200" spc="-10" dirty="0">
                <a:latin typeface="Times New Roman"/>
                <a:cs typeface="Times New Roman"/>
              </a:rPr>
              <a:t>thank</a:t>
            </a:r>
            <a:r>
              <a:rPr sz="1200" spc="-35" dirty="0">
                <a:latin typeface="Times New Roman"/>
                <a:cs typeface="Times New Roman"/>
              </a:rPr>
              <a:t> </a:t>
            </a:r>
            <a:r>
              <a:rPr sz="1200" spc="-10" dirty="0">
                <a:latin typeface="Times New Roman"/>
                <a:cs typeface="Times New Roman"/>
              </a:rPr>
              <a:t>all</a:t>
            </a:r>
            <a:r>
              <a:rPr sz="1200" spc="-40" dirty="0">
                <a:latin typeface="Times New Roman"/>
                <a:cs typeface="Times New Roman"/>
              </a:rPr>
              <a:t> </a:t>
            </a:r>
            <a:r>
              <a:rPr sz="1200" spc="-10" dirty="0">
                <a:latin typeface="Times New Roman"/>
                <a:cs typeface="Times New Roman"/>
              </a:rPr>
              <a:t>the</a:t>
            </a:r>
            <a:r>
              <a:rPr sz="1200" spc="-50" dirty="0">
                <a:latin typeface="Times New Roman"/>
                <a:cs typeface="Times New Roman"/>
              </a:rPr>
              <a:t> </a:t>
            </a:r>
            <a:r>
              <a:rPr sz="1200" spc="-10" dirty="0">
                <a:latin typeface="Times New Roman"/>
                <a:cs typeface="Times New Roman"/>
              </a:rPr>
              <a:t>members</a:t>
            </a:r>
            <a:r>
              <a:rPr sz="1200" spc="-35" dirty="0">
                <a:latin typeface="Times New Roman"/>
                <a:cs typeface="Times New Roman"/>
              </a:rPr>
              <a:t> </a:t>
            </a:r>
            <a:r>
              <a:rPr sz="1200" dirty="0">
                <a:latin typeface="Times New Roman"/>
                <a:cs typeface="Times New Roman"/>
              </a:rPr>
              <a:t>of</a:t>
            </a:r>
            <a:r>
              <a:rPr sz="1200" spc="-50" dirty="0">
                <a:latin typeface="Times New Roman"/>
                <a:cs typeface="Times New Roman"/>
              </a:rPr>
              <a:t> </a:t>
            </a:r>
            <a:r>
              <a:rPr sz="1200" spc="-10" dirty="0">
                <a:latin typeface="Times New Roman"/>
                <a:cs typeface="Times New Roman"/>
              </a:rPr>
              <a:t>teaching</a:t>
            </a:r>
            <a:r>
              <a:rPr sz="1200" spc="-35" dirty="0">
                <a:latin typeface="Times New Roman"/>
                <a:cs typeface="Times New Roman"/>
              </a:rPr>
              <a:t> </a:t>
            </a:r>
            <a:r>
              <a:rPr sz="1200" dirty="0">
                <a:latin typeface="Times New Roman"/>
                <a:cs typeface="Times New Roman"/>
              </a:rPr>
              <a:t>and</a:t>
            </a:r>
            <a:r>
              <a:rPr sz="1200" spc="-35" dirty="0">
                <a:latin typeface="Times New Roman"/>
                <a:cs typeface="Times New Roman"/>
              </a:rPr>
              <a:t> </a:t>
            </a:r>
            <a:r>
              <a:rPr sz="1200" spc="-10" dirty="0">
                <a:latin typeface="Times New Roman"/>
                <a:cs typeface="Times New Roman"/>
              </a:rPr>
              <a:t>non-teaching</a:t>
            </a:r>
            <a:r>
              <a:rPr sz="1200" spc="-55" dirty="0">
                <a:latin typeface="Times New Roman"/>
                <a:cs typeface="Times New Roman"/>
              </a:rPr>
              <a:t> </a:t>
            </a:r>
            <a:r>
              <a:rPr sz="1200" dirty="0">
                <a:latin typeface="Times New Roman"/>
                <a:cs typeface="Times New Roman"/>
              </a:rPr>
              <a:t>staff</a:t>
            </a:r>
            <a:r>
              <a:rPr sz="1200" spc="-30" dirty="0">
                <a:latin typeface="Times New Roman"/>
                <a:cs typeface="Times New Roman"/>
              </a:rPr>
              <a:t> </a:t>
            </a:r>
            <a:r>
              <a:rPr sz="1200" spc="-10" dirty="0">
                <a:latin typeface="Times New Roman"/>
                <a:cs typeface="Times New Roman"/>
              </a:rPr>
              <a:t>members,</a:t>
            </a:r>
            <a:r>
              <a:rPr sz="1200" spc="-35" dirty="0">
                <a:latin typeface="Times New Roman"/>
                <a:cs typeface="Times New Roman"/>
              </a:rPr>
              <a:t> </a:t>
            </a:r>
            <a:r>
              <a:rPr sz="1200" dirty="0">
                <a:latin typeface="Times New Roman"/>
                <a:cs typeface="Times New Roman"/>
              </a:rPr>
              <a:t>and</a:t>
            </a:r>
            <a:r>
              <a:rPr sz="1200" spc="10" dirty="0">
                <a:latin typeface="Times New Roman"/>
                <a:cs typeface="Times New Roman"/>
              </a:rPr>
              <a:t> </a:t>
            </a:r>
            <a:r>
              <a:rPr sz="1200" dirty="0">
                <a:latin typeface="Times New Roman"/>
                <a:cs typeface="Times New Roman"/>
              </a:rPr>
              <a:t>also</a:t>
            </a:r>
            <a:r>
              <a:rPr sz="1200" spc="-35" dirty="0">
                <a:latin typeface="Times New Roman"/>
                <a:cs typeface="Times New Roman"/>
              </a:rPr>
              <a:t> </a:t>
            </a:r>
            <a:r>
              <a:rPr sz="1200" dirty="0">
                <a:latin typeface="Times New Roman"/>
                <a:cs typeface="Times New Roman"/>
              </a:rPr>
              <a:t>who</a:t>
            </a:r>
            <a:r>
              <a:rPr sz="1200" spc="-40" dirty="0">
                <a:latin typeface="Times New Roman"/>
                <a:cs typeface="Times New Roman"/>
              </a:rPr>
              <a:t> </a:t>
            </a:r>
            <a:r>
              <a:rPr sz="1200" spc="-10" dirty="0">
                <a:latin typeface="Times New Roman"/>
                <a:cs typeface="Times New Roman"/>
              </a:rPr>
              <a:t>have</a:t>
            </a:r>
            <a:r>
              <a:rPr sz="1200" spc="-40" dirty="0">
                <a:latin typeface="Times New Roman"/>
                <a:cs typeface="Times New Roman"/>
              </a:rPr>
              <a:t> </a:t>
            </a:r>
            <a:r>
              <a:rPr sz="1200" spc="-10" dirty="0">
                <a:latin typeface="Times New Roman"/>
                <a:cs typeface="Times New Roman"/>
              </a:rPr>
              <a:t>assisted</a:t>
            </a:r>
            <a:r>
              <a:rPr sz="1200" spc="-45" dirty="0">
                <a:latin typeface="Times New Roman"/>
                <a:cs typeface="Times New Roman"/>
              </a:rPr>
              <a:t> </a:t>
            </a:r>
            <a:r>
              <a:rPr sz="1200" spc="-10" dirty="0">
                <a:latin typeface="Times New Roman"/>
                <a:cs typeface="Times New Roman"/>
              </a:rPr>
              <a:t>me</a:t>
            </a:r>
            <a:r>
              <a:rPr sz="1200" spc="-55" dirty="0">
                <a:latin typeface="Times New Roman"/>
                <a:cs typeface="Times New Roman"/>
              </a:rPr>
              <a:t> </a:t>
            </a:r>
            <a:r>
              <a:rPr sz="1200" spc="-10" dirty="0">
                <a:latin typeface="Times New Roman"/>
                <a:cs typeface="Times New Roman"/>
              </a:rPr>
              <a:t>directly </a:t>
            </a:r>
            <a:r>
              <a:rPr sz="1200" dirty="0">
                <a:latin typeface="Times New Roman"/>
                <a:cs typeface="Times New Roman"/>
              </a:rPr>
              <a:t>or</a:t>
            </a:r>
            <a:r>
              <a:rPr sz="1200" spc="150" dirty="0">
                <a:latin typeface="Times New Roman"/>
                <a:cs typeface="Times New Roman"/>
              </a:rPr>
              <a:t> </a:t>
            </a:r>
            <a:r>
              <a:rPr sz="1200" dirty="0">
                <a:latin typeface="Times New Roman"/>
                <a:cs typeface="Times New Roman"/>
              </a:rPr>
              <a:t>indirectly</a:t>
            </a:r>
            <a:r>
              <a:rPr sz="1200" spc="130" dirty="0">
                <a:latin typeface="Times New Roman"/>
                <a:cs typeface="Times New Roman"/>
              </a:rPr>
              <a:t> </a:t>
            </a:r>
            <a:r>
              <a:rPr sz="1200" dirty="0">
                <a:latin typeface="Times New Roman"/>
                <a:cs typeface="Times New Roman"/>
              </a:rPr>
              <a:t>for</a:t>
            </a:r>
            <a:r>
              <a:rPr sz="1200" spc="145" dirty="0">
                <a:latin typeface="Times New Roman"/>
                <a:cs typeface="Times New Roman"/>
              </a:rPr>
              <a:t> </a:t>
            </a:r>
            <a:r>
              <a:rPr sz="1200" dirty="0">
                <a:latin typeface="Times New Roman"/>
                <a:cs typeface="Times New Roman"/>
              </a:rPr>
              <a:t>successful</a:t>
            </a:r>
            <a:r>
              <a:rPr sz="1200" spc="155" dirty="0">
                <a:latin typeface="Times New Roman"/>
                <a:cs typeface="Times New Roman"/>
              </a:rPr>
              <a:t> </a:t>
            </a:r>
            <a:r>
              <a:rPr sz="1200" dirty="0">
                <a:latin typeface="Times New Roman"/>
                <a:cs typeface="Times New Roman"/>
              </a:rPr>
              <a:t>completion</a:t>
            </a:r>
            <a:r>
              <a:rPr sz="1200" spc="155" dirty="0">
                <a:latin typeface="Times New Roman"/>
                <a:cs typeface="Times New Roman"/>
              </a:rPr>
              <a:t> </a:t>
            </a:r>
            <a:r>
              <a:rPr sz="1200" dirty="0">
                <a:latin typeface="Times New Roman"/>
                <a:cs typeface="Times New Roman"/>
              </a:rPr>
              <a:t>of</a:t>
            </a:r>
            <a:r>
              <a:rPr sz="1200" spc="150" dirty="0">
                <a:latin typeface="Times New Roman"/>
                <a:cs typeface="Times New Roman"/>
              </a:rPr>
              <a:t> </a:t>
            </a:r>
            <a:r>
              <a:rPr sz="1200" dirty="0">
                <a:latin typeface="Times New Roman"/>
                <a:cs typeface="Times New Roman"/>
              </a:rPr>
              <a:t>this</a:t>
            </a:r>
            <a:r>
              <a:rPr sz="1200" spc="160" dirty="0">
                <a:latin typeface="Times New Roman"/>
                <a:cs typeface="Times New Roman"/>
              </a:rPr>
              <a:t> </a:t>
            </a:r>
            <a:r>
              <a:rPr sz="1200" dirty="0">
                <a:latin typeface="Times New Roman"/>
                <a:cs typeface="Times New Roman"/>
              </a:rPr>
              <a:t>project.</a:t>
            </a:r>
            <a:r>
              <a:rPr sz="1200" spc="155" dirty="0">
                <a:latin typeface="Times New Roman"/>
                <a:cs typeface="Times New Roman"/>
              </a:rPr>
              <a:t> </a:t>
            </a:r>
            <a:r>
              <a:rPr sz="1200" dirty="0">
                <a:latin typeface="Times New Roman"/>
                <a:cs typeface="Times New Roman"/>
              </a:rPr>
              <a:t>Finally,</a:t>
            </a:r>
            <a:r>
              <a:rPr sz="1200" spc="175" dirty="0">
                <a:latin typeface="Times New Roman"/>
                <a:cs typeface="Times New Roman"/>
              </a:rPr>
              <a:t> </a:t>
            </a:r>
            <a:r>
              <a:rPr sz="1200" dirty="0">
                <a:latin typeface="Times New Roman"/>
                <a:cs typeface="Times New Roman"/>
              </a:rPr>
              <a:t>I</a:t>
            </a:r>
            <a:r>
              <a:rPr sz="1200" spc="140" dirty="0">
                <a:latin typeface="Times New Roman"/>
                <a:cs typeface="Times New Roman"/>
              </a:rPr>
              <a:t> </a:t>
            </a:r>
            <a:r>
              <a:rPr sz="1200" dirty="0">
                <a:latin typeface="Times New Roman"/>
                <a:cs typeface="Times New Roman"/>
              </a:rPr>
              <a:t>sincerely</a:t>
            </a:r>
            <a:r>
              <a:rPr sz="1200" spc="125" dirty="0">
                <a:latin typeface="Times New Roman"/>
                <a:cs typeface="Times New Roman"/>
              </a:rPr>
              <a:t> </a:t>
            </a:r>
            <a:r>
              <a:rPr sz="1200" dirty="0">
                <a:latin typeface="Times New Roman"/>
                <a:cs typeface="Times New Roman"/>
              </a:rPr>
              <a:t>thank</a:t>
            </a:r>
            <a:r>
              <a:rPr sz="1200" spc="155" dirty="0">
                <a:latin typeface="Times New Roman"/>
                <a:cs typeface="Times New Roman"/>
              </a:rPr>
              <a:t> </a:t>
            </a:r>
            <a:r>
              <a:rPr sz="1200" dirty="0">
                <a:latin typeface="Times New Roman"/>
                <a:cs typeface="Times New Roman"/>
              </a:rPr>
              <a:t>my</a:t>
            </a:r>
            <a:r>
              <a:rPr sz="1200" spc="125" dirty="0">
                <a:latin typeface="Times New Roman"/>
                <a:cs typeface="Times New Roman"/>
              </a:rPr>
              <a:t> </a:t>
            </a:r>
            <a:r>
              <a:rPr sz="1200" dirty="0">
                <a:latin typeface="Times New Roman"/>
                <a:cs typeface="Times New Roman"/>
              </a:rPr>
              <a:t>parents,</a:t>
            </a:r>
            <a:r>
              <a:rPr sz="1200" spc="160" dirty="0">
                <a:latin typeface="Times New Roman"/>
                <a:cs typeface="Times New Roman"/>
              </a:rPr>
              <a:t> </a:t>
            </a:r>
            <a:r>
              <a:rPr sz="1200" dirty="0">
                <a:latin typeface="Times New Roman"/>
                <a:cs typeface="Times New Roman"/>
              </a:rPr>
              <a:t>friends</a:t>
            </a:r>
            <a:r>
              <a:rPr sz="1200" spc="155" dirty="0">
                <a:latin typeface="Times New Roman"/>
                <a:cs typeface="Times New Roman"/>
              </a:rPr>
              <a:t> </a:t>
            </a:r>
            <a:r>
              <a:rPr sz="1200" spc="-25" dirty="0">
                <a:latin typeface="Times New Roman"/>
                <a:cs typeface="Times New Roman"/>
              </a:rPr>
              <a:t>and </a:t>
            </a:r>
            <a:r>
              <a:rPr sz="1200" dirty="0">
                <a:latin typeface="Times New Roman"/>
                <a:cs typeface="Times New Roman"/>
              </a:rPr>
              <a:t>classmates</a:t>
            </a:r>
            <a:r>
              <a:rPr sz="1200" spc="-30" dirty="0">
                <a:latin typeface="Times New Roman"/>
                <a:cs typeface="Times New Roman"/>
              </a:rPr>
              <a:t> </a:t>
            </a:r>
            <a:r>
              <a:rPr sz="1200" dirty="0">
                <a:latin typeface="Times New Roman"/>
                <a:cs typeface="Times New Roman"/>
              </a:rPr>
              <a:t>for</a:t>
            </a:r>
            <a:r>
              <a:rPr sz="1200" spc="-35" dirty="0">
                <a:latin typeface="Times New Roman"/>
                <a:cs typeface="Times New Roman"/>
              </a:rPr>
              <a:t> </a:t>
            </a:r>
            <a:r>
              <a:rPr sz="1200" dirty="0">
                <a:latin typeface="Times New Roman"/>
                <a:cs typeface="Times New Roman"/>
              </a:rPr>
              <a:t>their</a:t>
            </a:r>
            <a:r>
              <a:rPr sz="1200" spc="-25" dirty="0">
                <a:latin typeface="Times New Roman"/>
                <a:cs typeface="Times New Roman"/>
              </a:rPr>
              <a:t> </a:t>
            </a:r>
            <a:r>
              <a:rPr sz="1200" dirty="0">
                <a:latin typeface="Times New Roman"/>
                <a:cs typeface="Times New Roman"/>
              </a:rPr>
              <a:t>kind</a:t>
            </a:r>
            <a:r>
              <a:rPr sz="1200" spc="-25" dirty="0">
                <a:latin typeface="Times New Roman"/>
                <a:cs typeface="Times New Roman"/>
              </a:rPr>
              <a:t> </a:t>
            </a:r>
            <a:r>
              <a:rPr sz="1200" dirty="0">
                <a:latin typeface="Times New Roman"/>
                <a:cs typeface="Times New Roman"/>
              </a:rPr>
              <a:t>help</a:t>
            </a:r>
            <a:r>
              <a:rPr sz="1200" spc="-25"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cooperation</a:t>
            </a:r>
            <a:r>
              <a:rPr sz="1200" spc="-30" dirty="0">
                <a:latin typeface="Times New Roman"/>
                <a:cs typeface="Times New Roman"/>
              </a:rPr>
              <a:t> </a:t>
            </a:r>
            <a:r>
              <a:rPr sz="1200" dirty="0">
                <a:latin typeface="Times New Roman"/>
                <a:cs typeface="Times New Roman"/>
              </a:rPr>
              <a:t>during</a:t>
            </a:r>
            <a:r>
              <a:rPr sz="1200" spc="-35" dirty="0">
                <a:latin typeface="Times New Roman"/>
                <a:cs typeface="Times New Roman"/>
              </a:rPr>
              <a:t> </a:t>
            </a:r>
            <a:r>
              <a:rPr sz="1200" dirty="0">
                <a:latin typeface="Times New Roman"/>
                <a:cs typeface="Times New Roman"/>
              </a:rPr>
              <a:t>my</a:t>
            </a:r>
            <a:r>
              <a:rPr sz="1200" spc="-45" dirty="0">
                <a:latin typeface="Times New Roman"/>
                <a:cs typeface="Times New Roman"/>
              </a:rPr>
              <a:t> </a:t>
            </a:r>
            <a:r>
              <a:rPr sz="1200" spc="-10" dirty="0">
                <a:latin typeface="Times New Roman"/>
                <a:cs typeface="Times New Roman"/>
              </a:rPr>
              <a:t>work.</a:t>
            </a:r>
            <a:endParaRPr sz="1200" dirty="0">
              <a:latin typeface="Times New Roman"/>
              <a:cs typeface="Times New Roman"/>
            </a:endParaRPr>
          </a:p>
        </p:txBody>
      </p:sp>
      <p:sp>
        <p:nvSpPr>
          <p:cNvPr id="3" name="object 3"/>
          <p:cNvSpPr txBox="1"/>
          <p:nvPr/>
        </p:nvSpPr>
        <p:spPr>
          <a:xfrm>
            <a:off x="4622800" y="7178675"/>
            <a:ext cx="2328925" cy="1415772"/>
          </a:xfrm>
          <a:prstGeom prst="rect">
            <a:avLst/>
          </a:prstGeom>
        </p:spPr>
        <p:txBody>
          <a:bodyPr vert="horz" wrap="square" lIns="0" tIns="12700" rIns="0" bIns="0" rtlCol="0">
            <a:spAutoFit/>
          </a:bodyPr>
          <a:lstStyle/>
          <a:p>
            <a:pPr marL="12700">
              <a:lnSpc>
                <a:spcPct val="100000"/>
              </a:lnSpc>
              <a:spcBef>
                <a:spcPts val="100"/>
              </a:spcBef>
            </a:pPr>
            <a:r>
              <a:rPr lang="en-US" sz="1200" b="1" dirty="0">
                <a:latin typeface="Times New Roman"/>
                <a:cs typeface="Times New Roman"/>
              </a:rPr>
              <a:t>BACHU SIDDHARTHA–</a:t>
            </a:r>
            <a:r>
              <a:rPr lang="en-US" sz="1200" b="1" spc="-75" dirty="0">
                <a:latin typeface="Times New Roman"/>
                <a:cs typeface="Times New Roman"/>
              </a:rPr>
              <a:t> </a:t>
            </a:r>
            <a:r>
              <a:rPr lang="en-US" sz="1200" b="1" spc="-10" dirty="0">
                <a:latin typeface="Times New Roman"/>
                <a:cs typeface="Times New Roman"/>
              </a:rPr>
              <a:t>2500090225</a:t>
            </a:r>
            <a:endParaRPr lang="en-US" sz="1200" dirty="0">
              <a:latin typeface="Times New Roman"/>
              <a:cs typeface="Times New Roman"/>
            </a:endParaRPr>
          </a:p>
          <a:p>
            <a:pPr marL="12700">
              <a:lnSpc>
                <a:spcPct val="100000"/>
              </a:lnSpc>
              <a:spcBef>
                <a:spcPts val="1140"/>
              </a:spcBef>
            </a:pPr>
            <a:r>
              <a:rPr lang="en-US" sz="1200" b="1" spc="-75" dirty="0">
                <a:latin typeface="Times New Roman"/>
                <a:cs typeface="Times New Roman"/>
              </a:rPr>
              <a:t>V.SANTOSH </a:t>
            </a:r>
            <a:r>
              <a:rPr lang="en-US" sz="1200" b="1" dirty="0">
                <a:latin typeface="Times New Roman"/>
                <a:cs typeface="Times New Roman"/>
              </a:rPr>
              <a:t>–</a:t>
            </a:r>
            <a:r>
              <a:rPr lang="en-US" sz="1200" b="1" spc="-5" dirty="0">
                <a:latin typeface="Times New Roman"/>
                <a:cs typeface="Times New Roman"/>
              </a:rPr>
              <a:t> </a:t>
            </a:r>
            <a:r>
              <a:rPr lang="en-US" sz="1200" b="1" spc="-10" dirty="0">
                <a:latin typeface="Times New Roman"/>
                <a:cs typeface="Times New Roman"/>
              </a:rPr>
              <a:t>2520090051</a:t>
            </a:r>
          </a:p>
          <a:p>
            <a:pPr marL="12700">
              <a:lnSpc>
                <a:spcPct val="100000"/>
              </a:lnSpc>
              <a:spcBef>
                <a:spcPts val="1140"/>
              </a:spcBef>
            </a:pPr>
            <a:r>
              <a:rPr lang="en-US" sz="1200" b="1" spc="-10" dirty="0">
                <a:latin typeface="Times New Roman"/>
                <a:cs typeface="Times New Roman"/>
              </a:rPr>
              <a:t>V.JASWANTH REDDY-2520080025</a:t>
            </a:r>
            <a:endParaRPr lang="en-US" sz="1200" dirty="0">
              <a:latin typeface="Times New Roman"/>
              <a:cs typeface="Times New Roman"/>
            </a:endParaRPr>
          </a:p>
          <a:p>
            <a:pPr marL="12700">
              <a:lnSpc>
                <a:spcPct val="100000"/>
              </a:lnSpc>
              <a:spcBef>
                <a:spcPts val="100"/>
              </a:spcBef>
            </a:pPr>
            <a:endParaRPr sz="1200" dirty="0">
              <a:latin typeface="Times New Roman"/>
              <a:cs typeface="Times New Roman"/>
            </a:endParaRPr>
          </a:p>
        </p:txBody>
      </p:sp>
      <p:sp>
        <p:nvSpPr>
          <p:cNvPr id="4" name="object 4"/>
          <p:cNvSpPr/>
          <p:nvPr/>
        </p:nvSpPr>
        <p:spPr>
          <a:xfrm>
            <a:off x="304800" y="304799"/>
            <a:ext cx="6955790" cy="10086340"/>
          </a:xfrm>
          <a:custGeom>
            <a:avLst/>
            <a:gdLst/>
            <a:ahLst/>
            <a:cxnLst/>
            <a:rect l="l" t="t" r="r" b="b"/>
            <a:pathLst>
              <a:path w="6955790" h="10086340">
                <a:moveTo>
                  <a:pt x="6955536" y="0"/>
                </a:moveTo>
                <a:lnTo>
                  <a:pt x="6928104" y="0"/>
                </a:lnTo>
                <a:lnTo>
                  <a:pt x="6928104" y="27432"/>
                </a:lnTo>
                <a:lnTo>
                  <a:pt x="6928104" y="10058400"/>
                </a:lnTo>
                <a:lnTo>
                  <a:pt x="27432" y="10058400"/>
                </a:lnTo>
                <a:lnTo>
                  <a:pt x="27432" y="27432"/>
                </a:lnTo>
                <a:lnTo>
                  <a:pt x="6928104" y="27432"/>
                </a:lnTo>
                <a:lnTo>
                  <a:pt x="6928104" y="0"/>
                </a:lnTo>
                <a:lnTo>
                  <a:pt x="27432" y="0"/>
                </a:lnTo>
                <a:lnTo>
                  <a:pt x="0" y="0"/>
                </a:lnTo>
                <a:lnTo>
                  <a:pt x="0" y="27432"/>
                </a:lnTo>
                <a:lnTo>
                  <a:pt x="0" y="10058400"/>
                </a:lnTo>
                <a:lnTo>
                  <a:pt x="0" y="10085832"/>
                </a:lnTo>
                <a:lnTo>
                  <a:pt x="27432" y="10085832"/>
                </a:lnTo>
                <a:lnTo>
                  <a:pt x="6928104" y="10085832"/>
                </a:lnTo>
                <a:lnTo>
                  <a:pt x="6955536" y="10085832"/>
                </a:lnTo>
                <a:lnTo>
                  <a:pt x="6955536" y="10058400"/>
                </a:lnTo>
                <a:lnTo>
                  <a:pt x="6955536" y="27432"/>
                </a:lnTo>
                <a:lnTo>
                  <a:pt x="6955536" y="0"/>
                </a:lnTo>
                <a:close/>
              </a:path>
            </a:pathLst>
          </a:custGeom>
          <a:solidFill>
            <a:srgbClr val="000000"/>
          </a:solidFill>
        </p:spPr>
        <p:txBody>
          <a:bodyPr wrap="square" lIns="0" tIns="0" rIns="0" bIns="0" rtlCol="0"/>
          <a:lstStyle/>
          <a:p>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207130" y="1025905"/>
            <a:ext cx="786130" cy="180340"/>
          </a:xfrm>
          <a:prstGeom prst="rect">
            <a:avLst/>
          </a:prstGeom>
          <a:solidFill>
            <a:srgbClr val="F8F8F8"/>
          </a:solidFill>
        </p:spPr>
        <p:txBody>
          <a:bodyPr vert="horz" wrap="square" lIns="0" tIns="0" rIns="0" bIns="0" rtlCol="0">
            <a:spAutoFit/>
          </a:bodyPr>
          <a:lstStyle/>
          <a:p>
            <a:pPr marL="215900">
              <a:lnSpc>
                <a:spcPts val="1390"/>
              </a:lnSpc>
            </a:pPr>
            <a:r>
              <a:rPr sz="1200" b="1" spc="-10" dirty="0">
                <a:latin typeface="Times New Roman"/>
                <a:cs typeface="Times New Roman"/>
              </a:rPr>
              <a:t>Abstract</a:t>
            </a:r>
            <a:endParaRPr sz="1200">
              <a:latin typeface="Times New Roman"/>
              <a:cs typeface="Times New Roman"/>
            </a:endParaRPr>
          </a:p>
        </p:txBody>
      </p:sp>
      <p:sp>
        <p:nvSpPr>
          <p:cNvPr id="3" name="object 3"/>
          <p:cNvSpPr txBox="1"/>
          <p:nvPr/>
        </p:nvSpPr>
        <p:spPr>
          <a:xfrm>
            <a:off x="798372" y="1467358"/>
            <a:ext cx="5968365" cy="5029197"/>
          </a:xfrm>
          <a:prstGeom prst="rect">
            <a:avLst/>
          </a:prstGeom>
        </p:spPr>
        <p:txBody>
          <a:bodyPr vert="horz" wrap="square" lIns="0" tIns="12700" rIns="0" bIns="0" rtlCol="0">
            <a:spAutoFit/>
          </a:bodyPr>
          <a:lstStyle/>
          <a:p>
            <a:r>
              <a:rPr lang="en-IN" sz="1200" dirty="0">
                <a:latin typeface="Times New Roman" panose="02020603050405020304" pitchFamily="18" charset="0"/>
                <a:cs typeface="Times New Roman" panose="02020603050405020304" pitchFamily="18" charset="0"/>
              </a:rPr>
              <a:t>The </a:t>
            </a:r>
            <a:r>
              <a:rPr lang="en-IN" sz="1200" b="1" dirty="0">
                <a:latin typeface="Times New Roman" panose="02020603050405020304" pitchFamily="18" charset="0"/>
                <a:cs typeface="Times New Roman" panose="02020603050405020304" pitchFamily="18" charset="0"/>
              </a:rPr>
              <a:t>Library Management System with RFID Integration</a:t>
            </a:r>
            <a:r>
              <a:rPr lang="en-IN" sz="1200" dirty="0">
                <a:latin typeface="Times New Roman" panose="02020603050405020304" pitchFamily="18" charset="0"/>
                <a:cs typeface="Times New Roman" panose="02020603050405020304" pitchFamily="18" charset="0"/>
              </a:rPr>
              <a:t> is a full-stack web-based application designed to help libraries efficiently manage books, members, book circulation, fines, inventory, and library-related activities. Traditional library management can involve separate and manual record-keeping for books, members, issue and return transactions, and fines, which may lead to difficulties in maintaining accurate and up-to-date information. The proposed system provides a centralized platform to simplify these operations and improve the management of library resources.</a:t>
            </a:r>
          </a:p>
          <a:p>
            <a:r>
              <a:rPr lang="en-IN" sz="1200" dirty="0">
                <a:latin typeface="Times New Roman" panose="02020603050405020304" pitchFamily="18" charset="0"/>
                <a:cs typeface="Times New Roman" panose="02020603050405020304" pitchFamily="18" charset="0"/>
              </a:rPr>
              <a:t>The system provides a user-friendly web interface through which librarians can manage books and members, issue and return books, monitor fines, verify inventory, and access reports. Students can browse available books and view their own borrowed books, fines, and profile information. The system also includes a </a:t>
            </a:r>
            <a:r>
              <a:rPr lang="en-IN" sz="1200" b="1" dirty="0">
                <a:latin typeface="Times New Roman" panose="02020603050405020304" pitchFamily="18" charset="0"/>
                <a:cs typeface="Times New Roman" panose="02020603050405020304" pitchFamily="18" charset="0"/>
              </a:rPr>
              <a:t>software-based RFID simulator</a:t>
            </a:r>
            <a:r>
              <a:rPr lang="en-IN" sz="1200" dirty="0">
                <a:latin typeface="Times New Roman" panose="02020603050405020304" pitchFamily="18" charset="0"/>
                <a:cs typeface="Times New Roman" panose="02020603050405020304" pitchFamily="18" charset="0"/>
              </a:rPr>
              <a:t> that demonstrates how RFID identification can be integrated into the book issue and return process. Role-based access is provided for administrators, librarians, and students, ensuring that users can access only the operations appropriate to their roles.</a:t>
            </a:r>
          </a:p>
          <a:p>
            <a:r>
              <a:rPr lang="en-IN" sz="1200" dirty="0">
                <a:latin typeface="Times New Roman" panose="02020603050405020304" pitchFamily="18" charset="0"/>
                <a:cs typeface="Times New Roman" panose="02020603050405020304" pitchFamily="18" charset="0"/>
              </a:rPr>
              <a:t>The application uses a </a:t>
            </a:r>
            <a:r>
              <a:rPr lang="en-IN" sz="1200" b="1" dirty="0">
                <a:latin typeface="Times New Roman" panose="02020603050405020304" pitchFamily="18" charset="0"/>
                <a:cs typeface="Times New Roman" panose="02020603050405020304" pitchFamily="18" charset="0"/>
              </a:rPr>
              <a:t>React-based frontend with Vite, Node.js and Express.js backend, and a MySQL relational database</a:t>
            </a:r>
            <a:r>
              <a:rPr lang="en-IN" sz="1200" dirty="0">
                <a:latin typeface="Times New Roman" panose="02020603050405020304" pitchFamily="18" charset="0"/>
                <a:cs typeface="Times New Roman" panose="02020603050405020304" pitchFamily="18" charset="0"/>
              </a:rPr>
              <a:t> for storing and managing system information. The backend provides REST APIs through which the frontend communicates with the database using mysql2. The database maintains relationships between users, books, members, transactions, and fines using primary keys and foreign keys. Authentication and security are supported using JWT and </a:t>
            </a:r>
            <a:r>
              <a:rPr lang="en-IN" sz="1200" dirty="0" err="1">
                <a:latin typeface="Times New Roman" panose="02020603050405020304" pitchFamily="18" charset="0"/>
                <a:cs typeface="Times New Roman" panose="02020603050405020304" pitchFamily="18" charset="0"/>
              </a:rPr>
              <a:t>bcrypt</a:t>
            </a:r>
            <a:r>
              <a:rPr lang="en-IN" sz="1200" dirty="0">
                <a:latin typeface="Times New Roman" panose="02020603050405020304" pitchFamily="18" charset="0"/>
                <a:cs typeface="Times New Roman" panose="02020603050405020304" pitchFamily="18" charset="0"/>
              </a:rPr>
              <a:t>, while CORS enables communication between the frontend and backend. The system is developed to provide dynamic dashboard statistics, centralized data management, automated issue and return tracking, fine management, inventory verification, and RFID-based identification simulation. By integrating these functions into a single platform, the system aims to improve library resource management, reduce manual record-keeping, and provide better visibility into book availability and circulation.</a:t>
            </a:r>
          </a:p>
          <a:p>
            <a:pPr marL="12700" marR="5715" algn="just">
              <a:lnSpc>
                <a:spcPct val="119900"/>
              </a:lnSpc>
              <a:spcBef>
                <a:spcPts val="100"/>
              </a:spcBef>
            </a:pPr>
            <a:endParaRPr lang="en-US" sz="1200" dirty="0">
              <a:latin typeface="Times New Roman"/>
              <a:cs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761613" y="1136650"/>
            <a:ext cx="579120" cy="299720"/>
          </a:xfrm>
          <a:prstGeom prst="rect">
            <a:avLst/>
          </a:prstGeom>
        </p:spPr>
        <p:txBody>
          <a:bodyPr vert="horz" wrap="square" lIns="0" tIns="12700" rIns="0" bIns="0" rtlCol="0">
            <a:spAutoFit/>
          </a:bodyPr>
          <a:lstStyle/>
          <a:p>
            <a:pPr marL="12700">
              <a:lnSpc>
                <a:spcPct val="100000"/>
              </a:lnSpc>
              <a:spcBef>
                <a:spcPts val="100"/>
              </a:spcBef>
            </a:pPr>
            <a:r>
              <a:rPr sz="1800" b="1" spc="-10" dirty="0">
                <a:solidFill>
                  <a:srgbClr val="C00000"/>
                </a:solidFill>
                <a:latin typeface="Times New Roman"/>
                <a:cs typeface="Times New Roman"/>
              </a:rPr>
              <a:t>Index</a:t>
            </a:r>
            <a:endParaRPr sz="1800">
              <a:latin typeface="Times New Roman"/>
              <a:cs typeface="Times New Roman"/>
            </a:endParaRPr>
          </a:p>
        </p:txBody>
      </p:sp>
      <p:graphicFrame>
        <p:nvGraphicFramePr>
          <p:cNvPr id="3" name="object 3"/>
          <p:cNvGraphicFramePr>
            <a:graphicFrameLocks noGrp="1"/>
          </p:cNvGraphicFramePr>
          <p:nvPr/>
        </p:nvGraphicFramePr>
        <p:xfrm>
          <a:off x="809396" y="1428241"/>
          <a:ext cx="5589268" cy="8656320"/>
        </p:xfrm>
        <a:graphic>
          <a:graphicData uri="http://schemas.openxmlformats.org/drawingml/2006/table">
            <a:tbl>
              <a:tblPr firstRow="1" bandRow="1">
                <a:tableStyleId>{2D5ABB26-0587-4C30-8999-92F81FD0307C}</a:tableStyleId>
              </a:tblPr>
              <a:tblGrid>
                <a:gridCol w="446405">
                  <a:extLst>
                    <a:ext uri="{9D8B030D-6E8A-4147-A177-3AD203B41FA5}">
                      <a16:colId xmlns:a16="http://schemas.microsoft.com/office/drawing/2014/main" val="20000"/>
                    </a:ext>
                  </a:extLst>
                </a:gridCol>
                <a:gridCol w="1205864">
                  <a:extLst>
                    <a:ext uri="{9D8B030D-6E8A-4147-A177-3AD203B41FA5}">
                      <a16:colId xmlns:a16="http://schemas.microsoft.com/office/drawing/2014/main" val="20001"/>
                    </a:ext>
                  </a:extLst>
                </a:gridCol>
                <a:gridCol w="3110864">
                  <a:extLst>
                    <a:ext uri="{9D8B030D-6E8A-4147-A177-3AD203B41FA5}">
                      <a16:colId xmlns:a16="http://schemas.microsoft.com/office/drawing/2014/main" val="20002"/>
                    </a:ext>
                  </a:extLst>
                </a:gridCol>
                <a:gridCol w="826135">
                  <a:extLst>
                    <a:ext uri="{9D8B030D-6E8A-4147-A177-3AD203B41FA5}">
                      <a16:colId xmlns:a16="http://schemas.microsoft.com/office/drawing/2014/main" val="20003"/>
                    </a:ext>
                  </a:extLst>
                </a:gridCol>
              </a:tblGrid>
              <a:tr h="294005">
                <a:tc>
                  <a:txBody>
                    <a:bodyPr/>
                    <a:lstStyle/>
                    <a:p>
                      <a:pPr algn="ctr">
                        <a:lnSpc>
                          <a:spcPct val="100000"/>
                        </a:lnSpc>
                        <a:spcBef>
                          <a:spcPts val="350"/>
                        </a:spcBef>
                      </a:pPr>
                      <a:r>
                        <a:rPr sz="1100" b="1" spc="-20" dirty="0">
                          <a:latin typeface="Times New Roman"/>
                          <a:cs typeface="Times New Roman"/>
                        </a:rPr>
                        <a:t>S.No.</a:t>
                      </a:r>
                      <a:endParaRPr sz="1100">
                        <a:latin typeface="Times New Roman"/>
                        <a:cs typeface="Times New Roman"/>
                      </a:endParaRPr>
                    </a:p>
                  </a:txBody>
                  <a:tcPr marL="0" marR="0" marT="44450" marB="0">
                    <a:lnL w="6350">
                      <a:solidFill>
                        <a:srgbClr val="999999"/>
                      </a:solidFill>
                      <a:prstDash val="solid"/>
                    </a:lnL>
                    <a:lnR w="6350">
                      <a:solidFill>
                        <a:srgbClr val="999999"/>
                      </a:solidFill>
                      <a:prstDash val="solid"/>
                    </a:lnR>
                    <a:lnT w="6350">
                      <a:solidFill>
                        <a:srgbClr val="999999"/>
                      </a:solidFill>
                      <a:prstDash val="solid"/>
                    </a:lnT>
                    <a:lnB w="6350">
                      <a:solidFill>
                        <a:srgbClr val="999999"/>
                      </a:solidFill>
                      <a:prstDash val="solid"/>
                    </a:lnB>
                    <a:solidFill>
                      <a:srgbClr val="D9E1F3"/>
                    </a:solidFill>
                  </a:tcPr>
                </a:tc>
                <a:tc>
                  <a:txBody>
                    <a:bodyPr/>
                    <a:lstStyle/>
                    <a:p>
                      <a:pPr marL="327025">
                        <a:lnSpc>
                          <a:spcPct val="100000"/>
                        </a:lnSpc>
                        <a:spcBef>
                          <a:spcPts val="350"/>
                        </a:spcBef>
                      </a:pPr>
                      <a:r>
                        <a:rPr sz="1100" b="1" spc="-10" dirty="0">
                          <a:latin typeface="Times New Roman"/>
                          <a:cs typeface="Times New Roman"/>
                        </a:rPr>
                        <a:t>Chapters</a:t>
                      </a:r>
                      <a:endParaRPr sz="1100">
                        <a:latin typeface="Times New Roman"/>
                        <a:cs typeface="Times New Roman"/>
                      </a:endParaRPr>
                    </a:p>
                  </a:txBody>
                  <a:tcPr marL="0" marR="0" marT="44450" marB="0">
                    <a:lnL w="6350">
                      <a:solidFill>
                        <a:srgbClr val="999999"/>
                      </a:solidFill>
                      <a:prstDash val="solid"/>
                    </a:lnL>
                    <a:lnR w="6350">
                      <a:solidFill>
                        <a:srgbClr val="999999"/>
                      </a:solidFill>
                      <a:prstDash val="solid"/>
                    </a:lnR>
                    <a:lnT w="6350">
                      <a:solidFill>
                        <a:srgbClr val="999999"/>
                      </a:solidFill>
                      <a:prstDash val="solid"/>
                    </a:lnT>
                    <a:lnB w="6350">
                      <a:solidFill>
                        <a:srgbClr val="999999"/>
                      </a:solidFill>
                      <a:prstDash val="solid"/>
                    </a:lnB>
                    <a:solidFill>
                      <a:srgbClr val="D9E1F3"/>
                    </a:solidFill>
                  </a:tcPr>
                </a:tc>
                <a:tc>
                  <a:txBody>
                    <a:bodyPr/>
                    <a:lstStyle/>
                    <a:p>
                      <a:pPr algn="ctr">
                        <a:lnSpc>
                          <a:spcPct val="100000"/>
                        </a:lnSpc>
                        <a:spcBef>
                          <a:spcPts val="350"/>
                        </a:spcBef>
                      </a:pPr>
                      <a:r>
                        <a:rPr sz="1100" b="1" spc="-10" dirty="0">
                          <a:latin typeface="Times New Roman"/>
                          <a:cs typeface="Times New Roman"/>
                        </a:rPr>
                        <a:t>Topics</a:t>
                      </a:r>
                      <a:endParaRPr sz="1100">
                        <a:latin typeface="Times New Roman"/>
                        <a:cs typeface="Times New Roman"/>
                      </a:endParaRPr>
                    </a:p>
                  </a:txBody>
                  <a:tcPr marL="0" marR="0" marT="44450" marB="0">
                    <a:lnL w="6350">
                      <a:solidFill>
                        <a:srgbClr val="999999"/>
                      </a:solidFill>
                      <a:prstDash val="solid"/>
                    </a:lnL>
                    <a:lnR w="6350">
                      <a:solidFill>
                        <a:srgbClr val="999999"/>
                      </a:solidFill>
                      <a:prstDash val="solid"/>
                    </a:lnR>
                    <a:lnT w="6350">
                      <a:solidFill>
                        <a:srgbClr val="999999"/>
                      </a:solidFill>
                      <a:prstDash val="solid"/>
                    </a:lnT>
                    <a:lnB w="6350">
                      <a:solidFill>
                        <a:srgbClr val="999999"/>
                      </a:solidFill>
                      <a:prstDash val="solid"/>
                    </a:lnB>
                    <a:solidFill>
                      <a:srgbClr val="D9E1F3"/>
                    </a:solidFill>
                  </a:tcPr>
                </a:tc>
                <a:tc>
                  <a:txBody>
                    <a:bodyPr/>
                    <a:lstStyle/>
                    <a:p>
                      <a:pPr marL="1270" algn="ctr">
                        <a:lnSpc>
                          <a:spcPct val="100000"/>
                        </a:lnSpc>
                        <a:spcBef>
                          <a:spcPts val="350"/>
                        </a:spcBef>
                      </a:pPr>
                      <a:r>
                        <a:rPr sz="1100" b="1" dirty="0">
                          <a:latin typeface="Times New Roman"/>
                          <a:cs typeface="Times New Roman"/>
                        </a:rPr>
                        <a:t>Page</a:t>
                      </a:r>
                      <a:r>
                        <a:rPr sz="1100" b="1" spc="-20" dirty="0">
                          <a:latin typeface="Times New Roman"/>
                          <a:cs typeface="Times New Roman"/>
                        </a:rPr>
                        <a:t> </a:t>
                      </a:r>
                      <a:r>
                        <a:rPr sz="1100" b="1" spc="-25" dirty="0">
                          <a:latin typeface="Times New Roman"/>
                          <a:cs typeface="Times New Roman"/>
                        </a:rPr>
                        <a:t>No.</a:t>
                      </a:r>
                      <a:endParaRPr sz="1100">
                        <a:latin typeface="Times New Roman"/>
                        <a:cs typeface="Times New Roman"/>
                      </a:endParaRPr>
                    </a:p>
                  </a:txBody>
                  <a:tcPr marL="0" marR="0" marT="44450" marB="0">
                    <a:lnL w="6350">
                      <a:solidFill>
                        <a:srgbClr val="999999"/>
                      </a:solidFill>
                      <a:prstDash val="solid"/>
                    </a:lnL>
                    <a:lnR w="6350">
                      <a:solidFill>
                        <a:srgbClr val="999999"/>
                      </a:solidFill>
                      <a:prstDash val="solid"/>
                    </a:lnR>
                    <a:lnT w="6350">
                      <a:solidFill>
                        <a:srgbClr val="999999"/>
                      </a:solidFill>
                      <a:prstDash val="solid"/>
                    </a:lnT>
                    <a:lnB w="6350">
                      <a:solidFill>
                        <a:srgbClr val="999999"/>
                      </a:solidFill>
                      <a:prstDash val="solid"/>
                    </a:lnB>
                    <a:solidFill>
                      <a:srgbClr val="D9E1F3"/>
                    </a:solidFill>
                  </a:tcPr>
                </a:tc>
                <a:extLst>
                  <a:ext uri="{0D108BD9-81ED-4DB2-BD59-A6C34878D82A}">
                    <a16:rowId xmlns:a16="http://schemas.microsoft.com/office/drawing/2014/main" val="10000"/>
                  </a:ext>
                </a:extLst>
              </a:tr>
              <a:tr h="294005">
                <a:tc>
                  <a:txBody>
                    <a:bodyPr/>
                    <a:lstStyle/>
                    <a:p>
                      <a:pPr>
                        <a:lnSpc>
                          <a:spcPct val="100000"/>
                        </a:lnSpc>
                      </a:pPr>
                      <a:endParaRPr sz="1100">
                        <a:latin typeface="Times New Roman"/>
                        <a:cs typeface="Times New Roman"/>
                      </a:endParaRPr>
                    </a:p>
                  </a:txBody>
                  <a:tcPr marL="0" marR="0" marT="0" marB="0">
                    <a:lnL w="6350">
                      <a:solidFill>
                        <a:srgbClr val="999999"/>
                      </a:solidFill>
                      <a:prstDash val="solid"/>
                    </a:lnL>
                    <a:lnR w="6350">
                      <a:solidFill>
                        <a:srgbClr val="999999"/>
                      </a:solidFill>
                      <a:prstDash val="solid"/>
                    </a:lnR>
                    <a:lnT w="6350">
                      <a:solidFill>
                        <a:srgbClr val="999999"/>
                      </a:solidFill>
                      <a:prstDash val="solid"/>
                    </a:lnT>
                    <a:lnB w="6350">
                      <a:solidFill>
                        <a:srgbClr val="999999"/>
                      </a:solidFill>
                      <a:prstDash val="solid"/>
                    </a:lnB>
                  </a:tcPr>
                </a:tc>
                <a:tc>
                  <a:txBody>
                    <a:bodyPr/>
                    <a:lstStyle/>
                    <a:p>
                      <a:pPr>
                        <a:lnSpc>
                          <a:spcPct val="100000"/>
                        </a:lnSpc>
                      </a:pPr>
                      <a:endParaRPr sz="1100">
                        <a:latin typeface="Times New Roman"/>
                        <a:cs typeface="Times New Roman"/>
                      </a:endParaRPr>
                    </a:p>
                  </a:txBody>
                  <a:tcPr marL="0" marR="0" marT="0" marB="0">
                    <a:lnL w="6350">
                      <a:solidFill>
                        <a:srgbClr val="999999"/>
                      </a:solidFill>
                      <a:prstDash val="solid"/>
                    </a:lnL>
                    <a:lnR w="6350">
                      <a:solidFill>
                        <a:srgbClr val="999999"/>
                      </a:solidFill>
                      <a:prstDash val="solid"/>
                    </a:lnR>
                    <a:lnT w="6350">
                      <a:solidFill>
                        <a:srgbClr val="999999"/>
                      </a:solidFill>
                      <a:prstDash val="solid"/>
                    </a:lnT>
                    <a:lnB w="6350">
                      <a:solidFill>
                        <a:srgbClr val="999999"/>
                      </a:solidFill>
                      <a:prstDash val="solid"/>
                    </a:lnB>
                  </a:tcPr>
                </a:tc>
                <a:tc>
                  <a:txBody>
                    <a:bodyPr/>
                    <a:lstStyle/>
                    <a:p>
                      <a:pPr marL="63500">
                        <a:lnSpc>
                          <a:spcPct val="100000"/>
                        </a:lnSpc>
                        <a:spcBef>
                          <a:spcPts val="315"/>
                        </a:spcBef>
                      </a:pPr>
                      <a:r>
                        <a:rPr sz="1100" spc="-10" dirty="0">
                          <a:latin typeface="Times New Roman"/>
                          <a:cs typeface="Times New Roman"/>
                        </a:rPr>
                        <a:t>Acknowledgement</a:t>
                      </a:r>
                      <a:endParaRPr sz="1100">
                        <a:latin typeface="Times New Roman"/>
                        <a:cs typeface="Times New Roman"/>
                      </a:endParaRPr>
                    </a:p>
                  </a:txBody>
                  <a:tcPr marL="0" marR="0" marT="40005" marB="0">
                    <a:lnL w="6350">
                      <a:solidFill>
                        <a:srgbClr val="999999"/>
                      </a:solidFill>
                      <a:prstDash val="solid"/>
                    </a:lnL>
                    <a:lnR w="6350">
                      <a:solidFill>
                        <a:srgbClr val="999999"/>
                      </a:solidFill>
                      <a:prstDash val="solid"/>
                    </a:lnR>
                    <a:lnT w="6350">
                      <a:solidFill>
                        <a:srgbClr val="999999"/>
                      </a:solidFill>
                      <a:prstDash val="solid"/>
                    </a:lnT>
                    <a:lnB w="6350">
                      <a:solidFill>
                        <a:srgbClr val="999999"/>
                      </a:solidFill>
                      <a:prstDash val="solid"/>
                    </a:lnB>
                  </a:tcPr>
                </a:tc>
                <a:tc>
                  <a:txBody>
                    <a:bodyPr/>
                    <a:lstStyle/>
                    <a:p>
                      <a:pPr>
                        <a:lnSpc>
                          <a:spcPct val="100000"/>
                        </a:lnSpc>
                      </a:pPr>
                      <a:endParaRPr sz="1100">
                        <a:latin typeface="Times New Roman"/>
                        <a:cs typeface="Times New Roman"/>
                      </a:endParaRPr>
                    </a:p>
                  </a:txBody>
                  <a:tcPr marL="0" marR="0" marT="0" marB="0">
                    <a:lnL w="6350">
                      <a:solidFill>
                        <a:srgbClr val="999999"/>
                      </a:solidFill>
                      <a:prstDash val="solid"/>
                    </a:lnL>
                    <a:lnR w="6350">
                      <a:solidFill>
                        <a:srgbClr val="999999"/>
                      </a:solidFill>
                      <a:prstDash val="solid"/>
                    </a:lnR>
                    <a:lnT w="6350">
                      <a:solidFill>
                        <a:srgbClr val="999999"/>
                      </a:solidFill>
                      <a:prstDash val="solid"/>
                    </a:lnT>
                    <a:lnB w="6350">
                      <a:solidFill>
                        <a:srgbClr val="999999"/>
                      </a:solidFill>
                      <a:prstDash val="solid"/>
                    </a:lnB>
                  </a:tcPr>
                </a:tc>
                <a:extLst>
                  <a:ext uri="{0D108BD9-81ED-4DB2-BD59-A6C34878D82A}">
                    <a16:rowId xmlns:a16="http://schemas.microsoft.com/office/drawing/2014/main" val="10001"/>
                  </a:ext>
                </a:extLst>
              </a:tr>
              <a:tr h="294005">
                <a:tc>
                  <a:txBody>
                    <a:bodyPr/>
                    <a:lstStyle/>
                    <a:p>
                      <a:pPr>
                        <a:lnSpc>
                          <a:spcPct val="100000"/>
                        </a:lnSpc>
                      </a:pPr>
                      <a:endParaRPr sz="1100">
                        <a:latin typeface="Times New Roman"/>
                        <a:cs typeface="Times New Roman"/>
                      </a:endParaRPr>
                    </a:p>
                  </a:txBody>
                  <a:tcPr marL="0" marR="0" marT="0" marB="0">
                    <a:lnL w="6350">
                      <a:solidFill>
                        <a:srgbClr val="999999"/>
                      </a:solidFill>
                      <a:prstDash val="solid"/>
                    </a:lnL>
                    <a:lnR w="6350">
                      <a:solidFill>
                        <a:srgbClr val="999999"/>
                      </a:solidFill>
                      <a:prstDash val="solid"/>
                    </a:lnR>
                    <a:lnT w="6350">
                      <a:solidFill>
                        <a:srgbClr val="999999"/>
                      </a:solidFill>
                      <a:prstDash val="solid"/>
                    </a:lnT>
                    <a:lnB w="6350">
                      <a:solidFill>
                        <a:srgbClr val="999999"/>
                      </a:solidFill>
                      <a:prstDash val="solid"/>
                    </a:lnB>
                  </a:tcPr>
                </a:tc>
                <a:tc>
                  <a:txBody>
                    <a:bodyPr/>
                    <a:lstStyle/>
                    <a:p>
                      <a:pPr>
                        <a:lnSpc>
                          <a:spcPct val="100000"/>
                        </a:lnSpc>
                      </a:pPr>
                      <a:endParaRPr sz="1100">
                        <a:latin typeface="Times New Roman"/>
                        <a:cs typeface="Times New Roman"/>
                      </a:endParaRPr>
                    </a:p>
                  </a:txBody>
                  <a:tcPr marL="0" marR="0" marT="0" marB="0">
                    <a:lnL w="6350">
                      <a:solidFill>
                        <a:srgbClr val="999999"/>
                      </a:solidFill>
                      <a:prstDash val="solid"/>
                    </a:lnL>
                    <a:lnR w="6350">
                      <a:solidFill>
                        <a:srgbClr val="999999"/>
                      </a:solidFill>
                      <a:prstDash val="solid"/>
                    </a:lnR>
                    <a:lnT w="6350">
                      <a:solidFill>
                        <a:srgbClr val="999999"/>
                      </a:solidFill>
                      <a:prstDash val="solid"/>
                    </a:lnT>
                    <a:lnB w="6350">
                      <a:solidFill>
                        <a:srgbClr val="999999"/>
                      </a:solidFill>
                      <a:prstDash val="solid"/>
                    </a:lnB>
                  </a:tcPr>
                </a:tc>
                <a:tc>
                  <a:txBody>
                    <a:bodyPr/>
                    <a:lstStyle/>
                    <a:p>
                      <a:pPr marL="63500">
                        <a:lnSpc>
                          <a:spcPct val="100000"/>
                        </a:lnSpc>
                        <a:spcBef>
                          <a:spcPts val="315"/>
                        </a:spcBef>
                      </a:pPr>
                      <a:r>
                        <a:rPr sz="1100" spc="-10" dirty="0">
                          <a:latin typeface="Times New Roman"/>
                          <a:cs typeface="Times New Roman"/>
                        </a:rPr>
                        <a:t>Abstract</a:t>
                      </a:r>
                      <a:endParaRPr sz="1100">
                        <a:latin typeface="Times New Roman"/>
                        <a:cs typeface="Times New Roman"/>
                      </a:endParaRPr>
                    </a:p>
                  </a:txBody>
                  <a:tcPr marL="0" marR="0" marT="40005" marB="0">
                    <a:lnL w="6350">
                      <a:solidFill>
                        <a:srgbClr val="999999"/>
                      </a:solidFill>
                      <a:prstDash val="solid"/>
                    </a:lnL>
                    <a:lnR w="6350">
                      <a:solidFill>
                        <a:srgbClr val="999999"/>
                      </a:solidFill>
                      <a:prstDash val="solid"/>
                    </a:lnR>
                    <a:lnT w="6350">
                      <a:solidFill>
                        <a:srgbClr val="999999"/>
                      </a:solidFill>
                      <a:prstDash val="solid"/>
                    </a:lnT>
                    <a:lnB w="6350">
                      <a:solidFill>
                        <a:srgbClr val="999999"/>
                      </a:solidFill>
                      <a:prstDash val="solid"/>
                    </a:lnB>
                  </a:tcPr>
                </a:tc>
                <a:tc>
                  <a:txBody>
                    <a:bodyPr/>
                    <a:lstStyle/>
                    <a:p>
                      <a:pPr>
                        <a:lnSpc>
                          <a:spcPct val="100000"/>
                        </a:lnSpc>
                      </a:pPr>
                      <a:endParaRPr sz="1100">
                        <a:latin typeface="Times New Roman"/>
                        <a:cs typeface="Times New Roman"/>
                      </a:endParaRPr>
                    </a:p>
                  </a:txBody>
                  <a:tcPr marL="0" marR="0" marT="0" marB="0">
                    <a:lnL w="6350">
                      <a:solidFill>
                        <a:srgbClr val="999999"/>
                      </a:solidFill>
                      <a:prstDash val="solid"/>
                    </a:lnL>
                    <a:lnR w="6350">
                      <a:solidFill>
                        <a:srgbClr val="999999"/>
                      </a:solidFill>
                      <a:prstDash val="solid"/>
                    </a:lnR>
                    <a:lnT w="6350">
                      <a:solidFill>
                        <a:srgbClr val="999999"/>
                      </a:solidFill>
                      <a:prstDash val="solid"/>
                    </a:lnT>
                    <a:lnB w="6350">
                      <a:solidFill>
                        <a:srgbClr val="999999"/>
                      </a:solidFill>
                      <a:prstDash val="solid"/>
                    </a:lnB>
                  </a:tcPr>
                </a:tc>
                <a:extLst>
                  <a:ext uri="{0D108BD9-81ED-4DB2-BD59-A6C34878D82A}">
                    <a16:rowId xmlns:a16="http://schemas.microsoft.com/office/drawing/2014/main" val="10002"/>
                  </a:ext>
                </a:extLst>
              </a:tr>
              <a:tr h="1223645">
                <a:tc>
                  <a:txBody>
                    <a:bodyPr/>
                    <a:lstStyle/>
                    <a:p>
                      <a:pPr>
                        <a:lnSpc>
                          <a:spcPct val="100000"/>
                        </a:lnSpc>
                      </a:pPr>
                      <a:endParaRPr sz="1100">
                        <a:latin typeface="Times New Roman"/>
                        <a:cs typeface="Times New Roman"/>
                      </a:endParaRPr>
                    </a:p>
                    <a:p>
                      <a:pPr>
                        <a:lnSpc>
                          <a:spcPct val="100000"/>
                        </a:lnSpc>
                      </a:pPr>
                      <a:endParaRPr sz="1100">
                        <a:latin typeface="Times New Roman"/>
                        <a:cs typeface="Times New Roman"/>
                      </a:endParaRPr>
                    </a:p>
                    <a:p>
                      <a:pPr>
                        <a:lnSpc>
                          <a:spcPct val="100000"/>
                        </a:lnSpc>
                        <a:spcBef>
                          <a:spcPts val="180"/>
                        </a:spcBef>
                      </a:pPr>
                      <a:endParaRPr sz="1100">
                        <a:latin typeface="Times New Roman"/>
                        <a:cs typeface="Times New Roman"/>
                      </a:endParaRPr>
                    </a:p>
                    <a:p>
                      <a:pPr algn="ctr">
                        <a:lnSpc>
                          <a:spcPct val="100000"/>
                        </a:lnSpc>
                      </a:pPr>
                      <a:r>
                        <a:rPr sz="1100" spc="-50" dirty="0">
                          <a:latin typeface="Times New Roman"/>
                          <a:cs typeface="Times New Roman"/>
                        </a:rPr>
                        <a:t>1</a:t>
                      </a:r>
                      <a:endParaRPr sz="1100">
                        <a:latin typeface="Times New Roman"/>
                        <a:cs typeface="Times New Roman"/>
                      </a:endParaRPr>
                    </a:p>
                  </a:txBody>
                  <a:tcPr marL="0" marR="0" marT="0" marB="0">
                    <a:lnL w="6350">
                      <a:solidFill>
                        <a:srgbClr val="999999"/>
                      </a:solidFill>
                      <a:prstDash val="solid"/>
                    </a:lnL>
                    <a:lnR w="6350">
                      <a:solidFill>
                        <a:srgbClr val="999999"/>
                      </a:solidFill>
                      <a:prstDash val="solid"/>
                    </a:lnR>
                    <a:lnT w="6350">
                      <a:solidFill>
                        <a:srgbClr val="999999"/>
                      </a:solidFill>
                      <a:prstDash val="solid"/>
                    </a:lnT>
                    <a:lnB w="6350">
                      <a:solidFill>
                        <a:srgbClr val="999999"/>
                      </a:solidFill>
                      <a:prstDash val="solid"/>
                    </a:lnB>
                  </a:tcPr>
                </a:tc>
                <a:tc>
                  <a:txBody>
                    <a:bodyPr/>
                    <a:lstStyle/>
                    <a:p>
                      <a:pPr>
                        <a:lnSpc>
                          <a:spcPct val="100000"/>
                        </a:lnSpc>
                      </a:pPr>
                      <a:endParaRPr sz="1100">
                        <a:latin typeface="Times New Roman"/>
                        <a:cs typeface="Times New Roman"/>
                      </a:endParaRPr>
                    </a:p>
                    <a:p>
                      <a:pPr>
                        <a:lnSpc>
                          <a:spcPct val="100000"/>
                        </a:lnSpc>
                      </a:pPr>
                      <a:endParaRPr sz="1100">
                        <a:latin typeface="Times New Roman"/>
                        <a:cs typeface="Times New Roman"/>
                      </a:endParaRPr>
                    </a:p>
                    <a:p>
                      <a:pPr>
                        <a:lnSpc>
                          <a:spcPct val="100000"/>
                        </a:lnSpc>
                        <a:spcBef>
                          <a:spcPts val="204"/>
                        </a:spcBef>
                      </a:pPr>
                      <a:endParaRPr sz="1100">
                        <a:latin typeface="Times New Roman"/>
                        <a:cs typeface="Times New Roman"/>
                      </a:endParaRPr>
                    </a:p>
                    <a:p>
                      <a:pPr marL="63500">
                        <a:lnSpc>
                          <a:spcPct val="100000"/>
                        </a:lnSpc>
                      </a:pPr>
                      <a:r>
                        <a:rPr sz="1100" b="1" spc="-10" dirty="0">
                          <a:latin typeface="Times New Roman"/>
                          <a:cs typeface="Times New Roman"/>
                        </a:rPr>
                        <a:t>Introduction</a:t>
                      </a:r>
                      <a:endParaRPr sz="1100">
                        <a:latin typeface="Times New Roman"/>
                        <a:cs typeface="Times New Roman"/>
                      </a:endParaRPr>
                    </a:p>
                  </a:txBody>
                  <a:tcPr marL="0" marR="0" marT="0" marB="0">
                    <a:lnL w="6350">
                      <a:solidFill>
                        <a:srgbClr val="999999"/>
                      </a:solidFill>
                      <a:prstDash val="solid"/>
                    </a:lnL>
                    <a:lnR w="6350">
                      <a:solidFill>
                        <a:srgbClr val="999999"/>
                      </a:solidFill>
                      <a:prstDash val="solid"/>
                    </a:lnR>
                    <a:lnT w="6350">
                      <a:solidFill>
                        <a:srgbClr val="999999"/>
                      </a:solidFill>
                      <a:prstDash val="solid"/>
                    </a:lnT>
                    <a:lnB w="6350">
                      <a:solidFill>
                        <a:srgbClr val="999999"/>
                      </a:solidFill>
                      <a:prstDash val="solid"/>
                    </a:lnB>
                  </a:tcPr>
                </a:tc>
                <a:tc>
                  <a:txBody>
                    <a:bodyPr/>
                    <a:lstStyle/>
                    <a:p>
                      <a:pPr marL="273685" lvl="1" indent="-210185">
                        <a:lnSpc>
                          <a:spcPct val="100000"/>
                        </a:lnSpc>
                        <a:spcBef>
                          <a:spcPts val="315"/>
                        </a:spcBef>
                        <a:buAutoNum type="arabicPeriod"/>
                        <a:tabLst>
                          <a:tab pos="273685" algn="l"/>
                        </a:tabLst>
                      </a:pPr>
                      <a:r>
                        <a:rPr sz="1100" dirty="0">
                          <a:latin typeface="Times New Roman"/>
                          <a:cs typeface="Times New Roman"/>
                        </a:rPr>
                        <a:t>Background</a:t>
                      </a:r>
                      <a:r>
                        <a:rPr sz="1100" spc="-15" dirty="0">
                          <a:latin typeface="Times New Roman"/>
                          <a:cs typeface="Times New Roman"/>
                        </a:rPr>
                        <a:t> </a:t>
                      </a:r>
                      <a:r>
                        <a:rPr sz="1100" dirty="0">
                          <a:latin typeface="Times New Roman"/>
                          <a:cs typeface="Times New Roman"/>
                        </a:rPr>
                        <a:t>of</a:t>
                      </a:r>
                      <a:r>
                        <a:rPr sz="1100" spc="-20" dirty="0">
                          <a:latin typeface="Times New Roman"/>
                          <a:cs typeface="Times New Roman"/>
                        </a:rPr>
                        <a:t> </a:t>
                      </a:r>
                      <a:r>
                        <a:rPr sz="1100" dirty="0">
                          <a:latin typeface="Times New Roman"/>
                          <a:cs typeface="Times New Roman"/>
                        </a:rPr>
                        <a:t>the</a:t>
                      </a:r>
                      <a:r>
                        <a:rPr sz="1100" spc="-10" dirty="0">
                          <a:latin typeface="Times New Roman"/>
                          <a:cs typeface="Times New Roman"/>
                        </a:rPr>
                        <a:t> Project</a:t>
                      </a:r>
                      <a:endParaRPr sz="1100">
                        <a:latin typeface="Times New Roman"/>
                        <a:cs typeface="Times New Roman"/>
                      </a:endParaRPr>
                    </a:p>
                    <a:p>
                      <a:pPr marL="273685" lvl="1" indent="-210185">
                        <a:lnSpc>
                          <a:spcPct val="100000"/>
                        </a:lnSpc>
                        <a:spcBef>
                          <a:spcPts val="145"/>
                        </a:spcBef>
                        <a:buAutoNum type="arabicPeriod"/>
                        <a:tabLst>
                          <a:tab pos="273685" algn="l"/>
                        </a:tabLst>
                      </a:pPr>
                      <a:r>
                        <a:rPr sz="1100" dirty="0">
                          <a:latin typeface="Times New Roman"/>
                          <a:cs typeface="Times New Roman"/>
                        </a:rPr>
                        <a:t>Problem</a:t>
                      </a:r>
                      <a:r>
                        <a:rPr sz="1100" spc="-25" dirty="0">
                          <a:latin typeface="Times New Roman"/>
                          <a:cs typeface="Times New Roman"/>
                        </a:rPr>
                        <a:t> </a:t>
                      </a:r>
                      <a:r>
                        <a:rPr sz="1100" spc="-10" dirty="0">
                          <a:latin typeface="Times New Roman"/>
                          <a:cs typeface="Times New Roman"/>
                        </a:rPr>
                        <a:t>Statement</a:t>
                      </a:r>
                      <a:endParaRPr sz="1100">
                        <a:latin typeface="Times New Roman"/>
                        <a:cs typeface="Times New Roman"/>
                      </a:endParaRPr>
                    </a:p>
                    <a:p>
                      <a:pPr marL="273685" lvl="1" indent="-210185">
                        <a:lnSpc>
                          <a:spcPct val="100000"/>
                        </a:lnSpc>
                        <a:spcBef>
                          <a:spcPts val="145"/>
                        </a:spcBef>
                        <a:buAutoNum type="arabicPeriod"/>
                        <a:tabLst>
                          <a:tab pos="273685" algn="l"/>
                        </a:tabLst>
                      </a:pPr>
                      <a:r>
                        <a:rPr sz="1100" dirty="0">
                          <a:latin typeface="Times New Roman"/>
                          <a:cs typeface="Times New Roman"/>
                        </a:rPr>
                        <a:t>Scope</a:t>
                      </a:r>
                      <a:r>
                        <a:rPr sz="1100" spc="-10" dirty="0">
                          <a:latin typeface="Times New Roman"/>
                          <a:cs typeface="Times New Roman"/>
                        </a:rPr>
                        <a:t> </a:t>
                      </a:r>
                      <a:r>
                        <a:rPr sz="1100" dirty="0">
                          <a:latin typeface="Times New Roman"/>
                          <a:cs typeface="Times New Roman"/>
                        </a:rPr>
                        <a:t>of</a:t>
                      </a:r>
                      <a:r>
                        <a:rPr sz="1100" spc="-10" dirty="0">
                          <a:latin typeface="Times New Roman"/>
                          <a:cs typeface="Times New Roman"/>
                        </a:rPr>
                        <a:t> </a:t>
                      </a:r>
                      <a:r>
                        <a:rPr sz="1100" dirty="0">
                          <a:latin typeface="Times New Roman"/>
                          <a:cs typeface="Times New Roman"/>
                        </a:rPr>
                        <a:t>the</a:t>
                      </a:r>
                      <a:r>
                        <a:rPr sz="1100" spc="5" dirty="0">
                          <a:latin typeface="Times New Roman"/>
                          <a:cs typeface="Times New Roman"/>
                        </a:rPr>
                        <a:t> </a:t>
                      </a:r>
                      <a:r>
                        <a:rPr sz="1100" spc="-10" dirty="0">
                          <a:latin typeface="Times New Roman"/>
                          <a:cs typeface="Times New Roman"/>
                        </a:rPr>
                        <a:t>Project</a:t>
                      </a:r>
                      <a:endParaRPr sz="1100">
                        <a:latin typeface="Times New Roman"/>
                        <a:cs typeface="Times New Roman"/>
                      </a:endParaRPr>
                    </a:p>
                    <a:p>
                      <a:pPr marL="273685" lvl="1" indent="-210185">
                        <a:lnSpc>
                          <a:spcPct val="100000"/>
                        </a:lnSpc>
                        <a:spcBef>
                          <a:spcPts val="155"/>
                        </a:spcBef>
                        <a:buAutoNum type="arabicPeriod"/>
                        <a:tabLst>
                          <a:tab pos="273685" algn="l"/>
                        </a:tabLst>
                      </a:pPr>
                      <a:r>
                        <a:rPr sz="1100" spc="-10" dirty="0">
                          <a:latin typeface="Times New Roman"/>
                          <a:cs typeface="Times New Roman"/>
                        </a:rPr>
                        <a:t>Objectives</a:t>
                      </a:r>
                      <a:endParaRPr sz="1100">
                        <a:latin typeface="Times New Roman"/>
                        <a:cs typeface="Times New Roman"/>
                      </a:endParaRPr>
                    </a:p>
                    <a:p>
                      <a:pPr marL="273685" lvl="1" indent="-210185">
                        <a:lnSpc>
                          <a:spcPct val="100000"/>
                        </a:lnSpc>
                        <a:spcBef>
                          <a:spcPts val="145"/>
                        </a:spcBef>
                        <a:buAutoNum type="arabicPeriod"/>
                        <a:tabLst>
                          <a:tab pos="273685" algn="l"/>
                        </a:tabLst>
                      </a:pPr>
                      <a:r>
                        <a:rPr sz="1100" dirty="0">
                          <a:latin typeface="Times New Roman"/>
                          <a:cs typeface="Times New Roman"/>
                        </a:rPr>
                        <a:t>Importance</a:t>
                      </a:r>
                      <a:r>
                        <a:rPr sz="1100" spc="-10" dirty="0">
                          <a:latin typeface="Times New Roman"/>
                          <a:cs typeface="Times New Roman"/>
                        </a:rPr>
                        <a:t> </a:t>
                      </a:r>
                      <a:r>
                        <a:rPr sz="1100" dirty="0">
                          <a:latin typeface="Times New Roman"/>
                          <a:cs typeface="Times New Roman"/>
                        </a:rPr>
                        <a:t>of</a:t>
                      </a:r>
                      <a:r>
                        <a:rPr sz="1100" spc="-5" dirty="0">
                          <a:latin typeface="Times New Roman"/>
                          <a:cs typeface="Times New Roman"/>
                        </a:rPr>
                        <a:t> </a:t>
                      </a:r>
                      <a:r>
                        <a:rPr sz="1100" dirty="0">
                          <a:latin typeface="Times New Roman"/>
                          <a:cs typeface="Times New Roman"/>
                        </a:rPr>
                        <a:t>the</a:t>
                      </a:r>
                      <a:r>
                        <a:rPr sz="1100" spc="-10" dirty="0">
                          <a:latin typeface="Times New Roman"/>
                          <a:cs typeface="Times New Roman"/>
                        </a:rPr>
                        <a:t> Application</a:t>
                      </a:r>
                      <a:endParaRPr sz="1100">
                        <a:latin typeface="Times New Roman"/>
                        <a:cs typeface="Times New Roman"/>
                      </a:endParaRPr>
                    </a:p>
                    <a:p>
                      <a:pPr marL="273685" lvl="1" indent="-210185">
                        <a:lnSpc>
                          <a:spcPct val="100000"/>
                        </a:lnSpc>
                        <a:spcBef>
                          <a:spcPts val="145"/>
                        </a:spcBef>
                        <a:buAutoNum type="arabicPeriod"/>
                        <a:tabLst>
                          <a:tab pos="273685" algn="l"/>
                        </a:tabLst>
                      </a:pPr>
                      <a:r>
                        <a:rPr sz="1100" dirty="0">
                          <a:latin typeface="Times New Roman"/>
                          <a:cs typeface="Times New Roman"/>
                        </a:rPr>
                        <a:t>Target</a:t>
                      </a:r>
                      <a:r>
                        <a:rPr sz="1100" spc="-10" dirty="0">
                          <a:latin typeface="Times New Roman"/>
                          <a:cs typeface="Times New Roman"/>
                        </a:rPr>
                        <a:t> </a:t>
                      </a:r>
                      <a:r>
                        <a:rPr sz="1100" dirty="0">
                          <a:latin typeface="Times New Roman"/>
                          <a:cs typeface="Times New Roman"/>
                        </a:rPr>
                        <a:t>Users</a:t>
                      </a:r>
                      <a:r>
                        <a:rPr sz="1100" spc="-10" dirty="0">
                          <a:latin typeface="Times New Roman"/>
                          <a:cs typeface="Times New Roman"/>
                        </a:rPr>
                        <a:t> </a:t>
                      </a:r>
                      <a:r>
                        <a:rPr sz="1100" dirty="0">
                          <a:latin typeface="Times New Roman"/>
                          <a:cs typeface="Times New Roman"/>
                        </a:rPr>
                        <a:t>/</a:t>
                      </a:r>
                      <a:r>
                        <a:rPr sz="1100" spc="-5" dirty="0">
                          <a:latin typeface="Times New Roman"/>
                          <a:cs typeface="Times New Roman"/>
                        </a:rPr>
                        <a:t> </a:t>
                      </a:r>
                      <a:r>
                        <a:rPr sz="1100" spc="-10" dirty="0">
                          <a:latin typeface="Times New Roman"/>
                          <a:cs typeface="Times New Roman"/>
                        </a:rPr>
                        <a:t>Audience</a:t>
                      </a:r>
                      <a:endParaRPr sz="1100">
                        <a:latin typeface="Times New Roman"/>
                        <a:cs typeface="Times New Roman"/>
                      </a:endParaRPr>
                    </a:p>
                  </a:txBody>
                  <a:tcPr marL="0" marR="0" marT="40005" marB="0">
                    <a:lnL w="6350">
                      <a:solidFill>
                        <a:srgbClr val="999999"/>
                      </a:solidFill>
                      <a:prstDash val="solid"/>
                    </a:lnL>
                    <a:lnR w="6350">
                      <a:solidFill>
                        <a:srgbClr val="999999"/>
                      </a:solidFill>
                      <a:prstDash val="solid"/>
                    </a:lnR>
                    <a:lnT w="6350">
                      <a:solidFill>
                        <a:srgbClr val="999999"/>
                      </a:solidFill>
                      <a:prstDash val="solid"/>
                    </a:lnT>
                    <a:lnB w="6350">
                      <a:solidFill>
                        <a:srgbClr val="999999"/>
                      </a:solidFill>
                      <a:prstDash val="solid"/>
                    </a:lnB>
                  </a:tcPr>
                </a:tc>
                <a:tc>
                  <a:txBody>
                    <a:bodyPr/>
                    <a:lstStyle/>
                    <a:p>
                      <a:pPr>
                        <a:lnSpc>
                          <a:spcPct val="100000"/>
                        </a:lnSpc>
                      </a:pPr>
                      <a:endParaRPr sz="1100">
                        <a:latin typeface="Times New Roman"/>
                        <a:cs typeface="Times New Roman"/>
                      </a:endParaRPr>
                    </a:p>
                    <a:p>
                      <a:pPr>
                        <a:lnSpc>
                          <a:spcPct val="100000"/>
                        </a:lnSpc>
                      </a:pPr>
                      <a:endParaRPr sz="1100">
                        <a:latin typeface="Times New Roman"/>
                        <a:cs typeface="Times New Roman"/>
                      </a:endParaRPr>
                    </a:p>
                    <a:p>
                      <a:pPr>
                        <a:lnSpc>
                          <a:spcPct val="100000"/>
                        </a:lnSpc>
                        <a:spcBef>
                          <a:spcPts val="180"/>
                        </a:spcBef>
                      </a:pPr>
                      <a:endParaRPr sz="1100">
                        <a:latin typeface="Times New Roman"/>
                        <a:cs typeface="Times New Roman"/>
                      </a:endParaRPr>
                    </a:p>
                    <a:p>
                      <a:pPr algn="ctr">
                        <a:lnSpc>
                          <a:spcPct val="100000"/>
                        </a:lnSpc>
                      </a:pPr>
                      <a:r>
                        <a:rPr sz="1100" spc="-50" dirty="0">
                          <a:latin typeface="Times New Roman"/>
                          <a:cs typeface="Times New Roman"/>
                        </a:rPr>
                        <a:t>5</a:t>
                      </a:r>
                      <a:endParaRPr sz="1100">
                        <a:latin typeface="Times New Roman"/>
                        <a:cs typeface="Times New Roman"/>
                      </a:endParaRPr>
                    </a:p>
                  </a:txBody>
                  <a:tcPr marL="0" marR="0" marT="0" marB="0">
                    <a:lnL w="6350">
                      <a:solidFill>
                        <a:srgbClr val="999999"/>
                      </a:solidFill>
                      <a:prstDash val="solid"/>
                    </a:lnL>
                    <a:lnR w="6350">
                      <a:solidFill>
                        <a:srgbClr val="999999"/>
                      </a:solidFill>
                      <a:prstDash val="solid"/>
                    </a:lnR>
                    <a:lnT w="6350">
                      <a:solidFill>
                        <a:srgbClr val="999999"/>
                      </a:solidFill>
                      <a:prstDash val="solid"/>
                    </a:lnT>
                    <a:lnB w="6350">
                      <a:solidFill>
                        <a:srgbClr val="999999"/>
                      </a:solidFill>
                      <a:prstDash val="solid"/>
                    </a:lnB>
                  </a:tcPr>
                </a:tc>
                <a:extLst>
                  <a:ext uri="{0D108BD9-81ED-4DB2-BD59-A6C34878D82A}">
                    <a16:rowId xmlns:a16="http://schemas.microsoft.com/office/drawing/2014/main" val="10003"/>
                  </a:ext>
                </a:extLst>
              </a:tr>
              <a:tr h="665480">
                <a:tc>
                  <a:txBody>
                    <a:bodyPr/>
                    <a:lstStyle/>
                    <a:p>
                      <a:pPr>
                        <a:lnSpc>
                          <a:spcPct val="100000"/>
                        </a:lnSpc>
                        <a:spcBef>
                          <a:spcPts val="525"/>
                        </a:spcBef>
                      </a:pPr>
                      <a:endParaRPr sz="1100">
                        <a:latin typeface="Times New Roman"/>
                        <a:cs typeface="Times New Roman"/>
                      </a:endParaRPr>
                    </a:p>
                    <a:p>
                      <a:pPr algn="ctr">
                        <a:lnSpc>
                          <a:spcPct val="100000"/>
                        </a:lnSpc>
                      </a:pPr>
                      <a:r>
                        <a:rPr sz="1100" spc="-50" dirty="0">
                          <a:latin typeface="Times New Roman"/>
                          <a:cs typeface="Times New Roman"/>
                        </a:rPr>
                        <a:t>2</a:t>
                      </a:r>
                      <a:endParaRPr sz="1100">
                        <a:latin typeface="Times New Roman"/>
                        <a:cs typeface="Times New Roman"/>
                      </a:endParaRPr>
                    </a:p>
                  </a:txBody>
                  <a:tcPr marL="0" marR="0" marT="66675" marB="0">
                    <a:lnL w="6350">
                      <a:solidFill>
                        <a:srgbClr val="999999"/>
                      </a:solidFill>
                      <a:prstDash val="solid"/>
                    </a:lnL>
                    <a:lnR w="6350">
                      <a:solidFill>
                        <a:srgbClr val="999999"/>
                      </a:solidFill>
                      <a:prstDash val="solid"/>
                    </a:lnR>
                    <a:lnT w="6350">
                      <a:solidFill>
                        <a:srgbClr val="999999"/>
                      </a:solidFill>
                      <a:prstDash val="solid"/>
                    </a:lnT>
                    <a:lnB w="6350">
                      <a:solidFill>
                        <a:srgbClr val="999999"/>
                      </a:solidFill>
                      <a:prstDash val="solid"/>
                    </a:lnB>
                  </a:tcPr>
                </a:tc>
                <a:tc>
                  <a:txBody>
                    <a:bodyPr/>
                    <a:lstStyle/>
                    <a:p>
                      <a:pPr>
                        <a:lnSpc>
                          <a:spcPct val="100000"/>
                        </a:lnSpc>
                        <a:spcBef>
                          <a:spcPts val="5"/>
                        </a:spcBef>
                      </a:pPr>
                      <a:endParaRPr sz="1100">
                        <a:latin typeface="Times New Roman"/>
                        <a:cs typeface="Times New Roman"/>
                      </a:endParaRPr>
                    </a:p>
                    <a:p>
                      <a:pPr marL="63500" marR="294640">
                        <a:lnSpc>
                          <a:spcPts val="1260"/>
                        </a:lnSpc>
                      </a:pPr>
                      <a:r>
                        <a:rPr sz="1100" b="1" spc="-10" dirty="0">
                          <a:latin typeface="Times New Roman"/>
                          <a:cs typeface="Times New Roman"/>
                        </a:rPr>
                        <a:t>System Requirements</a:t>
                      </a:r>
                      <a:endParaRPr sz="1100">
                        <a:latin typeface="Times New Roman"/>
                        <a:cs typeface="Times New Roman"/>
                      </a:endParaRPr>
                    </a:p>
                  </a:txBody>
                  <a:tcPr marL="0" marR="0" marT="635" marB="0">
                    <a:lnL w="6350">
                      <a:solidFill>
                        <a:srgbClr val="999999"/>
                      </a:solidFill>
                      <a:prstDash val="solid"/>
                    </a:lnL>
                    <a:lnR w="6350">
                      <a:solidFill>
                        <a:srgbClr val="999999"/>
                      </a:solidFill>
                      <a:prstDash val="solid"/>
                    </a:lnR>
                    <a:lnT w="6350">
                      <a:solidFill>
                        <a:srgbClr val="999999"/>
                      </a:solidFill>
                      <a:prstDash val="solid"/>
                    </a:lnT>
                    <a:lnB w="6350">
                      <a:solidFill>
                        <a:srgbClr val="999999"/>
                      </a:solidFill>
                      <a:prstDash val="solid"/>
                    </a:lnB>
                  </a:tcPr>
                </a:tc>
                <a:tc>
                  <a:txBody>
                    <a:bodyPr/>
                    <a:lstStyle/>
                    <a:p>
                      <a:pPr marL="273685" lvl="1" indent="-210185">
                        <a:lnSpc>
                          <a:spcPct val="100000"/>
                        </a:lnSpc>
                        <a:spcBef>
                          <a:spcPts val="325"/>
                        </a:spcBef>
                        <a:buAutoNum type="arabicPeriod"/>
                        <a:tabLst>
                          <a:tab pos="273685" algn="l"/>
                        </a:tabLst>
                      </a:pPr>
                      <a:r>
                        <a:rPr sz="1100" dirty="0">
                          <a:latin typeface="Times New Roman"/>
                          <a:cs typeface="Times New Roman"/>
                        </a:rPr>
                        <a:t>Hardware</a:t>
                      </a:r>
                      <a:r>
                        <a:rPr sz="1100" spc="-45" dirty="0">
                          <a:latin typeface="Times New Roman"/>
                          <a:cs typeface="Times New Roman"/>
                        </a:rPr>
                        <a:t> </a:t>
                      </a:r>
                      <a:r>
                        <a:rPr sz="1100" spc="-10" dirty="0">
                          <a:latin typeface="Times New Roman"/>
                          <a:cs typeface="Times New Roman"/>
                        </a:rPr>
                        <a:t>Requirements</a:t>
                      </a:r>
                      <a:endParaRPr sz="1100">
                        <a:latin typeface="Times New Roman"/>
                        <a:cs typeface="Times New Roman"/>
                      </a:endParaRPr>
                    </a:p>
                    <a:p>
                      <a:pPr marL="273685" lvl="1" indent="-210185">
                        <a:lnSpc>
                          <a:spcPct val="100000"/>
                        </a:lnSpc>
                        <a:spcBef>
                          <a:spcPts val="145"/>
                        </a:spcBef>
                        <a:buAutoNum type="arabicPeriod"/>
                        <a:tabLst>
                          <a:tab pos="273685" algn="l"/>
                        </a:tabLst>
                      </a:pPr>
                      <a:r>
                        <a:rPr sz="1100" dirty="0">
                          <a:latin typeface="Times New Roman"/>
                          <a:cs typeface="Times New Roman"/>
                        </a:rPr>
                        <a:t>Software</a:t>
                      </a:r>
                      <a:r>
                        <a:rPr sz="1100" spc="-35" dirty="0">
                          <a:latin typeface="Times New Roman"/>
                          <a:cs typeface="Times New Roman"/>
                        </a:rPr>
                        <a:t> </a:t>
                      </a:r>
                      <a:r>
                        <a:rPr sz="1100" spc="-10" dirty="0">
                          <a:latin typeface="Times New Roman"/>
                          <a:cs typeface="Times New Roman"/>
                        </a:rPr>
                        <a:t>Requirements</a:t>
                      </a:r>
                      <a:endParaRPr sz="1100">
                        <a:latin typeface="Times New Roman"/>
                        <a:cs typeface="Times New Roman"/>
                      </a:endParaRPr>
                    </a:p>
                    <a:p>
                      <a:pPr marL="273685" lvl="1" indent="-210185">
                        <a:lnSpc>
                          <a:spcPct val="100000"/>
                        </a:lnSpc>
                        <a:spcBef>
                          <a:spcPts val="145"/>
                        </a:spcBef>
                        <a:buAutoNum type="arabicPeriod"/>
                        <a:tabLst>
                          <a:tab pos="273685" algn="l"/>
                        </a:tabLst>
                      </a:pPr>
                      <a:r>
                        <a:rPr sz="1100" dirty="0">
                          <a:latin typeface="Times New Roman"/>
                          <a:cs typeface="Times New Roman"/>
                        </a:rPr>
                        <a:t>Development</a:t>
                      </a:r>
                      <a:r>
                        <a:rPr sz="1100" spc="-30" dirty="0">
                          <a:latin typeface="Times New Roman"/>
                          <a:cs typeface="Times New Roman"/>
                        </a:rPr>
                        <a:t> </a:t>
                      </a:r>
                      <a:r>
                        <a:rPr sz="1100" dirty="0">
                          <a:latin typeface="Times New Roman"/>
                          <a:cs typeface="Times New Roman"/>
                        </a:rPr>
                        <a:t>Tools</a:t>
                      </a:r>
                      <a:r>
                        <a:rPr sz="1100" spc="-20" dirty="0">
                          <a:latin typeface="Times New Roman"/>
                          <a:cs typeface="Times New Roman"/>
                        </a:rPr>
                        <a:t> </a:t>
                      </a:r>
                      <a:r>
                        <a:rPr sz="1100" dirty="0">
                          <a:latin typeface="Times New Roman"/>
                          <a:cs typeface="Times New Roman"/>
                        </a:rPr>
                        <a:t>and</a:t>
                      </a:r>
                      <a:r>
                        <a:rPr sz="1100" spc="-35" dirty="0">
                          <a:latin typeface="Times New Roman"/>
                          <a:cs typeface="Times New Roman"/>
                        </a:rPr>
                        <a:t> </a:t>
                      </a:r>
                      <a:r>
                        <a:rPr sz="1100" spc="-10" dirty="0">
                          <a:latin typeface="Times New Roman"/>
                          <a:cs typeface="Times New Roman"/>
                        </a:rPr>
                        <a:t>Frameworks</a:t>
                      </a:r>
                      <a:endParaRPr sz="1100">
                        <a:latin typeface="Times New Roman"/>
                        <a:cs typeface="Times New Roman"/>
                      </a:endParaRPr>
                    </a:p>
                  </a:txBody>
                  <a:tcPr marL="0" marR="0" marT="41275" marB="0">
                    <a:lnL w="6350">
                      <a:solidFill>
                        <a:srgbClr val="999999"/>
                      </a:solidFill>
                      <a:prstDash val="solid"/>
                    </a:lnL>
                    <a:lnR w="6350">
                      <a:solidFill>
                        <a:srgbClr val="999999"/>
                      </a:solidFill>
                      <a:prstDash val="solid"/>
                    </a:lnR>
                    <a:lnT w="6350">
                      <a:solidFill>
                        <a:srgbClr val="999999"/>
                      </a:solidFill>
                      <a:prstDash val="solid"/>
                    </a:lnT>
                    <a:lnB w="6350">
                      <a:solidFill>
                        <a:srgbClr val="999999"/>
                      </a:solidFill>
                      <a:prstDash val="solid"/>
                    </a:lnB>
                  </a:tcPr>
                </a:tc>
                <a:tc>
                  <a:txBody>
                    <a:bodyPr/>
                    <a:lstStyle/>
                    <a:p>
                      <a:pPr>
                        <a:lnSpc>
                          <a:spcPct val="100000"/>
                        </a:lnSpc>
                        <a:spcBef>
                          <a:spcPts val="525"/>
                        </a:spcBef>
                      </a:pPr>
                      <a:endParaRPr sz="1100">
                        <a:latin typeface="Times New Roman"/>
                        <a:cs typeface="Times New Roman"/>
                      </a:endParaRPr>
                    </a:p>
                    <a:p>
                      <a:pPr algn="ctr">
                        <a:lnSpc>
                          <a:spcPct val="100000"/>
                        </a:lnSpc>
                      </a:pPr>
                      <a:r>
                        <a:rPr sz="1100" spc="-50" dirty="0">
                          <a:latin typeface="Times New Roman"/>
                          <a:cs typeface="Times New Roman"/>
                        </a:rPr>
                        <a:t>7</a:t>
                      </a:r>
                      <a:endParaRPr sz="1100">
                        <a:latin typeface="Times New Roman"/>
                        <a:cs typeface="Times New Roman"/>
                      </a:endParaRPr>
                    </a:p>
                  </a:txBody>
                  <a:tcPr marL="0" marR="0" marT="66675" marB="0">
                    <a:lnL w="6350">
                      <a:solidFill>
                        <a:srgbClr val="999999"/>
                      </a:solidFill>
                      <a:prstDash val="solid"/>
                    </a:lnL>
                    <a:lnR w="6350">
                      <a:solidFill>
                        <a:srgbClr val="999999"/>
                      </a:solidFill>
                      <a:prstDash val="solid"/>
                    </a:lnR>
                    <a:lnT w="6350">
                      <a:solidFill>
                        <a:srgbClr val="999999"/>
                      </a:solidFill>
                      <a:prstDash val="solid"/>
                    </a:lnT>
                    <a:lnB w="6350">
                      <a:solidFill>
                        <a:srgbClr val="999999"/>
                      </a:solidFill>
                      <a:prstDash val="solid"/>
                    </a:lnB>
                  </a:tcPr>
                </a:tc>
                <a:extLst>
                  <a:ext uri="{0D108BD9-81ED-4DB2-BD59-A6C34878D82A}">
                    <a16:rowId xmlns:a16="http://schemas.microsoft.com/office/drawing/2014/main" val="10004"/>
                  </a:ext>
                </a:extLst>
              </a:tr>
              <a:tr h="1037590">
                <a:tc>
                  <a:txBody>
                    <a:bodyPr/>
                    <a:lstStyle/>
                    <a:p>
                      <a:pPr>
                        <a:lnSpc>
                          <a:spcPct val="100000"/>
                        </a:lnSpc>
                      </a:pPr>
                      <a:endParaRPr sz="1100">
                        <a:latin typeface="Times New Roman"/>
                        <a:cs typeface="Times New Roman"/>
                      </a:endParaRPr>
                    </a:p>
                    <a:p>
                      <a:pPr>
                        <a:lnSpc>
                          <a:spcPct val="100000"/>
                        </a:lnSpc>
                        <a:spcBef>
                          <a:spcPts val="725"/>
                        </a:spcBef>
                      </a:pPr>
                      <a:endParaRPr sz="1100">
                        <a:latin typeface="Times New Roman"/>
                        <a:cs typeface="Times New Roman"/>
                      </a:endParaRPr>
                    </a:p>
                    <a:p>
                      <a:pPr algn="ctr">
                        <a:lnSpc>
                          <a:spcPct val="100000"/>
                        </a:lnSpc>
                      </a:pPr>
                      <a:r>
                        <a:rPr sz="1100" spc="-50" dirty="0">
                          <a:latin typeface="Times New Roman"/>
                          <a:cs typeface="Times New Roman"/>
                        </a:rPr>
                        <a:t>3</a:t>
                      </a:r>
                      <a:endParaRPr sz="1100">
                        <a:latin typeface="Times New Roman"/>
                        <a:cs typeface="Times New Roman"/>
                      </a:endParaRPr>
                    </a:p>
                  </a:txBody>
                  <a:tcPr marL="0" marR="0" marT="0" marB="0">
                    <a:lnL w="6350">
                      <a:solidFill>
                        <a:srgbClr val="999999"/>
                      </a:solidFill>
                      <a:prstDash val="solid"/>
                    </a:lnL>
                    <a:lnR w="6350">
                      <a:solidFill>
                        <a:srgbClr val="999999"/>
                      </a:solidFill>
                      <a:prstDash val="solid"/>
                    </a:lnR>
                    <a:lnT w="6350">
                      <a:solidFill>
                        <a:srgbClr val="999999"/>
                      </a:solidFill>
                      <a:prstDash val="solid"/>
                    </a:lnT>
                    <a:lnB w="6350">
                      <a:solidFill>
                        <a:srgbClr val="999999"/>
                      </a:solidFill>
                      <a:prstDash val="solid"/>
                    </a:lnB>
                  </a:tcPr>
                </a:tc>
                <a:tc>
                  <a:txBody>
                    <a:bodyPr/>
                    <a:lstStyle/>
                    <a:p>
                      <a:pPr>
                        <a:lnSpc>
                          <a:spcPct val="100000"/>
                        </a:lnSpc>
                      </a:pPr>
                      <a:endParaRPr sz="1100">
                        <a:latin typeface="Times New Roman"/>
                        <a:cs typeface="Times New Roman"/>
                      </a:endParaRPr>
                    </a:p>
                    <a:p>
                      <a:pPr>
                        <a:lnSpc>
                          <a:spcPct val="100000"/>
                        </a:lnSpc>
                        <a:spcBef>
                          <a:spcPts val="750"/>
                        </a:spcBef>
                      </a:pPr>
                      <a:endParaRPr sz="1100">
                        <a:latin typeface="Times New Roman"/>
                        <a:cs typeface="Times New Roman"/>
                      </a:endParaRPr>
                    </a:p>
                    <a:p>
                      <a:pPr marL="63500">
                        <a:lnSpc>
                          <a:spcPct val="100000"/>
                        </a:lnSpc>
                      </a:pPr>
                      <a:r>
                        <a:rPr sz="1100" b="1" dirty="0">
                          <a:latin typeface="Times New Roman"/>
                          <a:cs typeface="Times New Roman"/>
                        </a:rPr>
                        <a:t>Technology</a:t>
                      </a:r>
                      <a:r>
                        <a:rPr sz="1100" b="1" spc="-25" dirty="0">
                          <a:latin typeface="Times New Roman"/>
                          <a:cs typeface="Times New Roman"/>
                        </a:rPr>
                        <a:t> </a:t>
                      </a:r>
                      <a:r>
                        <a:rPr sz="1100" b="1" spc="-10" dirty="0">
                          <a:latin typeface="Times New Roman"/>
                          <a:cs typeface="Times New Roman"/>
                        </a:rPr>
                        <a:t>Stack</a:t>
                      </a:r>
                      <a:endParaRPr sz="1100">
                        <a:latin typeface="Times New Roman"/>
                        <a:cs typeface="Times New Roman"/>
                      </a:endParaRPr>
                    </a:p>
                  </a:txBody>
                  <a:tcPr marL="0" marR="0" marT="0" marB="0">
                    <a:lnL w="6350">
                      <a:solidFill>
                        <a:srgbClr val="999999"/>
                      </a:solidFill>
                      <a:prstDash val="solid"/>
                    </a:lnL>
                    <a:lnR w="6350">
                      <a:solidFill>
                        <a:srgbClr val="999999"/>
                      </a:solidFill>
                      <a:prstDash val="solid"/>
                    </a:lnR>
                    <a:lnT w="6350">
                      <a:solidFill>
                        <a:srgbClr val="999999"/>
                      </a:solidFill>
                      <a:prstDash val="solid"/>
                    </a:lnT>
                    <a:lnB w="6350">
                      <a:solidFill>
                        <a:srgbClr val="999999"/>
                      </a:solidFill>
                      <a:prstDash val="solid"/>
                    </a:lnB>
                  </a:tcPr>
                </a:tc>
                <a:tc>
                  <a:txBody>
                    <a:bodyPr/>
                    <a:lstStyle/>
                    <a:p>
                      <a:pPr marL="273685" lvl="1" indent="-210185">
                        <a:lnSpc>
                          <a:spcPct val="100000"/>
                        </a:lnSpc>
                        <a:spcBef>
                          <a:spcPts val="325"/>
                        </a:spcBef>
                        <a:buAutoNum type="arabicPeriod"/>
                        <a:tabLst>
                          <a:tab pos="273685" algn="l"/>
                        </a:tabLst>
                      </a:pPr>
                      <a:r>
                        <a:rPr sz="1100" spc="-10" dirty="0">
                          <a:latin typeface="Times New Roman"/>
                          <a:cs typeface="Times New Roman"/>
                        </a:rPr>
                        <a:t>Frontend</a:t>
                      </a:r>
                      <a:endParaRPr sz="1100">
                        <a:latin typeface="Times New Roman"/>
                        <a:cs typeface="Times New Roman"/>
                      </a:endParaRPr>
                    </a:p>
                    <a:p>
                      <a:pPr marL="273685" lvl="1" indent="-210185">
                        <a:lnSpc>
                          <a:spcPct val="100000"/>
                        </a:lnSpc>
                        <a:spcBef>
                          <a:spcPts val="145"/>
                        </a:spcBef>
                        <a:buAutoNum type="arabicPeriod"/>
                        <a:tabLst>
                          <a:tab pos="273685" algn="l"/>
                        </a:tabLst>
                      </a:pPr>
                      <a:r>
                        <a:rPr sz="1100" spc="-10" dirty="0">
                          <a:latin typeface="Times New Roman"/>
                          <a:cs typeface="Times New Roman"/>
                        </a:rPr>
                        <a:t>Backend</a:t>
                      </a:r>
                      <a:endParaRPr sz="1100">
                        <a:latin typeface="Times New Roman"/>
                        <a:cs typeface="Times New Roman"/>
                      </a:endParaRPr>
                    </a:p>
                    <a:p>
                      <a:pPr marL="273685" lvl="1" indent="-210185">
                        <a:lnSpc>
                          <a:spcPct val="100000"/>
                        </a:lnSpc>
                        <a:spcBef>
                          <a:spcPts val="145"/>
                        </a:spcBef>
                        <a:buAutoNum type="arabicPeriod"/>
                        <a:tabLst>
                          <a:tab pos="273685" algn="l"/>
                        </a:tabLst>
                      </a:pPr>
                      <a:r>
                        <a:rPr sz="1100" spc="-10" dirty="0">
                          <a:latin typeface="Times New Roman"/>
                          <a:cs typeface="Times New Roman"/>
                        </a:rPr>
                        <a:t>Database</a:t>
                      </a:r>
                      <a:endParaRPr sz="1100">
                        <a:latin typeface="Times New Roman"/>
                        <a:cs typeface="Times New Roman"/>
                      </a:endParaRPr>
                    </a:p>
                    <a:p>
                      <a:pPr marL="273685" lvl="1" indent="-210185">
                        <a:lnSpc>
                          <a:spcPct val="100000"/>
                        </a:lnSpc>
                        <a:spcBef>
                          <a:spcPts val="145"/>
                        </a:spcBef>
                        <a:buAutoNum type="arabicPeriod"/>
                        <a:tabLst>
                          <a:tab pos="273685" algn="l"/>
                        </a:tabLst>
                      </a:pPr>
                      <a:r>
                        <a:rPr sz="1100" dirty="0">
                          <a:latin typeface="Times New Roman"/>
                          <a:cs typeface="Times New Roman"/>
                        </a:rPr>
                        <a:t>Version</a:t>
                      </a:r>
                      <a:r>
                        <a:rPr sz="1100" spc="-15" dirty="0">
                          <a:latin typeface="Times New Roman"/>
                          <a:cs typeface="Times New Roman"/>
                        </a:rPr>
                        <a:t> </a:t>
                      </a:r>
                      <a:r>
                        <a:rPr sz="1100" spc="-10" dirty="0">
                          <a:latin typeface="Times New Roman"/>
                          <a:cs typeface="Times New Roman"/>
                        </a:rPr>
                        <a:t>Control</a:t>
                      </a:r>
                      <a:endParaRPr sz="1100">
                        <a:latin typeface="Times New Roman"/>
                        <a:cs typeface="Times New Roman"/>
                      </a:endParaRPr>
                    </a:p>
                    <a:p>
                      <a:pPr marL="273685" lvl="1" indent="-210185">
                        <a:lnSpc>
                          <a:spcPct val="100000"/>
                        </a:lnSpc>
                        <a:spcBef>
                          <a:spcPts val="145"/>
                        </a:spcBef>
                        <a:buAutoNum type="arabicPeriod"/>
                        <a:tabLst>
                          <a:tab pos="273685" algn="l"/>
                        </a:tabLst>
                      </a:pPr>
                      <a:r>
                        <a:rPr sz="1100" dirty="0">
                          <a:latin typeface="Times New Roman"/>
                          <a:cs typeface="Times New Roman"/>
                        </a:rPr>
                        <a:t>Authentication</a:t>
                      </a:r>
                      <a:r>
                        <a:rPr sz="1100" spc="-20" dirty="0">
                          <a:latin typeface="Times New Roman"/>
                          <a:cs typeface="Times New Roman"/>
                        </a:rPr>
                        <a:t> </a:t>
                      </a:r>
                      <a:r>
                        <a:rPr sz="1100" dirty="0">
                          <a:latin typeface="Times New Roman"/>
                          <a:cs typeface="Times New Roman"/>
                        </a:rPr>
                        <a:t>and</a:t>
                      </a:r>
                      <a:r>
                        <a:rPr sz="1100" spc="-15" dirty="0">
                          <a:latin typeface="Times New Roman"/>
                          <a:cs typeface="Times New Roman"/>
                        </a:rPr>
                        <a:t> </a:t>
                      </a:r>
                      <a:r>
                        <a:rPr sz="1100" dirty="0">
                          <a:latin typeface="Times New Roman"/>
                          <a:cs typeface="Times New Roman"/>
                        </a:rPr>
                        <a:t>Security</a:t>
                      </a:r>
                      <a:r>
                        <a:rPr sz="1100" spc="-30" dirty="0">
                          <a:latin typeface="Times New Roman"/>
                          <a:cs typeface="Times New Roman"/>
                        </a:rPr>
                        <a:t> </a:t>
                      </a:r>
                      <a:r>
                        <a:rPr sz="1100" spc="-10" dirty="0">
                          <a:latin typeface="Times New Roman"/>
                          <a:cs typeface="Times New Roman"/>
                        </a:rPr>
                        <a:t>Libraries</a:t>
                      </a:r>
                      <a:endParaRPr sz="1100">
                        <a:latin typeface="Times New Roman"/>
                        <a:cs typeface="Times New Roman"/>
                      </a:endParaRPr>
                    </a:p>
                  </a:txBody>
                  <a:tcPr marL="0" marR="0" marT="41275" marB="0">
                    <a:lnL w="6350">
                      <a:solidFill>
                        <a:srgbClr val="999999"/>
                      </a:solidFill>
                      <a:prstDash val="solid"/>
                    </a:lnL>
                    <a:lnR w="6350">
                      <a:solidFill>
                        <a:srgbClr val="999999"/>
                      </a:solidFill>
                      <a:prstDash val="solid"/>
                    </a:lnR>
                    <a:lnT w="6350">
                      <a:solidFill>
                        <a:srgbClr val="999999"/>
                      </a:solidFill>
                      <a:prstDash val="solid"/>
                    </a:lnT>
                    <a:lnB w="6350">
                      <a:solidFill>
                        <a:srgbClr val="999999"/>
                      </a:solidFill>
                      <a:prstDash val="solid"/>
                    </a:lnB>
                  </a:tcPr>
                </a:tc>
                <a:tc>
                  <a:txBody>
                    <a:bodyPr/>
                    <a:lstStyle/>
                    <a:p>
                      <a:pPr>
                        <a:lnSpc>
                          <a:spcPct val="100000"/>
                        </a:lnSpc>
                      </a:pPr>
                      <a:endParaRPr sz="1100">
                        <a:latin typeface="Times New Roman"/>
                        <a:cs typeface="Times New Roman"/>
                      </a:endParaRPr>
                    </a:p>
                    <a:p>
                      <a:pPr>
                        <a:lnSpc>
                          <a:spcPct val="100000"/>
                        </a:lnSpc>
                        <a:spcBef>
                          <a:spcPts val="725"/>
                        </a:spcBef>
                      </a:pPr>
                      <a:endParaRPr sz="1100">
                        <a:latin typeface="Times New Roman"/>
                        <a:cs typeface="Times New Roman"/>
                      </a:endParaRPr>
                    </a:p>
                    <a:p>
                      <a:pPr algn="ctr">
                        <a:lnSpc>
                          <a:spcPct val="100000"/>
                        </a:lnSpc>
                      </a:pPr>
                      <a:r>
                        <a:rPr sz="1100" spc="-50" dirty="0">
                          <a:latin typeface="Times New Roman"/>
                          <a:cs typeface="Times New Roman"/>
                        </a:rPr>
                        <a:t>8</a:t>
                      </a:r>
                      <a:endParaRPr sz="1100">
                        <a:latin typeface="Times New Roman"/>
                        <a:cs typeface="Times New Roman"/>
                      </a:endParaRPr>
                    </a:p>
                  </a:txBody>
                  <a:tcPr marL="0" marR="0" marT="0" marB="0">
                    <a:lnL w="6350">
                      <a:solidFill>
                        <a:srgbClr val="999999"/>
                      </a:solidFill>
                      <a:prstDash val="solid"/>
                    </a:lnL>
                    <a:lnR w="6350">
                      <a:solidFill>
                        <a:srgbClr val="999999"/>
                      </a:solidFill>
                      <a:prstDash val="solid"/>
                    </a:lnR>
                    <a:lnT w="6350">
                      <a:solidFill>
                        <a:srgbClr val="999999"/>
                      </a:solidFill>
                      <a:prstDash val="solid"/>
                    </a:lnT>
                    <a:lnB w="6350">
                      <a:solidFill>
                        <a:srgbClr val="999999"/>
                      </a:solidFill>
                      <a:prstDash val="solid"/>
                    </a:lnB>
                  </a:tcPr>
                </a:tc>
                <a:extLst>
                  <a:ext uri="{0D108BD9-81ED-4DB2-BD59-A6C34878D82A}">
                    <a16:rowId xmlns:a16="http://schemas.microsoft.com/office/drawing/2014/main" val="10005"/>
                  </a:ext>
                </a:extLst>
              </a:tr>
              <a:tr h="666115">
                <a:tc>
                  <a:txBody>
                    <a:bodyPr/>
                    <a:lstStyle/>
                    <a:p>
                      <a:pPr>
                        <a:lnSpc>
                          <a:spcPct val="100000"/>
                        </a:lnSpc>
                        <a:spcBef>
                          <a:spcPts val="525"/>
                        </a:spcBef>
                      </a:pPr>
                      <a:endParaRPr sz="1100">
                        <a:latin typeface="Times New Roman"/>
                        <a:cs typeface="Times New Roman"/>
                      </a:endParaRPr>
                    </a:p>
                    <a:p>
                      <a:pPr algn="ctr">
                        <a:lnSpc>
                          <a:spcPct val="100000"/>
                        </a:lnSpc>
                        <a:spcBef>
                          <a:spcPts val="5"/>
                        </a:spcBef>
                      </a:pPr>
                      <a:r>
                        <a:rPr sz="1100" spc="-50" dirty="0">
                          <a:latin typeface="Times New Roman"/>
                          <a:cs typeface="Times New Roman"/>
                        </a:rPr>
                        <a:t>4</a:t>
                      </a:r>
                      <a:endParaRPr sz="1100">
                        <a:latin typeface="Times New Roman"/>
                        <a:cs typeface="Times New Roman"/>
                      </a:endParaRPr>
                    </a:p>
                  </a:txBody>
                  <a:tcPr marL="0" marR="0" marT="66675" marB="0">
                    <a:lnL w="6350">
                      <a:solidFill>
                        <a:srgbClr val="999999"/>
                      </a:solidFill>
                      <a:prstDash val="solid"/>
                    </a:lnL>
                    <a:lnR w="6350">
                      <a:solidFill>
                        <a:srgbClr val="999999"/>
                      </a:solidFill>
                      <a:prstDash val="solid"/>
                    </a:lnR>
                    <a:lnT w="6350">
                      <a:solidFill>
                        <a:srgbClr val="999999"/>
                      </a:solidFill>
                      <a:prstDash val="solid"/>
                    </a:lnT>
                    <a:lnB w="6350">
                      <a:solidFill>
                        <a:srgbClr val="999999"/>
                      </a:solidFill>
                      <a:prstDash val="solid"/>
                    </a:lnB>
                  </a:tcPr>
                </a:tc>
                <a:tc>
                  <a:txBody>
                    <a:bodyPr/>
                    <a:lstStyle/>
                    <a:p>
                      <a:pPr>
                        <a:lnSpc>
                          <a:spcPct val="100000"/>
                        </a:lnSpc>
                      </a:pPr>
                      <a:endParaRPr sz="1100">
                        <a:latin typeface="Times New Roman"/>
                        <a:cs typeface="Times New Roman"/>
                      </a:endParaRPr>
                    </a:p>
                    <a:p>
                      <a:pPr marL="63500" marR="372745">
                        <a:lnSpc>
                          <a:spcPts val="1270"/>
                        </a:lnSpc>
                      </a:pPr>
                      <a:r>
                        <a:rPr sz="1100" b="1" spc="-10" dirty="0">
                          <a:latin typeface="Times New Roman"/>
                          <a:cs typeface="Times New Roman"/>
                        </a:rPr>
                        <a:t>System Architecture</a:t>
                      </a:r>
                      <a:endParaRPr sz="1100">
                        <a:latin typeface="Times New Roman"/>
                        <a:cs typeface="Times New Roman"/>
                      </a:endParaRPr>
                    </a:p>
                  </a:txBody>
                  <a:tcPr marL="0" marR="0" marT="0" marB="0">
                    <a:lnL w="6350">
                      <a:solidFill>
                        <a:srgbClr val="999999"/>
                      </a:solidFill>
                      <a:prstDash val="solid"/>
                    </a:lnL>
                    <a:lnR w="6350">
                      <a:solidFill>
                        <a:srgbClr val="999999"/>
                      </a:solidFill>
                      <a:prstDash val="solid"/>
                    </a:lnR>
                    <a:lnT w="6350">
                      <a:solidFill>
                        <a:srgbClr val="999999"/>
                      </a:solidFill>
                      <a:prstDash val="solid"/>
                    </a:lnT>
                    <a:lnB w="6350">
                      <a:solidFill>
                        <a:srgbClr val="999999"/>
                      </a:solidFill>
                      <a:prstDash val="solid"/>
                    </a:lnB>
                  </a:tcPr>
                </a:tc>
                <a:tc>
                  <a:txBody>
                    <a:bodyPr/>
                    <a:lstStyle/>
                    <a:p>
                      <a:pPr marL="273685" lvl="1" indent="-210185">
                        <a:lnSpc>
                          <a:spcPct val="100000"/>
                        </a:lnSpc>
                        <a:spcBef>
                          <a:spcPts val="330"/>
                        </a:spcBef>
                        <a:buAutoNum type="arabicPeriod"/>
                        <a:tabLst>
                          <a:tab pos="273685" algn="l"/>
                        </a:tabLst>
                      </a:pPr>
                      <a:r>
                        <a:rPr sz="1100" spc="-10" dirty="0">
                          <a:latin typeface="Times New Roman"/>
                          <a:cs typeface="Times New Roman"/>
                        </a:rPr>
                        <a:t>High-</a:t>
                      </a:r>
                      <a:r>
                        <a:rPr sz="1100" dirty="0">
                          <a:latin typeface="Times New Roman"/>
                          <a:cs typeface="Times New Roman"/>
                        </a:rPr>
                        <a:t>Level</a:t>
                      </a:r>
                      <a:r>
                        <a:rPr sz="1100" spc="-15" dirty="0">
                          <a:latin typeface="Times New Roman"/>
                          <a:cs typeface="Times New Roman"/>
                        </a:rPr>
                        <a:t> </a:t>
                      </a:r>
                      <a:r>
                        <a:rPr sz="1100" dirty="0">
                          <a:latin typeface="Times New Roman"/>
                          <a:cs typeface="Times New Roman"/>
                        </a:rPr>
                        <a:t>Architecture</a:t>
                      </a:r>
                      <a:r>
                        <a:rPr sz="1100" spc="-20" dirty="0">
                          <a:latin typeface="Times New Roman"/>
                          <a:cs typeface="Times New Roman"/>
                        </a:rPr>
                        <a:t> </a:t>
                      </a:r>
                      <a:r>
                        <a:rPr sz="1100" spc="-10" dirty="0">
                          <a:latin typeface="Times New Roman"/>
                          <a:cs typeface="Times New Roman"/>
                        </a:rPr>
                        <a:t>Diagram</a:t>
                      </a:r>
                      <a:endParaRPr sz="1100">
                        <a:latin typeface="Times New Roman"/>
                        <a:cs typeface="Times New Roman"/>
                      </a:endParaRPr>
                    </a:p>
                    <a:p>
                      <a:pPr marL="273685" lvl="1" indent="-210185">
                        <a:lnSpc>
                          <a:spcPct val="100000"/>
                        </a:lnSpc>
                        <a:spcBef>
                          <a:spcPts val="145"/>
                        </a:spcBef>
                        <a:buAutoNum type="arabicPeriod"/>
                        <a:tabLst>
                          <a:tab pos="273685" algn="l"/>
                        </a:tabLst>
                      </a:pPr>
                      <a:r>
                        <a:rPr sz="1100" dirty="0">
                          <a:latin typeface="Times New Roman"/>
                          <a:cs typeface="Times New Roman"/>
                        </a:rPr>
                        <a:t>Description</a:t>
                      </a:r>
                      <a:r>
                        <a:rPr sz="1100" spc="-15" dirty="0">
                          <a:latin typeface="Times New Roman"/>
                          <a:cs typeface="Times New Roman"/>
                        </a:rPr>
                        <a:t> </a:t>
                      </a:r>
                      <a:r>
                        <a:rPr sz="1100" dirty="0">
                          <a:latin typeface="Times New Roman"/>
                          <a:cs typeface="Times New Roman"/>
                        </a:rPr>
                        <a:t>of</a:t>
                      </a:r>
                      <a:r>
                        <a:rPr sz="1100" spc="-20" dirty="0">
                          <a:latin typeface="Times New Roman"/>
                          <a:cs typeface="Times New Roman"/>
                        </a:rPr>
                        <a:t> </a:t>
                      </a:r>
                      <a:r>
                        <a:rPr sz="1100" dirty="0">
                          <a:latin typeface="Times New Roman"/>
                          <a:cs typeface="Times New Roman"/>
                        </a:rPr>
                        <a:t>Each</a:t>
                      </a:r>
                      <a:r>
                        <a:rPr sz="1100" spc="-10" dirty="0">
                          <a:latin typeface="Times New Roman"/>
                          <a:cs typeface="Times New Roman"/>
                        </a:rPr>
                        <a:t> </a:t>
                      </a:r>
                      <a:r>
                        <a:rPr sz="1100" spc="-20" dirty="0">
                          <a:latin typeface="Times New Roman"/>
                          <a:cs typeface="Times New Roman"/>
                        </a:rPr>
                        <a:t>Layer</a:t>
                      </a:r>
                      <a:endParaRPr sz="1100">
                        <a:latin typeface="Times New Roman"/>
                        <a:cs typeface="Times New Roman"/>
                      </a:endParaRPr>
                    </a:p>
                    <a:p>
                      <a:pPr marL="273685" lvl="1" indent="-210185">
                        <a:lnSpc>
                          <a:spcPct val="100000"/>
                        </a:lnSpc>
                        <a:spcBef>
                          <a:spcPts val="140"/>
                        </a:spcBef>
                        <a:buAutoNum type="arabicPeriod"/>
                        <a:tabLst>
                          <a:tab pos="273685" algn="l"/>
                        </a:tabLst>
                      </a:pPr>
                      <a:r>
                        <a:rPr sz="1100" dirty="0">
                          <a:latin typeface="Times New Roman"/>
                          <a:cs typeface="Times New Roman"/>
                        </a:rPr>
                        <a:t>Deployment</a:t>
                      </a:r>
                      <a:r>
                        <a:rPr sz="1100" spc="-35" dirty="0">
                          <a:latin typeface="Times New Roman"/>
                          <a:cs typeface="Times New Roman"/>
                        </a:rPr>
                        <a:t> </a:t>
                      </a:r>
                      <a:r>
                        <a:rPr sz="1100" spc="-10" dirty="0">
                          <a:latin typeface="Times New Roman"/>
                          <a:cs typeface="Times New Roman"/>
                        </a:rPr>
                        <a:t>Architecture</a:t>
                      </a:r>
                      <a:endParaRPr sz="1100">
                        <a:latin typeface="Times New Roman"/>
                        <a:cs typeface="Times New Roman"/>
                      </a:endParaRPr>
                    </a:p>
                  </a:txBody>
                  <a:tcPr marL="0" marR="0" marT="41910" marB="0">
                    <a:lnL w="6350">
                      <a:solidFill>
                        <a:srgbClr val="999999"/>
                      </a:solidFill>
                      <a:prstDash val="solid"/>
                    </a:lnL>
                    <a:lnR w="6350">
                      <a:solidFill>
                        <a:srgbClr val="999999"/>
                      </a:solidFill>
                      <a:prstDash val="solid"/>
                    </a:lnR>
                    <a:lnT w="6350">
                      <a:solidFill>
                        <a:srgbClr val="999999"/>
                      </a:solidFill>
                      <a:prstDash val="solid"/>
                    </a:lnT>
                    <a:lnB w="6350">
                      <a:solidFill>
                        <a:srgbClr val="999999"/>
                      </a:solidFill>
                      <a:prstDash val="solid"/>
                    </a:lnB>
                  </a:tcPr>
                </a:tc>
                <a:tc>
                  <a:txBody>
                    <a:bodyPr/>
                    <a:lstStyle/>
                    <a:p>
                      <a:pPr>
                        <a:lnSpc>
                          <a:spcPct val="100000"/>
                        </a:lnSpc>
                        <a:spcBef>
                          <a:spcPts val="525"/>
                        </a:spcBef>
                      </a:pPr>
                      <a:endParaRPr sz="1100">
                        <a:latin typeface="Times New Roman"/>
                        <a:cs typeface="Times New Roman"/>
                      </a:endParaRPr>
                    </a:p>
                    <a:p>
                      <a:pPr algn="ctr">
                        <a:lnSpc>
                          <a:spcPct val="100000"/>
                        </a:lnSpc>
                        <a:spcBef>
                          <a:spcPts val="5"/>
                        </a:spcBef>
                      </a:pPr>
                      <a:r>
                        <a:rPr sz="1100" spc="-50" dirty="0">
                          <a:latin typeface="Times New Roman"/>
                          <a:cs typeface="Times New Roman"/>
                        </a:rPr>
                        <a:t>9</a:t>
                      </a:r>
                      <a:endParaRPr sz="1100">
                        <a:latin typeface="Times New Roman"/>
                        <a:cs typeface="Times New Roman"/>
                      </a:endParaRPr>
                    </a:p>
                  </a:txBody>
                  <a:tcPr marL="0" marR="0" marT="66675" marB="0">
                    <a:lnL w="6350">
                      <a:solidFill>
                        <a:srgbClr val="999999"/>
                      </a:solidFill>
                      <a:prstDash val="solid"/>
                    </a:lnL>
                    <a:lnR w="6350">
                      <a:solidFill>
                        <a:srgbClr val="999999"/>
                      </a:solidFill>
                      <a:prstDash val="solid"/>
                    </a:lnR>
                    <a:lnT w="6350">
                      <a:solidFill>
                        <a:srgbClr val="999999"/>
                      </a:solidFill>
                      <a:prstDash val="solid"/>
                    </a:lnT>
                    <a:lnB w="6350">
                      <a:solidFill>
                        <a:srgbClr val="999999"/>
                      </a:solidFill>
                      <a:prstDash val="solid"/>
                    </a:lnB>
                  </a:tcPr>
                </a:tc>
                <a:extLst>
                  <a:ext uri="{0D108BD9-81ED-4DB2-BD59-A6C34878D82A}">
                    <a16:rowId xmlns:a16="http://schemas.microsoft.com/office/drawing/2014/main" val="10006"/>
                  </a:ext>
                </a:extLst>
              </a:tr>
              <a:tr h="665480">
                <a:tc>
                  <a:txBody>
                    <a:bodyPr/>
                    <a:lstStyle/>
                    <a:p>
                      <a:pPr>
                        <a:lnSpc>
                          <a:spcPct val="100000"/>
                        </a:lnSpc>
                        <a:spcBef>
                          <a:spcPts val="525"/>
                        </a:spcBef>
                      </a:pPr>
                      <a:endParaRPr sz="1100">
                        <a:latin typeface="Times New Roman"/>
                        <a:cs typeface="Times New Roman"/>
                      </a:endParaRPr>
                    </a:p>
                    <a:p>
                      <a:pPr algn="ctr">
                        <a:lnSpc>
                          <a:spcPct val="100000"/>
                        </a:lnSpc>
                      </a:pPr>
                      <a:r>
                        <a:rPr sz="1100" spc="-50" dirty="0">
                          <a:latin typeface="Times New Roman"/>
                          <a:cs typeface="Times New Roman"/>
                        </a:rPr>
                        <a:t>5</a:t>
                      </a:r>
                      <a:endParaRPr sz="1100">
                        <a:latin typeface="Times New Roman"/>
                        <a:cs typeface="Times New Roman"/>
                      </a:endParaRPr>
                    </a:p>
                  </a:txBody>
                  <a:tcPr marL="0" marR="0" marT="66675" marB="0">
                    <a:lnL w="6350">
                      <a:solidFill>
                        <a:srgbClr val="999999"/>
                      </a:solidFill>
                      <a:prstDash val="solid"/>
                    </a:lnL>
                    <a:lnR w="6350">
                      <a:solidFill>
                        <a:srgbClr val="999999"/>
                      </a:solidFill>
                      <a:prstDash val="solid"/>
                    </a:lnR>
                    <a:lnT w="6350">
                      <a:solidFill>
                        <a:srgbClr val="999999"/>
                      </a:solidFill>
                      <a:prstDash val="solid"/>
                    </a:lnT>
                    <a:lnB w="6350">
                      <a:solidFill>
                        <a:srgbClr val="999999"/>
                      </a:solidFill>
                      <a:prstDash val="solid"/>
                    </a:lnB>
                  </a:tcPr>
                </a:tc>
                <a:tc>
                  <a:txBody>
                    <a:bodyPr/>
                    <a:lstStyle/>
                    <a:p>
                      <a:pPr>
                        <a:lnSpc>
                          <a:spcPct val="100000"/>
                        </a:lnSpc>
                        <a:spcBef>
                          <a:spcPts val="550"/>
                        </a:spcBef>
                      </a:pPr>
                      <a:endParaRPr sz="1100">
                        <a:latin typeface="Times New Roman"/>
                        <a:cs typeface="Times New Roman"/>
                      </a:endParaRPr>
                    </a:p>
                    <a:p>
                      <a:pPr marL="63500">
                        <a:lnSpc>
                          <a:spcPct val="100000"/>
                        </a:lnSpc>
                      </a:pPr>
                      <a:r>
                        <a:rPr sz="1100" b="1" spc="-10" dirty="0">
                          <a:latin typeface="Times New Roman"/>
                          <a:cs typeface="Times New Roman"/>
                        </a:rPr>
                        <a:t>Design</a:t>
                      </a:r>
                      <a:endParaRPr sz="1100">
                        <a:latin typeface="Times New Roman"/>
                        <a:cs typeface="Times New Roman"/>
                      </a:endParaRPr>
                    </a:p>
                  </a:txBody>
                  <a:tcPr marL="0" marR="0" marT="69850" marB="0">
                    <a:lnL w="6350">
                      <a:solidFill>
                        <a:srgbClr val="999999"/>
                      </a:solidFill>
                      <a:prstDash val="solid"/>
                    </a:lnL>
                    <a:lnR w="6350">
                      <a:solidFill>
                        <a:srgbClr val="999999"/>
                      </a:solidFill>
                      <a:prstDash val="solid"/>
                    </a:lnR>
                    <a:lnT w="6350">
                      <a:solidFill>
                        <a:srgbClr val="999999"/>
                      </a:solidFill>
                      <a:prstDash val="solid"/>
                    </a:lnT>
                    <a:lnB w="6350">
                      <a:solidFill>
                        <a:srgbClr val="999999"/>
                      </a:solidFill>
                      <a:prstDash val="solid"/>
                    </a:lnB>
                  </a:tcPr>
                </a:tc>
                <a:tc>
                  <a:txBody>
                    <a:bodyPr/>
                    <a:lstStyle/>
                    <a:p>
                      <a:pPr marL="273685" lvl="1" indent="-210185">
                        <a:lnSpc>
                          <a:spcPct val="100000"/>
                        </a:lnSpc>
                        <a:spcBef>
                          <a:spcPts val="325"/>
                        </a:spcBef>
                        <a:buAutoNum type="arabicPeriod"/>
                        <a:tabLst>
                          <a:tab pos="273685" algn="l"/>
                        </a:tabLst>
                      </a:pPr>
                      <a:r>
                        <a:rPr sz="1100" dirty="0">
                          <a:latin typeface="Times New Roman"/>
                          <a:cs typeface="Times New Roman"/>
                        </a:rPr>
                        <a:t>Database</a:t>
                      </a:r>
                      <a:r>
                        <a:rPr sz="1100" spc="-25" dirty="0">
                          <a:latin typeface="Times New Roman"/>
                          <a:cs typeface="Times New Roman"/>
                        </a:rPr>
                        <a:t> </a:t>
                      </a:r>
                      <a:r>
                        <a:rPr sz="1100" dirty="0">
                          <a:latin typeface="Times New Roman"/>
                          <a:cs typeface="Times New Roman"/>
                        </a:rPr>
                        <a:t>Design</a:t>
                      </a:r>
                      <a:r>
                        <a:rPr sz="1100" spc="-25" dirty="0">
                          <a:latin typeface="Times New Roman"/>
                          <a:cs typeface="Times New Roman"/>
                        </a:rPr>
                        <a:t> </a:t>
                      </a:r>
                      <a:r>
                        <a:rPr sz="1100" spc="-10" dirty="0">
                          <a:latin typeface="Times New Roman"/>
                          <a:cs typeface="Times New Roman"/>
                        </a:rPr>
                        <a:t>Principles</a:t>
                      </a:r>
                      <a:endParaRPr sz="1100">
                        <a:latin typeface="Times New Roman"/>
                        <a:cs typeface="Times New Roman"/>
                      </a:endParaRPr>
                    </a:p>
                    <a:p>
                      <a:pPr marL="273685" lvl="1" indent="-210185">
                        <a:lnSpc>
                          <a:spcPct val="100000"/>
                        </a:lnSpc>
                        <a:spcBef>
                          <a:spcPts val="145"/>
                        </a:spcBef>
                        <a:buAutoNum type="arabicPeriod"/>
                        <a:tabLst>
                          <a:tab pos="273685" algn="l"/>
                        </a:tabLst>
                      </a:pPr>
                      <a:r>
                        <a:rPr sz="1100" dirty="0">
                          <a:latin typeface="Times New Roman"/>
                          <a:cs typeface="Times New Roman"/>
                        </a:rPr>
                        <a:t>ER</a:t>
                      </a:r>
                      <a:r>
                        <a:rPr sz="1100" spc="-25" dirty="0">
                          <a:latin typeface="Times New Roman"/>
                          <a:cs typeface="Times New Roman"/>
                        </a:rPr>
                        <a:t> </a:t>
                      </a:r>
                      <a:r>
                        <a:rPr sz="1100" dirty="0">
                          <a:latin typeface="Times New Roman"/>
                          <a:cs typeface="Times New Roman"/>
                        </a:rPr>
                        <a:t>Diagram</a:t>
                      </a:r>
                      <a:r>
                        <a:rPr sz="1100" spc="-30" dirty="0">
                          <a:latin typeface="Times New Roman"/>
                          <a:cs typeface="Times New Roman"/>
                        </a:rPr>
                        <a:t> </a:t>
                      </a:r>
                      <a:r>
                        <a:rPr sz="1100" dirty="0">
                          <a:latin typeface="Times New Roman"/>
                          <a:cs typeface="Times New Roman"/>
                        </a:rPr>
                        <a:t>/</a:t>
                      </a:r>
                      <a:r>
                        <a:rPr sz="1100" spc="-5" dirty="0">
                          <a:latin typeface="Times New Roman"/>
                          <a:cs typeface="Times New Roman"/>
                        </a:rPr>
                        <a:t> </a:t>
                      </a:r>
                      <a:r>
                        <a:rPr sz="1100" dirty="0">
                          <a:latin typeface="Times New Roman"/>
                          <a:cs typeface="Times New Roman"/>
                        </a:rPr>
                        <a:t>Database</a:t>
                      </a:r>
                      <a:r>
                        <a:rPr sz="1100" spc="-20" dirty="0">
                          <a:latin typeface="Times New Roman"/>
                          <a:cs typeface="Times New Roman"/>
                        </a:rPr>
                        <a:t> </a:t>
                      </a:r>
                      <a:r>
                        <a:rPr sz="1100" spc="-10" dirty="0">
                          <a:latin typeface="Times New Roman"/>
                          <a:cs typeface="Times New Roman"/>
                        </a:rPr>
                        <a:t>Schema</a:t>
                      </a:r>
                      <a:endParaRPr sz="1100">
                        <a:latin typeface="Times New Roman"/>
                        <a:cs typeface="Times New Roman"/>
                      </a:endParaRPr>
                    </a:p>
                    <a:p>
                      <a:pPr marL="273685" lvl="1" indent="-210185">
                        <a:lnSpc>
                          <a:spcPct val="100000"/>
                        </a:lnSpc>
                        <a:spcBef>
                          <a:spcPts val="145"/>
                        </a:spcBef>
                        <a:buAutoNum type="arabicPeriod"/>
                        <a:tabLst>
                          <a:tab pos="273685" algn="l"/>
                        </a:tabLst>
                      </a:pPr>
                      <a:r>
                        <a:rPr sz="1100" dirty="0">
                          <a:latin typeface="Times New Roman"/>
                          <a:cs typeface="Times New Roman"/>
                        </a:rPr>
                        <a:t>Design</a:t>
                      </a:r>
                      <a:r>
                        <a:rPr sz="1100" spc="-20" dirty="0">
                          <a:latin typeface="Times New Roman"/>
                          <a:cs typeface="Times New Roman"/>
                        </a:rPr>
                        <a:t> </a:t>
                      </a:r>
                      <a:r>
                        <a:rPr sz="1100" dirty="0">
                          <a:latin typeface="Times New Roman"/>
                          <a:cs typeface="Times New Roman"/>
                        </a:rPr>
                        <a:t>Decisions</a:t>
                      </a:r>
                      <a:r>
                        <a:rPr sz="1100" spc="-20" dirty="0">
                          <a:latin typeface="Times New Roman"/>
                          <a:cs typeface="Times New Roman"/>
                        </a:rPr>
                        <a:t> </a:t>
                      </a:r>
                      <a:r>
                        <a:rPr sz="1100" dirty="0">
                          <a:latin typeface="Times New Roman"/>
                          <a:cs typeface="Times New Roman"/>
                        </a:rPr>
                        <a:t>and</a:t>
                      </a:r>
                      <a:r>
                        <a:rPr sz="1100" spc="-25" dirty="0">
                          <a:latin typeface="Times New Roman"/>
                          <a:cs typeface="Times New Roman"/>
                        </a:rPr>
                        <a:t> </a:t>
                      </a:r>
                      <a:r>
                        <a:rPr sz="1100" spc="-10" dirty="0">
                          <a:latin typeface="Times New Roman"/>
                          <a:cs typeface="Times New Roman"/>
                        </a:rPr>
                        <a:t>Assumptions</a:t>
                      </a:r>
                      <a:endParaRPr sz="1100">
                        <a:latin typeface="Times New Roman"/>
                        <a:cs typeface="Times New Roman"/>
                      </a:endParaRPr>
                    </a:p>
                  </a:txBody>
                  <a:tcPr marL="0" marR="0" marT="41275" marB="0">
                    <a:lnL w="6350">
                      <a:solidFill>
                        <a:srgbClr val="999999"/>
                      </a:solidFill>
                      <a:prstDash val="solid"/>
                    </a:lnL>
                    <a:lnR w="6350">
                      <a:solidFill>
                        <a:srgbClr val="999999"/>
                      </a:solidFill>
                      <a:prstDash val="solid"/>
                    </a:lnR>
                    <a:lnT w="6350">
                      <a:solidFill>
                        <a:srgbClr val="999999"/>
                      </a:solidFill>
                      <a:prstDash val="solid"/>
                    </a:lnT>
                    <a:lnB w="6350">
                      <a:solidFill>
                        <a:srgbClr val="999999"/>
                      </a:solidFill>
                      <a:prstDash val="solid"/>
                    </a:lnB>
                  </a:tcPr>
                </a:tc>
                <a:tc>
                  <a:txBody>
                    <a:bodyPr/>
                    <a:lstStyle/>
                    <a:p>
                      <a:pPr>
                        <a:lnSpc>
                          <a:spcPct val="100000"/>
                        </a:lnSpc>
                        <a:spcBef>
                          <a:spcPts val="525"/>
                        </a:spcBef>
                      </a:pPr>
                      <a:endParaRPr sz="1100">
                        <a:latin typeface="Times New Roman"/>
                        <a:cs typeface="Times New Roman"/>
                      </a:endParaRPr>
                    </a:p>
                    <a:p>
                      <a:pPr algn="ctr">
                        <a:lnSpc>
                          <a:spcPct val="100000"/>
                        </a:lnSpc>
                      </a:pPr>
                      <a:r>
                        <a:rPr sz="1100" spc="-25" dirty="0">
                          <a:latin typeface="Times New Roman"/>
                          <a:cs typeface="Times New Roman"/>
                        </a:rPr>
                        <a:t>10</a:t>
                      </a:r>
                      <a:endParaRPr sz="1100">
                        <a:latin typeface="Times New Roman"/>
                        <a:cs typeface="Times New Roman"/>
                      </a:endParaRPr>
                    </a:p>
                  </a:txBody>
                  <a:tcPr marL="0" marR="0" marT="66675" marB="0">
                    <a:lnL w="6350">
                      <a:solidFill>
                        <a:srgbClr val="999999"/>
                      </a:solidFill>
                      <a:prstDash val="solid"/>
                    </a:lnL>
                    <a:lnR w="6350">
                      <a:solidFill>
                        <a:srgbClr val="999999"/>
                      </a:solidFill>
                      <a:prstDash val="solid"/>
                    </a:lnR>
                    <a:lnT w="6350">
                      <a:solidFill>
                        <a:srgbClr val="999999"/>
                      </a:solidFill>
                      <a:prstDash val="solid"/>
                    </a:lnT>
                    <a:lnB w="6350">
                      <a:solidFill>
                        <a:srgbClr val="999999"/>
                      </a:solidFill>
                      <a:prstDash val="solid"/>
                    </a:lnB>
                  </a:tcPr>
                </a:tc>
                <a:extLst>
                  <a:ext uri="{0D108BD9-81ED-4DB2-BD59-A6C34878D82A}">
                    <a16:rowId xmlns:a16="http://schemas.microsoft.com/office/drawing/2014/main" val="10007"/>
                  </a:ext>
                </a:extLst>
              </a:tr>
              <a:tr h="853440">
                <a:tc>
                  <a:txBody>
                    <a:bodyPr/>
                    <a:lstStyle/>
                    <a:p>
                      <a:pPr>
                        <a:lnSpc>
                          <a:spcPct val="100000"/>
                        </a:lnSpc>
                        <a:spcBef>
                          <a:spcPts val="1255"/>
                        </a:spcBef>
                      </a:pPr>
                      <a:endParaRPr sz="1100">
                        <a:latin typeface="Times New Roman"/>
                        <a:cs typeface="Times New Roman"/>
                      </a:endParaRPr>
                    </a:p>
                    <a:p>
                      <a:pPr algn="ctr">
                        <a:lnSpc>
                          <a:spcPct val="100000"/>
                        </a:lnSpc>
                        <a:spcBef>
                          <a:spcPts val="5"/>
                        </a:spcBef>
                      </a:pPr>
                      <a:r>
                        <a:rPr sz="1100" spc="-50" dirty="0">
                          <a:latin typeface="Times New Roman"/>
                          <a:cs typeface="Times New Roman"/>
                        </a:rPr>
                        <a:t>6</a:t>
                      </a:r>
                      <a:endParaRPr sz="1100">
                        <a:latin typeface="Times New Roman"/>
                        <a:cs typeface="Times New Roman"/>
                      </a:endParaRPr>
                    </a:p>
                  </a:txBody>
                  <a:tcPr marL="0" marR="0" marT="159385" marB="0">
                    <a:lnL w="6350">
                      <a:solidFill>
                        <a:srgbClr val="999999"/>
                      </a:solidFill>
                      <a:prstDash val="solid"/>
                    </a:lnL>
                    <a:lnR w="6350">
                      <a:solidFill>
                        <a:srgbClr val="999999"/>
                      </a:solidFill>
                      <a:prstDash val="solid"/>
                    </a:lnR>
                    <a:lnT w="6350">
                      <a:solidFill>
                        <a:srgbClr val="999999"/>
                      </a:solidFill>
                      <a:prstDash val="solid"/>
                    </a:lnT>
                    <a:lnB w="6350">
                      <a:solidFill>
                        <a:srgbClr val="999999"/>
                      </a:solidFill>
                      <a:prstDash val="solid"/>
                    </a:lnB>
                  </a:tcPr>
                </a:tc>
                <a:tc>
                  <a:txBody>
                    <a:bodyPr/>
                    <a:lstStyle/>
                    <a:p>
                      <a:pPr>
                        <a:lnSpc>
                          <a:spcPct val="100000"/>
                        </a:lnSpc>
                      </a:pPr>
                      <a:endParaRPr sz="1100">
                        <a:latin typeface="Times New Roman"/>
                        <a:cs typeface="Times New Roman"/>
                      </a:endParaRPr>
                    </a:p>
                    <a:p>
                      <a:pPr>
                        <a:lnSpc>
                          <a:spcPct val="100000"/>
                        </a:lnSpc>
                        <a:spcBef>
                          <a:spcPts val="15"/>
                        </a:spcBef>
                      </a:pPr>
                      <a:endParaRPr sz="1100">
                        <a:latin typeface="Times New Roman"/>
                        <a:cs typeface="Times New Roman"/>
                      </a:endParaRPr>
                    </a:p>
                    <a:p>
                      <a:pPr marL="63500">
                        <a:lnSpc>
                          <a:spcPct val="100000"/>
                        </a:lnSpc>
                      </a:pPr>
                      <a:r>
                        <a:rPr sz="1100" b="1" spc="-10" dirty="0">
                          <a:latin typeface="Times New Roman"/>
                          <a:cs typeface="Times New Roman"/>
                        </a:rPr>
                        <a:t>Implementation</a:t>
                      </a:r>
                      <a:endParaRPr sz="1100">
                        <a:latin typeface="Times New Roman"/>
                        <a:cs typeface="Times New Roman"/>
                      </a:endParaRPr>
                    </a:p>
                  </a:txBody>
                  <a:tcPr marL="0" marR="0" marT="0" marB="0">
                    <a:lnL w="6350">
                      <a:solidFill>
                        <a:srgbClr val="999999"/>
                      </a:solidFill>
                      <a:prstDash val="solid"/>
                    </a:lnL>
                    <a:lnR w="6350">
                      <a:solidFill>
                        <a:srgbClr val="999999"/>
                      </a:solidFill>
                      <a:prstDash val="solid"/>
                    </a:lnR>
                    <a:lnT w="6350">
                      <a:solidFill>
                        <a:srgbClr val="999999"/>
                      </a:solidFill>
                      <a:prstDash val="solid"/>
                    </a:lnT>
                    <a:lnB w="6350">
                      <a:solidFill>
                        <a:srgbClr val="999999"/>
                      </a:solidFill>
                      <a:prstDash val="solid"/>
                    </a:lnB>
                  </a:tcPr>
                </a:tc>
                <a:tc>
                  <a:txBody>
                    <a:bodyPr/>
                    <a:lstStyle/>
                    <a:p>
                      <a:pPr marL="273685" lvl="1" indent="-210185">
                        <a:lnSpc>
                          <a:spcPct val="100000"/>
                        </a:lnSpc>
                        <a:spcBef>
                          <a:spcPts val="325"/>
                        </a:spcBef>
                        <a:buAutoNum type="arabicPeriod"/>
                        <a:tabLst>
                          <a:tab pos="273685" algn="l"/>
                        </a:tabLst>
                      </a:pPr>
                      <a:r>
                        <a:rPr sz="1100" spc="-10" dirty="0">
                          <a:latin typeface="Times New Roman"/>
                          <a:cs typeface="Times New Roman"/>
                        </a:rPr>
                        <a:t>Module-</a:t>
                      </a:r>
                      <a:r>
                        <a:rPr sz="1100" dirty="0">
                          <a:latin typeface="Times New Roman"/>
                          <a:cs typeface="Times New Roman"/>
                        </a:rPr>
                        <a:t>wise</a:t>
                      </a:r>
                      <a:r>
                        <a:rPr sz="1100" spc="35" dirty="0">
                          <a:latin typeface="Times New Roman"/>
                          <a:cs typeface="Times New Roman"/>
                        </a:rPr>
                        <a:t> </a:t>
                      </a:r>
                      <a:r>
                        <a:rPr sz="1100" spc="-10" dirty="0">
                          <a:latin typeface="Times New Roman"/>
                          <a:cs typeface="Times New Roman"/>
                        </a:rPr>
                        <a:t>Implementation</a:t>
                      </a:r>
                      <a:endParaRPr sz="1100">
                        <a:latin typeface="Times New Roman"/>
                        <a:cs typeface="Times New Roman"/>
                      </a:endParaRPr>
                    </a:p>
                    <a:p>
                      <a:pPr marL="273685" lvl="1" indent="-210185">
                        <a:lnSpc>
                          <a:spcPct val="100000"/>
                        </a:lnSpc>
                        <a:spcBef>
                          <a:spcPts val="145"/>
                        </a:spcBef>
                        <a:buAutoNum type="arabicPeriod"/>
                        <a:tabLst>
                          <a:tab pos="273685" algn="l"/>
                        </a:tabLst>
                      </a:pPr>
                      <a:r>
                        <a:rPr sz="1100" spc="-10" dirty="0">
                          <a:latin typeface="Times New Roman"/>
                          <a:cs typeface="Times New Roman"/>
                        </a:rPr>
                        <a:t>Front-</a:t>
                      </a:r>
                      <a:r>
                        <a:rPr sz="1100" dirty="0">
                          <a:latin typeface="Times New Roman"/>
                          <a:cs typeface="Times New Roman"/>
                        </a:rPr>
                        <a:t>end</a:t>
                      </a:r>
                      <a:r>
                        <a:rPr sz="1100" spc="40" dirty="0">
                          <a:latin typeface="Times New Roman"/>
                          <a:cs typeface="Times New Roman"/>
                        </a:rPr>
                        <a:t> </a:t>
                      </a:r>
                      <a:r>
                        <a:rPr sz="1100" spc="-10" dirty="0">
                          <a:latin typeface="Times New Roman"/>
                          <a:cs typeface="Times New Roman"/>
                        </a:rPr>
                        <a:t>Logic</a:t>
                      </a:r>
                      <a:endParaRPr sz="1100">
                        <a:latin typeface="Times New Roman"/>
                        <a:cs typeface="Times New Roman"/>
                      </a:endParaRPr>
                    </a:p>
                    <a:p>
                      <a:pPr marL="273685" lvl="1" indent="-210185">
                        <a:lnSpc>
                          <a:spcPct val="100000"/>
                        </a:lnSpc>
                        <a:spcBef>
                          <a:spcPts val="145"/>
                        </a:spcBef>
                        <a:buAutoNum type="arabicPeriod"/>
                        <a:tabLst>
                          <a:tab pos="273685" algn="l"/>
                        </a:tabLst>
                      </a:pPr>
                      <a:r>
                        <a:rPr sz="1100" dirty="0">
                          <a:latin typeface="Times New Roman"/>
                          <a:cs typeface="Times New Roman"/>
                        </a:rPr>
                        <a:t>API</a:t>
                      </a:r>
                      <a:r>
                        <a:rPr sz="1100" spc="-30" dirty="0">
                          <a:latin typeface="Times New Roman"/>
                          <a:cs typeface="Times New Roman"/>
                        </a:rPr>
                        <a:t> </a:t>
                      </a:r>
                      <a:r>
                        <a:rPr sz="1100" spc="-10" dirty="0">
                          <a:latin typeface="Times New Roman"/>
                          <a:cs typeface="Times New Roman"/>
                        </a:rPr>
                        <a:t>Integration</a:t>
                      </a:r>
                      <a:endParaRPr sz="1100">
                        <a:latin typeface="Times New Roman"/>
                        <a:cs typeface="Times New Roman"/>
                      </a:endParaRPr>
                    </a:p>
                    <a:p>
                      <a:pPr marL="273685" lvl="1" indent="-210185">
                        <a:lnSpc>
                          <a:spcPct val="100000"/>
                        </a:lnSpc>
                        <a:spcBef>
                          <a:spcPts val="145"/>
                        </a:spcBef>
                        <a:buAutoNum type="arabicPeriod"/>
                        <a:tabLst>
                          <a:tab pos="273685" algn="l"/>
                        </a:tabLst>
                      </a:pPr>
                      <a:r>
                        <a:rPr sz="1100" dirty="0">
                          <a:latin typeface="Times New Roman"/>
                          <a:cs typeface="Times New Roman"/>
                        </a:rPr>
                        <a:t>Authentication</a:t>
                      </a:r>
                      <a:r>
                        <a:rPr sz="1100" spc="-15" dirty="0">
                          <a:latin typeface="Times New Roman"/>
                          <a:cs typeface="Times New Roman"/>
                        </a:rPr>
                        <a:t> </a:t>
                      </a:r>
                      <a:r>
                        <a:rPr sz="1100" dirty="0">
                          <a:latin typeface="Times New Roman"/>
                          <a:cs typeface="Times New Roman"/>
                        </a:rPr>
                        <a:t>and</a:t>
                      </a:r>
                      <a:r>
                        <a:rPr sz="1100" spc="-10" dirty="0">
                          <a:latin typeface="Times New Roman"/>
                          <a:cs typeface="Times New Roman"/>
                        </a:rPr>
                        <a:t> Authorization</a:t>
                      </a:r>
                      <a:endParaRPr sz="1100">
                        <a:latin typeface="Times New Roman"/>
                        <a:cs typeface="Times New Roman"/>
                      </a:endParaRPr>
                    </a:p>
                  </a:txBody>
                  <a:tcPr marL="0" marR="0" marT="41275" marB="0">
                    <a:lnL w="6350">
                      <a:solidFill>
                        <a:srgbClr val="999999"/>
                      </a:solidFill>
                      <a:prstDash val="solid"/>
                    </a:lnL>
                    <a:lnR w="6350">
                      <a:solidFill>
                        <a:srgbClr val="999999"/>
                      </a:solidFill>
                      <a:prstDash val="solid"/>
                    </a:lnR>
                    <a:lnT w="6350">
                      <a:solidFill>
                        <a:srgbClr val="999999"/>
                      </a:solidFill>
                      <a:prstDash val="solid"/>
                    </a:lnT>
                    <a:lnB w="6350">
                      <a:solidFill>
                        <a:srgbClr val="999999"/>
                      </a:solidFill>
                      <a:prstDash val="solid"/>
                    </a:lnB>
                  </a:tcPr>
                </a:tc>
                <a:tc>
                  <a:txBody>
                    <a:bodyPr/>
                    <a:lstStyle/>
                    <a:p>
                      <a:pPr>
                        <a:lnSpc>
                          <a:spcPct val="100000"/>
                        </a:lnSpc>
                        <a:spcBef>
                          <a:spcPts val="1255"/>
                        </a:spcBef>
                      </a:pPr>
                      <a:endParaRPr sz="1100">
                        <a:latin typeface="Times New Roman"/>
                        <a:cs typeface="Times New Roman"/>
                      </a:endParaRPr>
                    </a:p>
                    <a:p>
                      <a:pPr algn="ctr">
                        <a:lnSpc>
                          <a:spcPct val="100000"/>
                        </a:lnSpc>
                        <a:spcBef>
                          <a:spcPts val="5"/>
                        </a:spcBef>
                      </a:pPr>
                      <a:r>
                        <a:rPr sz="1100" spc="-25" dirty="0">
                          <a:latin typeface="Times New Roman"/>
                          <a:cs typeface="Times New Roman"/>
                        </a:rPr>
                        <a:t>12</a:t>
                      </a:r>
                      <a:endParaRPr sz="1100">
                        <a:latin typeface="Times New Roman"/>
                        <a:cs typeface="Times New Roman"/>
                      </a:endParaRPr>
                    </a:p>
                  </a:txBody>
                  <a:tcPr marL="0" marR="0" marT="159385" marB="0">
                    <a:lnL w="6350">
                      <a:solidFill>
                        <a:srgbClr val="999999"/>
                      </a:solidFill>
                      <a:prstDash val="solid"/>
                    </a:lnL>
                    <a:lnR w="6350">
                      <a:solidFill>
                        <a:srgbClr val="999999"/>
                      </a:solidFill>
                      <a:prstDash val="solid"/>
                    </a:lnR>
                    <a:lnT w="6350">
                      <a:solidFill>
                        <a:srgbClr val="999999"/>
                      </a:solidFill>
                      <a:prstDash val="solid"/>
                    </a:lnT>
                    <a:lnB w="6350">
                      <a:solidFill>
                        <a:srgbClr val="999999"/>
                      </a:solidFill>
                      <a:prstDash val="solid"/>
                    </a:lnB>
                  </a:tcPr>
                </a:tc>
                <a:extLst>
                  <a:ext uri="{0D108BD9-81ED-4DB2-BD59-A6C34878D82A}">
                    <a16:rowId xmlns:a16="http://schemas.microsoft.com/office/drawing/2014/main" val="10008"/>
                  </a:ext>
                </a:extLst>
              </a:tr>
              <a:tr h="479425">
                <a:tc>
                  <a:txBody>
                    <a:bodyPr/>
                    <a:lstStyle/>
                    <a:p>
                      <a:pPr algn="ctr">
                        <a:lnSpc>
                          <a:spcPct val="100000"/>
                        </a:lnSpc>
                        <a:spcBef>
                          <a:spcPts val="1045"/>
                        </a:spcBef>
                      </a:pPr>
                      <a:r>
                        <a:rPr sz="1100" spc="-50" dirty="0">
                          <a:latin typeface="Times New Roman"/>
                          <a:cs typeface="Times New Roman"/>
                        </a:rPr>
                        <a:t>7</a:t>
                      </a:r>
                      <a:endParaRPr sz="1100">
                        <a:latin typeface="Times New Roman"/>
                        <a:cs typeface="Times New Roman"/>
                      </a:endParaRPr>
                    </a:p>
                  </a:txBody>
                  <a:tcPr marL="0" marR="0" marT="132715" marB="0">
                    <a:lnL w="6350">
                      <a:solidFill>
                        <a:srgbClr val="999999"/>
                      </a:solidFill>
                      <a:prstDash val="solid"/>
                    </a:lnL>
                    <a:lnR w="6350">
                      <a:solidFill>
                        <a:srgbClr val="999999"/>
                      </a:solidFill>
                      <a:prstDash val="solid"/>
                    </a:lnR>
                    <a:lnT w="6350">
                      <a:solidFill>
                        <a:srgbClr val="999999"/>
                      </a:solidFill>
                      <a:prstDash val="solid"/>
                    </a:lnT>
                    <a:lnB w="6350">
                      <a:solidFill>
                        <a:srgbClr val="999999"/>
                      </a:solidFill>
                      <a:prstDash val="solid"/>
                    </a:lnB>
                  </a:tcPr>
                </a:tc>
                <a:tc>
                  <a:txBody>
                    <a:bodyPr/>
                    <a:lstStyle/>
                    <a:p>
                      <a:pPr marL="63500">
                        <a:lnSpc>
                          <a:spcPct val="100000"/>
                        </a:lnSpc>
                        <a:spcBef>
                          <a:spcPts val="1070"/>
                        </a:spcBef>
                      </a:pPr>
                      <a:r>
                        <a:rPr sz="1100" b="1" spc="-10" dirty="0">
                          <a:latin typeface="Times New Roman"/>
                          <a:cs typeface="Times New Roman"/>
                        </a:rPr>
                        <a:t>Features</a:t>
                      </a:r>
                      <a:endParaRPr sz="1100">
                        <a:latin typeface="Times New Roman"/>
                        <a:cs typeface="Times New Roman"/>
                      </a:endParaRPr>
                    </a:p>
                  </a:txBody>
                  <a:tcPr marL="0" marR="0" marT="135890" marB="0">
                    <a:lnL w="6350">
                      <a:solidFill>
                        <a:srgbClr val="999999"/>
                      </a:solidFill>
                      <a:prstDash val="solid"/>
                    </a:lnL>
                    <a:lnR w="6350">
                      <a:solidFill>
                        <a:srgbClr val="999999"/>
                      </a:solidFill>
                      <a:prstDash val="solid"/>
                    </a:lnR>
                    <a:lnT w="6350">
                      <a:solidFill>
                        <a:srgbClr val="999999"/>
                      </a:solidFill>
                      <a:prstDash val="solid"/>
                    </a:lnT>
                    <a:lnB w="6350">
                      <a:solidFill>
                        <a:srgbClr val="999999"/>
                      </a:solidFill>
                      <a:prstDash val="solid"/>
                    </a:lnB>
                  </a:tcPr>
                </a:tc>
                <a:tc>
                  <a:txBody>
                    <a:bodyPr/>
                    <a:lstStyle/>
                    <a:p>
                      <a:pPr marL="273685" lvl="1" indent="-210185">
                        <a:lnSpc>
                          <a:spcPct val="100000"/>
                        </a:lnSpc>
                        <a:spcBef>
                          <a:spcPts val="315"/>
                        </a:spcBef>
                        <a:buAutoNum type="arabicPeriod"/>
                        <a:tabLst>
                          <a:tab pos="273685" algn="l"/>
                        </a:tabLst>
                      </a:pPr>
                      <a:r>
                        <a:rPr sz="1100" dirty="0">
                          <a:latin typeface="Times New Roman"/>
                          <a:cs typeface="Times New Roman"/>
                        </a:rPr>
                        <a:t>List</a:t>
                      </a:r>
                      <a:r>
                        <a:rPr sz="1100" spc="-5" dirty="0">
                          <a:latin typeface="Times New Roman"/>
                          <a:cs typeface="Times New Roman"/>
                        </a:rPr>
                        <a:t> </a:t>
                      </a:r>
                      <a:r>
                        <a:rPr sz="1100" dirty="0">
                          <a:latin typeface="Times New Roman"/>
                          <a:cs typeface="Times New Roman"/>
                        </a:rPr>
                        <a:t>of</a:t>
                      </a:r>
                      <a:r>
                        <a:rPr sz="1100" spc="-5" dirty="0">
                          <a:latin typeface="Times New Roman"/>
                          <a:cs typeface="Times New Roman"/>
                        </a:rPr>
                        <a:t> </a:t>
                      </a:r>
                      <a:r>
                        <a:rPr sz="1100" dirty="0">
                          <a:latin typeface="Times New Roman"/>
                          <a:cs typeface="Times New Roman"/>
                        </a:rPr>
                        <a:t>Main</a:t>
                      </a:r>
                      <a:r>
                        <a:rPr sz="1100" spc="-5" dirty="0">
                          <a:latin typeface="Times New Roman"/>
                          <a:cs typeface="Times New Roman"/>
                        </a:rPr>
                        <a:t> </a:t>
                      </a:r>
                      <a:r>
                        <a:rPr sz="1100" spc="-10" dirty="0">
                          <a:latin typeface="Times New Roman"/>
                          <a:cs typeface="Times New Roman"/>
                        </a:rPr>
                        <a:t>Features</a:t>
                      </a:r>
                      <a:endParaRPr sz="1100">
                        <a:latin typeface="Times New Roman"/>
                        <a:cs typeface="Times New Roman"/>
                      </a:endParaRPr>
                    </a:p>
                    <a:p>
                      <a:pPr marL="273685" lvl="1" indent="-210185">
                        <a:lnSpc>
                          <a:spcPct val="100000"/>
                        </a:lnSpc>
                        <a:spcBef>
                          <a:spcPts val="145"/>
                        </a:spcBef>
                        <a:buAutoNum type="arabicPeriod"/>
                        <a:tabLst>
                          <a:tab pos="273685" algn="l"/>
                        </a:tabLst>
                      </a:pPr>
                      <a:r>
                        <a:rPr sz="1100" dirty="0">
                          <a:latin typeface="Times New Roman"/>
                          <a:cs typeface="Times New Roman"/>
                        </a:rPr>
                        <a:t>How</a:t>
                      </a:r>
                      <a:r>
                        <a:rPr sz="1100" spc="-25" dirty="0">
                          <a:latin typeface="Times New Roman"/>
                          <a:cs typeface="Times New Roman"/>
                        </a:rPr>
                        <a:t> </a:t>
                      </a:r>
                      <a:r>
                        <a:rPr sz="1100" dirty="0">
                          <a:latin typeface="Times New Roman"/>
                          <a:cs typeface="Times New Roman"/>
                        </a:rPr>
                        <a:t>Each</a:t>
                      </a:r>
                      <a:r>
                        <a:rPr sz="1100" spc="-15" dirty="0">
                          <a:latin typeface="Times New Roman"/>
                          <a:cs typeface="Times New Roman"/>
                        </a:rPr>
                        <a:t> </a:t>
                      </a:r>
                      <a:r>
                        <a:rPr sz="1100" dirty="0">
                          <a:latin typeface="Times New Roman"/>
                          <a:cs typeface="Times New Roman"/>
                        </a:rPr>
                        <a:t>Feature</a:t>
                      </a:r>
                      <a:r>
                        <a:rPr sz="1100" spc="-30" dirty="0">
                          <a:latin typeface="Times New Roman"/>
                          <a:cs typeface="Times New Roman"/>
                        </a:rPr>
                        <a:t> </a:t>
                      </a:r>
                      <a:r>
                        <a:rPr sz="1100" spc="-20" dirty="0">
                          <a:latin typeface="Times New Roman"/>
                          <a:cs typeface="Times New Roman"/>
                        </a:rPr>
                        <a:t>Works</a:t>
                      </a:r>
                      <a:endParaRPr sz="1100">
                        <a:latin typeface="Times New Roman"/>
                        <a:cs typeface="Times New Roman"/>
                      </a:endParaRPr>
                    </a:p>
                  </a:txBody>
                  <a:tcPr marL="0" marR="0" marT="40005" marB="0">
                    <a:lnL w="6350">
                      <a:solidFill>
                        <a:srgbClr val="999999"/>
                      </a:solidFill>
                      <a:prstDash val="solid"/>
                    </a:lnL>
                    <a:lnR w="6350">
                      <a:solidFill>
                        <a:srgbClr val="999999"/>
                      </a:solidFill>
                      <a:prstDash val="solid"/>
                    </a:lnR>
                    <a:lnT w="6350">
                      <a:solidFill>
                        <a:srgbClr val="999999"/>
                      </a:solidFill>
                      <a:prstDash val="solid"/>
                    </a:lnT>
                    <a:lnB w="6350">
                      <a:solidFill>
                        <a:srgbClr val="999999"/>
                      </a:solidFill>
                      <a:prstDash val="solid"/>
                    </a:lnB>
                  </a:tcPr>
                </a:tc>
                <a:tc>
                  <a:txBody>
                    <a:bodyPr/>
                    <a:lstStyle/>
                    <a:p>
                      <a:pPr algn="ctr">
                        <a:lnSpc>
                          <a:spcPct val="100000"/>
                        </a:lnSpc>
                        <a:spcBef>
                          <a:spcPts val="1045"/>
                        </a:spcBef>
                      </a:pPr>
                      <a:r>
                        <a:rPr sz="1100" spc="-25" dirty="0">
                          <a:latin typeface="Times New Roman"/>
                          <a:cs typeface="Times New Roman"/>
                        </a:rPr>
                        <a:t>13</a:t>
                      </a:r>
                      <a:endParaRPr sz="1100">
                        <a:latin typeface="Times New Roman"/>
                        <a:cs typeface="Times New Roman"/>
                      </a:endParaRPr>
                    </a:p>
                  </a:txBody>
                  <a:tcPr marL="0" marR="0" marT="132715" marB="0">
                    <a:lnL w="6350">
                      <a:solidFill>
                        <a:srgbClr val="999999"/>
                      </a:solidFill>
                      <a:prstDash val="solid"/>
                    </a:lnL>
                    <a:lnR w="6350">
                      <a:solidFill>
                        <a:srgbClr val="999999"/>
                      </a:solidFill>
                      <a:prstDash val="solid"/>
                    </a:lnR>
                    <a:lnT w="6350">
                      <a:solidFill>
                        <a:srgbClr val="999999"/>
                      </a:solidFill>
                      <a:prstDash val="solid"/>
                    </a:lnT>
                    <a:lnB w="6350">
                      <a:solidFill>
                        <a:srgbClr val="999999"/>
                      </a:solidFill>
                      <a:prstDash val="solid"/>
                    </a:lnB>
                  </a:tcPr>
                </a:tc>
                <a:extLst>
                  <a:ext uri="{0D108BD9-81ED-4DB2-BD59-A6C34878D82A}">
                    <a16:rowId xmlns:a16="http://schemas.microsoft.com/office/drawing/2014/main" val="10009"/>
                  </a:ext>
                </a:extLst>
              </a:tr>
              <a:tr h="851535">
                <a:tc>
                  <a:txBody>
                    <a:bodyPr/>
                    <a:lstStyle/>
                    <a:p>
                      <a:pPr>
                        <a:lnSpc>
                          <a:spcPct val="100000"/>
                        </a:lnSpc>
                        <a:spcBef>
                          <a:spcPts val="1245"/>
                        </a:spcBef>
                      </a:pPr>
                      <a:endParaRPr sz="1100">
                        <a:latin typeface="Times New Roman"/>
                        <a:cs typeface="Times New Roman"/>
                      </a:endParaRPr>
                    </a:p>
                    <a:p>
                      <a:pPr algn="ctr">
                        <a:lnSpc>
                          <a:spcPct val="100000"/>
                        </a:lnSpc>
                      </a:pPr>
                      <a:r>
                        <a:rPr sz="1100" spc="-50" dirty="0">
                          <a:latin typeface="Times New Roman"/>
                          <a:cs typeface="Times New Roman"/>
                        </a:rPr>
                        <a:t>8</a:t>
                      </a:r>
                      <a:endParaRPr sz="1100">
                        <a:latin typeface="Times New Roman"/>
                        <a:cs typeface="Times New Roman"/>
                      </a:endParaRPr>
                    </a:p>
                  </a:txBody>
                  <a:tcPr marL="0" marR="0" marT="158115" marB="0">
                    <a:lnL w="6350">
                      <a:solidFill>
                        <a:srgbClr val="999999"/>
                      </a:solidFill>
                      <a:prstDash val="solid"/>
                    </a:lnL>
                    <a:lnR w="6350">
                      <a:solidFill>
                        <a:srgbClr val="999999"/>
                      </a:solidFill>
                      <a:prstDash val="solid"/>
                    </a:lnR>
                    <a:lnT w="6350">
                      <a:solidFill>
                        <a:srgbClr val="999999"/>
                      </a:solidFill>
                      <a:prstDash val="solid"/>
                    </a:lnT>
                    <a:lnB w="6350">
                      <a:solidFill>
                        <a:srgbClr val="999999"/>
                      </a:solidFill>
                      <a:prstDash val="solid"/>
                    </a:lnB>
                  </a:tcPr>
                </a:tc>
                <a:tc>
                  <a:txBody>
                    <a:bodyPr/>
                    <a:lstStyle/>
                    <a:p>
                      <a:pPr>
                        <a:lnSpc>
                          <a:spcPct val="100000"/>
                        </a:lnSpc>
                      </a:pPr>
                      <a:endParaRPr sz="1100">
                        <a:latin typeface="Times New Roman"/>
                        <a:cs typeface="Times New Roman"/>
                      </a:endParaRPr>
                    </a:p>
                    <a:p>
                      <a:pPr>
                        <a:lnSpc>
                          <a:spcPct val="100000"/>
                        </a:lnSpc>
                        <a:spcBef>
                          <a:spcPts val="5"/>
                        </a:spcBef>
                      </a:pPr>
                      <a:endParaRPr sz="1100">
                        <a:latin typeface="Times New Roman"/>
                        <a:cs typeface="Times New Roman"/>
                      </a:endParaRPr>
                    </a:p>
                    <a:p>
                      <a:pPr marL="63500">
                        <a:lnSpc>
                          <a:spcPct val="100000"/>
                        </a:lnSpc>
                      </a:pPr>
                      <a:r>
                        <a:rPr sz="1100" b="1" spc="-10" dirty="0">
                          <a:latin typeface="Times New Roman"/>
                          <a:cs typeface="Times New Roman"/>
                        </a:rPr>
                        <a:t>Testing</a:t>
                      </a:r>
                      <a:endParaRPr sz="1100">
                        <a:latin typeface="Times New Roman"/>
                        <a:cs typeface="Times New Roman"/>
                      </a:endParaRPr>
                    </a:p>
                  </a:txBody>
                  <a:tcPr marL="0" marR="0" marT="0" marB="0">
                    <a:lnL w="6350">
                      <a:solidFill>
                        <a:srgbClr val="999999"/>
                      </a:solidFill>
                      <a:prstDash val="solid"/>
                    </a:lnL>
                    <a:lnR w="6350">
                      <a:solidFill>
                        <a:srgbClr val="999999"/>
                      </a:solidFill>
                      <a:prstDash val="solid"/>
                    </a:lnR>
                    <a:lnT w="6350">
                      <a:solidFill>
                        <a:srgbClr val="999999"/>
                      </a:solidFill>
                      <a:prstDash val="solid"/>
                    </a:lnT>
                    <a:lnB w="6350">
                      <a:solidFill>
                        <a:srgbClr val="999999"/>
                      </a:solidFill>
                      <a:prstDash val="solid"/>
                    </a:lnB>
                  </a:tcPr>
                </a:tc>
                <a:tc>
                  <a:txBody>
                    <a:bodyPr/>
                    <a:lstStyle/>
                    <a:p>
                      <a:pPr marL="273685" lvl="1" indent="-210185">
                        <a:lnSpc>
                          <a:spcPct val="100000"/>
                        </a:lnSpc>
                        <a:spcBef>
                          <a:spcPts val="315"/>
                        </a:spcBef>
                        <a:buAutoNum type="arabicPeriod"/>
                        <a:tabLst>
                          <a:tab pos="273685" algn="l"/>
                        </a:tabLst>
                      </a:pPr>
                      <a:r>
                        <a:rPr sz="1100" dirty="0">
                          <a:latin typeface="Times New Roman"/>
                          <a:cs typeface="Times New Roman"/>
                        </a:rPr>
                        <a:t>Postman</a:t>
                      </a:r>
                      <a:r>
                        <a:rPr sz="1100" spc="-15" dirty="0">
                          <a:latin typeface="Times New Roman"/>
                          <a:cs typeface="Times New Roman"/>
                        </a:rPr>
                        <a:t> </a:t>
                      </a:r>
                      <a:r>
                        <a:rPr sz="1100" dirty="0">
                          <a:latin typeface="Times New Roman"/>
                          <a:cs typeface="Times New Roman"/>
                        </a:rPr>
                        <a:t>API</a:t>
                      </a:r>
                      <a:r>
                        <a:rPr sz="1100" spc="-35" dirty="0">
                          <a:latin typeface="Times New Roman"/>
                          <a:cs typeface="Times New Roman"/>
                        </a:rPr>
                        <a:t> </a:t>
                      </a:r>
                      <a:r>
                        <a:rPr sz="1100" spc="-10" dirty="0">
                          <a:latin typeface="Times New Roman"/>
                          <a:cs typeface="Times New Roman"/>
                        </a:rPr>
                        <a:t>Testing</a:t>
                      </a:r>
                      <a:endParaRPr sz="1100">
                        <a:latin typeface="Times New Roman"/>
                        <a:cs typeface="Times New Roman"/>
                      </a:endParaRPr>
                    </a:p>
                    <a:p>
                      <a:pPr marL="273685" lvl="1" indent="-210185">
                        <a:lnSpc>
                          <a:spcPct val="100000"/>
                        </a:lnSpc>
                        <a:spcBef>
                          <a:spcPts val="145"/>
                        </a:spcBef>
                        <a:buAutoNum type="arabicPeriod"/>
                        <a:tabLst>
                          <a:tab pos="273685" algn="l"/>
                        </a:tabLst>
                      </a:pPr>
                      <a:r>
                        <a:rPr sz="1100" dirty="0">
                          <a:latin typeface="Times New Roman"/>
                          <a:cs typeface="Times New Roman"/>
                        </a:rPr>
                        <a:t>Integration</a:t>
                      </a:r>
                      <a:r>
                        <a:rPr sz="1100" spc="-15" dirty="0">
                          <a:latin typeface="Times New Roman"/>
                          <a:cs typeface="Times New Roman"/>
                        </a:rPr>
                        <a:t> </a:t>
                      </a:r>
                      <a:r>
                        <a:rPr sz="1100" spc="-10" dirty="0">
                          <a:latin typeface="Times New Roman"/>
                          <a:cs typeface="Times New Roman"/>
                        </a:rPr>
                        <a:t>Testing</a:t>
                      </a:r>
                      <a:endParaRPr sz="1100">
                        <a:latin typeface="Times New Roman"/>
                        <a:cs typeface="Times New Roman"/>
                      </a:endParaRPr>
                    </a:p>
                    <a:p>
                      <a:pPr marL="273685" lvl="1" indent="-210185">
                        <a:lnSpc>
                          <a:spcPct val="100000"/>
                        </a:lnSpc>
                        <a:spcBef>
                          <a:spcPts val="140"/>
                        </a:spcBef>
                        <a:buAutoNum type="arabicPeriod"/>
                        <a:tabLst>
                          <a:tab pos="273685" algn="l"/>
                        </a:tabLst>
                      </a:pPr>
                      <a:r>
                        <a:rPr sz="1100" dirty="0">
                          <a:latin typeface="Times New Roman"/>
                          <a:cs typeface="Times New Roman"/>
                        </a:rPr>
                        <a:t>Tools</a:t>
                      </a:r>
                      <a:r>
                        <a:rPr sz="1100" spc="-5" dirty="0">
                          <a:latin typeface="Times New Roman"/>
                          <a:cs typeface="Times New Roman"/>
                        </a:rPr>
                        <a:t> </a:t>
                      </a:r>
                      <a:r>
                        <a:rPr sz="1100" dirty="0">
                          <a:latin typeface="Times New Roman"/>
                          <a:cs typeface="Times New Roman"/>
                        </a:rPr>
                        <a:t>Used</a:t>
                      </a:r>
                      <a:r>
                        <a:rPr sz="1100" spc="-15" dirty="0">
                          <a:latin typeface="Times New Roman"/>
                          <a:cs typeface="Times New Roman"/>
                        </a:rPr>
                        <a:t> </a:t>
                      </a:r>
                      <a:r>
                        <a:rPr sz="1100" dirty="0">
                          <a:latin typeface="Times New Roman"/>
                          <a:cs typeface="Times New Roman"/>
                        </a:rPr>
                        <a:t>for</a:t>
                      </a:r>
                      <a:r>
                        <a:rPr sz="1100" spc="-15" dirty="0">
                          <a:latin typeface="Times New Roman"/>
                          <a:cs typeface="Times New Roman"/>
                        </a:rPr>
                        <a:t> </a:t>
                      </a:r>
                      <a:r>
                        <a:rPr sz="1100" spc="-10" dirty="0">
                          <a:latin typeface="Times New Roman"/>
                          <a:cs typeface="Times New Roman"/>
                        </a:rPr>
                        <a:t>Testing</a:t>
                      </a:r>
                      <a:endParaRPr sz="1100">
                        <a:latin typeface="Times New Roman"/>
                        <a:cs typeface="Times New Roman"/>
                      </a:endParaRPr>
                    </a:p>
                    <a:p>
                      <a:pPr marL="273685" lvl="1" indent="-210185">
                        <a:lnSpc>
                          <a:spcPct val="100000"/>
                        </a:lnSpc>
                        <a:spcBef>
                          <a:spcPts val="145"/>
                        </a:spcBef>
                        <a:buAutoNum type="arabicPeriod"/>
                        <a:tabLst>
                          <a:tab pos="273685" algn="l"/>
                        </a:tabLst>
                      </a:pPr>
                      <a:r>
                        <a:rPr sz="1100" dirty="0">
                          <a:latin typeface="Times New Roman"/>
                          <a:cs typeface="Times New Roman"/>
                        </a:rPr>
                        <a:t>Test</a:t>
                      </a:r>
                      <a:r>
                        <a:rPr sz="1100" spc="-10" dirty="0">
                          <a:latin typeface="Times New Roman"/>
                          <a:cs typeface="Times New Roman"/>
                        </a:rPr>
                        <a:t> </a:t>
                      </a:r>
                      <a:r>
                        <a:rPr sz="1100" dirty="0">
                          <a:latin typeface="Times New Roman"/>
                          <a:cs typeface="Times New Roman"/>
                        </a:rPr>
                        <a:t>Cases</a:t>
                      </a:r>
                      <a:r>
                        <a:rPr sz="1100" spc="-10" dirty="0">
                          <a:latin typeface="Times New Roman"/>
                          <a:cs typeface="Times New Roman"/>
                        </a:rPr>
                        <a:t> </a:t>
                      </a:r>
                      <a:r>
                        <a:rPr sz="1100" dirty="0">
                          <a:latin typeface="Times New Roman"/>
                          <a:cs typeface="Times New Roman"/>
                        </a:rPr>
                        <a:t>and</a:t>
                      </a:r>
                      <a:r>
                        <a:rPr sz="1100" spc="-15" dirty="0">
                          <a:latin typeface="Times New Roman"/>
                          <a:cs typeface="Times New Roman"/>
                        </a:rPr>
                        <a:t> </a:t>
                      </a:r>
                      <a:r>
                        <a:rPr sz="1100" spc="-10" dirty="0">
                          <a:latin typeface="Times New Roman"/>
                          <a:cs typeface="Times New Roman"/>
                        </a:rPr>
                        <a:t>Results</a:t>
                      </a:r>
                      <a:endParaRPr sz="1100">
                        <a:latin typeface="Times New Roman"/>
                        <a:cs typeface="Times New Roman"/>
                      </a:endParaRPr>
                    </a:p>
                  </a:txBody>
                  <a:tcPr marL="0" marR="0" marT="40005" marB="0">
                    <a:lnL w="6350">
                      <a:solidFill>
                        <a:srgbClr val="999999"/>
                      </a:solidFill>
                      <a:prstDash val="solid"/>
                    </a:lnL>
                    <a:lnR w="6350">
                      <a:solidFill>
                        <a:srgbClr val="999999"/>
                      </a:solidFill>
                      <a:prstDash val="solid"/>
                    </a:lnR>
                    <a:lnT w="6350">
                      <a:solidFill>
                        <a:srgbClr val="999999"/>
                      </a:solidFill>
                      <a:prstDash val="solid"/>
                    </a:lnT>
                    <a:lnB w="6350">
                      <a:solidFill>
                        <a:srgbClr val="999999"/>
                      </a:solidFill>
                      <a:prstDash val="solid"/>
                    </a:lnB>
                  </a:tcPr>
                </a:tc>
                <a:tc>
                  <a:txBody>
                    <a:bodyPr/>
                    <a:lstStyle/>
                    <a:p>
                      <a:pPr>
                        <a:lnSpc>
                          <a:spcPct val="100000"/>
                        </a:lnSpc>
                        <a:spcBef>
                          <a:spcPts val="1245"/>
                        </a:spcBef>
                      </a:pPr>
                      <a:endParaRPr sz="1100">
                        <a:latin typeface="Times New Roman"/>
                        <a:cs typeface="Times New Roman"/>
                      </a:endParaRPr>
                    </a:p>
                    <a:p>
                      <a:pPr algn="ctr">
                        <a:lnSpc>
                          <a:spcPct val="100000"/>
                        </a:lnSpc>
                      </a:pPr>
                      <a:r>
                        <a:rPr sz="1100" spc="-25" dirty="0">
                          <a:latin typeface="Times New Roman"/>
                          <a:cs typeface="Times New Roman"/>
                        </a:rPr>
                        <a:t>15</a:t>
                      </a:r>
                      <a:endParaRPr sz="1100">
                        <a:latin typeface="Times New Roman"/>
                        <a:cs typeface="Times New Roman"/>
                      </a:endParaRPr>
                    </a:p>
                  </a:txBody>
                  <a:tcPr marL="0" marR="0" marT="158115" marB="0">
                    <a:lnL w="6350">
                      <a:solidFill>
                        <a:srgbClr val="999999"/>
                      </a:solidFill>
                      <a:prstDash val="solid"/>
                    </a:lnL>
                    <a:lnR w="6350">
                      <a:solidFill>
                        <a:srgbClr val="999999"/>
                      </a:solidFill>
                      <a:prstDash val="solid"/>
                    </a:lnR>
                    <a:lnT w="6350">
                      <a:solidFill>
                        <a:srgbClr val="999999"/>
                      </a:solidFill>
                      <a:prstDash val="solid"/>
                    </a:lnT>
                    <a:lnB w="6350">
                      <a:solidFill>
                        <a:srgbClr val="999999"/>
                      </a:solidFill>
                      <a:prstDash val="solid"/>
                    </a:lnB>
                  </a:tcPr>
                </a:tc>
                <a:extLst>
                  <a:ext uri="{0D108BD9-81ED-4DB2-BD59-A6C34878D82A}">
                    <a16:rowId xmlns:a16="http://schemas.microsoft.com/office/drawing/2014/main" val="10010"/>
                  </a:ext>
                </a:extLst>
              </a:tr>
              <a:tr h="665480">
                <a:tc>
                  <a:txBody>
                    <a:bodyPr/>
                    <a:lstStyle/>
                    <a:p>
                      <a:pPr>
                        <a:lnSpc>
                          <a:spcPct val="100000"/>
                        </a:lnSpc>
                        <a:spcBef>
                          <a:spcPts val="515"/>
                        </a:spcBef>
                      </a:pPr>
                      <a:endParaRPr sz="1100">
                        <a:latin typeface="Times New Roman"/>
                        <a:cs typeface="Times New Roman"/>
                      </a:endParaRPr>
                    </a:p>
                    <a:p>
                      <a:pPr algn="ctr">
                        <a:lnSpc>
                          <a:spcPct val="100000"/>
                        </a:lnSpc>
                      </a:pPr>
                      <a:r>
                        <a:rPr sz="1100" spc="-50" dirty="0">
                          <a:latin typeface="Times New Roman"/>
                          <a:cs typeface="Times New Roman"/>
                        </a:rPr>
                        <a:t>9</a:t>
                      </a:r>
                      <a:endParaRPr sz="1100">
                        <a:latin typeface="Times New Roman"/>
                        <a:cs typeface="Times New Roman"/>
                      </a:endParaRPr>
                    </a:p>
                  </a:txBody>
                  <a:tcPr marL="0" marR="0" marT="65405" marB="0">
                    <a:lnL w="6350">
                      <a:solidFill>
                        <a:srgbClr val="999999"/>
                      </a:solidFill>
                      <a:prstDash val="solid"/>
                    </a:lnL>
                    <a:lnR w="6350">
                      <a:solidFill>
                        <a:srgbClr val="999999"/>
                      </a:solidFill>
                      <a:prstDash val="solid"/>
                    </a:lnR>
                    <a:lnT w="6350">
                      <a:solidFill>
                        <a:srgbClr val="999999"/>
                      </a:solidFill>
                      <a:prstDash val="solid"/>
                    </a:lnT>
                    <a:lnB w="6350">
                      <a:solidFill>
                        <a:srgbClr val="999999"/>
                      </a:solidFill>
                      <a:prstDash val="solid"/>
                    </a:lnB>
                  </a:tcPr>
                </a:tc>
                <a:tc>
                  <a:txBody>
                    <a:bodyPr/>
                    <a:lstStyle/>
                    <a:p>
                      <a:pPr>
                        <a:lnSpc>
                          <a:spcPct val="100000"/>
                        </a:lnSpc>
                        <a:spcBef>
                          <a:spcPts val="535"/>
                        </a:spcBef>
                      </a:pPr>
                      <a:endParaRPr sz="1100">
                        <a:latin typeface="Times New Roman"/>
                        <a:cs typeface="Times New Roman"/>
                      </a:endParaRPr>
                    </a:p>
                    <a:p>
                      <a:pPr marL="63500">
                        <a:lnSpc>
                          <a:spcPct val="100000"/>
                        </a:lnSpc>
                        <a:spcBef>
                          <a:spcPts val="5"/>
                        </a:spcBef>
                      </a:pPr>
                      <a:r>
                        <a:rPr sz="1100" b="1" spc="-10" dirty="0">
                          <a:latin typeface="Times New Roman"/>
                          <a:cs typeface="Times New Roman"/>
                        </a:rPr>
                        <a:t>Deployment</a:t>
                      </a:r>
                      <a:endParaRPr sz="1100">
                        <a:latin typeface="Times New Roman"/>
                        <a:cs typeface="Times New Roman"/>
                      </a:endParaRPr>
                    </a:p>
                  </a:txBody>
                  <a:tcPr marL="0" marR="0" marT="67945" marB="0">
                    <a:lnL w="6350">
                      <a:solidFill>
                        <a:srgbClr val="999999"/>
                      </a:solidFill>
                      <a:prstDash val="solid"/>
                    </a:lnL>
                    <a:lnR w="6350">
                      <a:solidFill>
                        <a:srgbClr val="999999"/>
                      </a:solidFill>
                      <a:prstDash val="solid"/>
                    </a:lnR>
                    <a:lnT w="6350">
                      <a:solidFill>
                        <a:srgbClr val="999999"/>
                      </a:solidFill>
                      <a:prstDash val="solid"/>
                    </a:lnT>
                    <a:lnB w="6350">
                      <a:solidFill>
                        <a:srgbClr val="999999"/>
                      </a:solidFill>
                      <a:prstDash val="solid"/>
                    </a:lnB>
                  </a:tcPr>
                </a:tc>
                <a:tc>
                  <a:txBody>
                    <a:bodyPr/>
                    <a:lstStyle/>
                    <a:p>
                      <a:pPr marL="273685" lvl="1" indent="-210185">
                        <a:lnSpc>
                          <a:spcPct val="100000"/>
                        </a:lnSpc>
                        <a:spcBef>
                          <a:spcPts val="315"/>
                        </a:spcBef>
                        <a:buAutoNum type="arabicPeriod"/>
                        <a:tabLst>
                          <a:tab pos="273685" algn="l"/>
                        </a:tabLst>
                      </a:pPr>
                      <a:r>
                        <a:rPr sz="1100" dirty="0">
                          <a:latin typeface="Times New Roman"/>
                          <a:cs typeface="Times New Roman"/>
                        </a:rPr>
                        <a:t>Steps</a:t>
                      </a:r>
                      <a:r>
                        <a:rPr sz="1100" spc="-5" dirty="0">
                          <a:latin typeface="Times New Roman"/>
                          <a:cs typeface="Times New Roman"/>
                        </a:rPr>
                        <a:t> </a:t>
                      </a:r>
                      <a:r>
                        <a:rPr sz="1100" dirty="0">
                          <a:latin typeface="Times New Roman"/>
                          <a:cs typeface="Times New Roman"/>
                        </a:rPr>
                        <a:t>to</a:t>
                      </a:r>
                      <a:r>
                        <a:rPr sz="1100" spc="-5" dirty="0">
                          <a:latin typeface="Times New Roman"/>
                          <a:cs typeface="Times New Roman"/>
                        </a:rPr>
                        <a:t> </a:t>
                      </a:r>
                      <a:r>
                        <a:rPr sz="1100" spc="-10" dirty="0">
                          <a:latin typeface="Times New Roman"/>
                          <a:cs typeface="Times New Roman"/>
                        </a:rPr>
                        <a:t>Deploy</a:t>
                      </a:r>
                      <a:endParaRPr sz="1100">
                        <a:latin typeface="Times New Roman"/>
                        <a:cs typeface="Times New Roman"/>
                      </a:endParaRPr>
                    </a:p>
                    <a:p>
                      <a:pPr marL="273685" lvl="1" indent="-210185">
                        <a:lnSpc>
                          <a:spcPct val="100000"/>
                        </a:lnSpc>
                        <a:spcBef>
                          <a:spcPts val="145"/>
                        </a:spcBef>
                        <a:buAutoNum type="arabicPeriod"/>
                        <a:tabLst>
                          <a:tab pos="273685" algn="l"/>
                        </a:tabLst>
                      </a:pPr>
                      <a:r>
                        <a:rPr sz="1100" dirty="0">
                          <a:latin typeface="Times New Roman"/>
                          <a:cs typeface="Times New Roman"/>
                        </a:rPr>
                        <a:t>Environment</a:t>
                      </a:r>
                      <a:r>
                        <a:rPr sz="1100" spc="-25" dirty="0">
                          <a:latin typeface="Times New Roman"/>
                          <a:cs typeface="Times New Roman"/>
                        </a:rPr>
                        <a:t> </a:t>
                      </a:r>
                      <a:r>
                        <a:rPr sz="1100" spc="-10" dirty="0">
                          <a:latin typeface="Times New Roman"/>
                          <a:cs typeface="Times New Roman"/>
                        </a:rPr>
                        <a:t>Configuration</a:t>
                      </a:r>
                      <a:endParaRPr sz="1100">
                        <a:latin typeface="Times New Roman"/>
                        <a:cs typeface="Times New Roman"/>
                      </a:endParaRPr>
                    </a:p>
                    <a:p>
                      <a:pPr marL="273685" lvl="1" indent="-210185">
                        <a:lnSpc>
                          <a:spcPct val="100000"/>
                        </a:lnSpc>
                        <a:spcBef>
                          <a:spcPts val="140"/>
                        </a:spcBef>
                        <a:buAutoNum type="arabicPeriod"/>
                        <a:tabLst>
                          <a:tab pos="273685" algn="l"/>
                        </a:tabLst>
                      </a:pPr>
                      <a:r>
                        <a:rPr sz="1100" dirty="0">
                          <a:latin typeface="Times New Roman"/>
                          <a:cs typeface="Times New Roman"/>
                        </a:rPr>
                        <a:t>Hosting</a:t>
                      </a:r>
                      <a:r>
                        <a:rPr sz="1100" spc="-25" dirty="0">
                          <a:latin typeface="Times New Roman"/>
                          <a:cs typeface="Times New Roman"/>
                        </a:rPr>
                        <a:t> </a:t>
                      </a:r>
                      <a:r>
                        <a:rPr sz="1100" dirty="0">
                          <a:latin typeface="Times New Roman"/>
                          <a:cs typeface="Times New Roman"/>
                        </a:rPr>
                        <a:t>of</a:t>
                      </a:r>
                      <a:r>
                        <a:rPr sz="1100" spc="-10" dirty="0">
                          <a:latin typeface="Times New Roman"/>
                          <a:cs typeface="Times New Roman"/>
                        </a:rPr>
                        <a:t> </a:t>
                      </a:r>
                      <a:r>
                        <a:rPr sz="1100" dirty="0">
                          <a:latin typeface="Times New Roman"/>
                          <a:cs typeface="Times New Roman"/>
                        </a:rPr>
                        <a:t>Frontend</a:t>
                      </a:r>
                      <a:r>
                        <a:rPr sz="1100" spc="-10" dirty="0">
                          <a:latin typeface="Times New Roman"/>
                          <a:cs typeface="Times New Roman"/>
                        </a:rPr>
                        <a:t> </a:t>
                      </a:r>
                      <a:r>
                        <a:rPr sz="1100" dirty="0">
                          <a:latin typeface="Times New Roman"/>
                          <a:cs typeface="Times New Roman"/>
                        </a:rPr>
                        <a:t>and</a:t>
                      </a:r>
                      <a:r>
                        <a:rPr sz="1100" spc="-10" dirty="0">
                          <a:latin typeface="Times New Roman"/>
                          <a:cs typeface="Times New Roman"/>
                        </a:rPr>
                        <a:t> Backend</a:t>
                      </a:r>
                      <a:endParaRPr sz="1100">
                        <a:latin typeface="Times New Roman"/>
                        <a:cs typeface="Times New Roman"/>
                      </a:endParaRPr>
                    </a:p>
                  </a:txBody>
                  <a:tcPr marL="0" marR="0" marT="40005" marB="0">
                    <a:lnL w="6350">
                      <a:solidFill>
                        <a:srgbClr val="999999"/>
                      </a:solidFill>
                      <a:prstDash val="solid"/>
                    </a:lnL>
                    <a:lnR w="6350">
                      <a:solidFill>
                        <a:srgbClr val="999999"/>
                      </a:solidFill>
                      <a:prstDash val="solid"/>
                    </a:lnR>
                    <a:lnT w="6350">
                      <a:solidFill>
                        <a:srgbClr val="999999"/>
                      </a:solidFill>
                      <a:prstDash val="solid"/>
                    </a:lnT>
                    <a:lnB w="6350">
                      <a:solidFill>
                        <a:srgbClr val="999999"/>
                      </a:solidFill>
                      <a:prstDash val="solid"/>
                    </a:lnB>
                  </a:tcPr>
                </a:tc>
                <a:tc>
                  <a:txBody>
                    <a:bodyPr/>
                    <a:lstStyle/>
                    <a:p>
                      <a:pPr>
                        <a:lnSpc>
                          <a:spcPct val="100000"/>
                        </a:lnSpc>
                        <a:spcBef>
                          <a:spcPts val="515"/>
                        </a:spcBef>
                      </a:pPr>
                      <a:endParaRPr sz="1100">
                        <a:latin typeface="Times New Roman"/>
                        <a:cs typeface="Times New Roman"/>
                      </a:endParaRPr>
                    </a:p>
                    <a:p>
                      <a:pPr algn="ctr">
                        <a:lnSpc>
                          <a:spcPct val="100000"/>
                        </a:lnSpc>
                      </a:pPr>
                      <a:r>
                        <a:rPr sz="1100" spc="-25" dirty="0">
                          <a:latin typeface="Times New Roman"/>
                          <a:cs typeface="Times New Roman"/>
                        </a:rPr>
                        <a:t>17</a:t>
                      </a:r>
                      <a:endParaRPr sz="1100">
                        <a:latin typeface="Times New Roman"/>
                        <a:cs typeface="Times New Roman"/>
                      </a:endParaRPr>
                    </a:p>
                  </a:txBody>
                  <a:tcPr marL="0" marR="0" marT="65405" marB="0">
                    <a:lnL w="6350">
                      <a:solidFill>
                        <a:srgbClr val="999999"/>
                      </a:solidFill>
                      <a:prstDash val="solid"/>
                    </a:lnL>
                    <a:lnR w="6350">
                      <a:solidFill>
                        <a:srgbClr val="999999"/>
                      </a:solidFill>
                      <a:prstDash val="solid"/>
                    </a:lnR>
                    <a:lnT w="6350">
                      <a:solidFill>
                        <a:srgbClr val="999999"/>
                      </a:solidFill>
                      <a:prstDash val="solid"/>
                    </a:lnT>
                    <a:lnB w="6350">
                      <a:solidFill>
                        <a:srgbClr val="999999"/>
                      </a:solidFill>
                      <a:prstDash val="solid"/>
                    </a:lnB>
                  </a:tcPr>
                </a:tc>
                <a:extLst>
                  <a:ext uri="{0D108BD9-81ED-4DB2-BD59-A6C34878D82A}">
                    <a16:rowId xmlns:a16="http://schemas.microsoft.com/office/drawing/2014/main" val="10011"/>
                  </a:ext>
                </a:extLst>
              </a:tr>
              <a:tr h="666115">
                <a:tc>
                  <a:txBody>
                    <a:bodyPr/>
                    <a:lstStyle/>
                    <a:p>
                      <a:pPr>
                        <a:lnSpc>
                          <a:spcPct val="100000"/>
                        </a:lnSpc>
                        <a:spcBef>
                          <a:spcPts val="515"/>
                        </a:spcBef>
                      </a:pPr>
                      <a:endParaRPr sz="1100">
                        <a:latin typeface="Times New Roman"/>
                        <a:cs typeface="Times New Roman"/>
                      </a:endParaRPr>
                    </a:p>
                    <a:p>
                      <a:pPr algn="ctr">
                        <a:lnSpc>
                          <a:spcPct val="100000"/>
                        </a:lnSpc>
                      </a:pPr>
                      <a:r>
                        <a:rPr sz="1100" spc="-25" dirty="0">
                          <a:latin typeface="Times New Roman"/>
                          <a:cs typeface="Times New Roman"/>
                        </a:rPr>
                        <a:t>10</a:t>
                      </a:r>
                      <a:endParaRPr sz="1100">
                        <a:latin typeface="Times New Roman"/>
                        <a:cs typeface="Times New Roman"/>
                      </a:endParaRPr>
                    </a:p>
                  </a:txBody>
                  <a:tcPr marL="0" marR="0" marT="65405" marB="0">
                    <a:lnL w="6350">
                      <a:solidFill>
                        <a:srgbClr val="999999"/>
                      </a:solidFill>
                      <a:prstDash val="solid"/>
                    </a:lnL>
                    <a:lnR w="6350">
                      <a:solidFill>
                        <a:srgbClr val="999999"/>
                      </a:solidFill>
                      <a:prstDash val="solid"/>
                    </a:lnR>
                    <a:lnT w="6350">
                      <a:solidFill>
                        <a:srgbClr val="999999"/>
                      </a:solidFill>
                      <a:prstDash val="solid"/>
                    </a:lnT>
                    <a:lnB w="6350">
                      <a:solidFill>
                        <a:srgbClr val="999999"/>
                      </a:solidFill>
                      <a:prstDash val="solid"/>
                    </a:lnB>
                  </a:tcPr>
                </a:tc>
                <a:tc>
                  <a:txBody>
                    <a:bodyPr/>
                    <a:lstStyle/>
                    <a:p>
                      <a:pPr>
                        <a:lnSpc>
                          <a:spcPct val="100000"/>
                        </a:lnSpc>
                        <a:spcBef>
                          <a:spcPts val="5"/>
                        </a:spcBef>
                      </a:pPr>
                      <a:endParaRPr sz="1100">
                        <a:latin typeface="Times New Roman"/>
                        <a:cs typeface="Times New Roman"/>
                      </a:endParaRPr>
                    </a:p>
                    <a:p>
                      <a:pPr marL="63500" marR="330200">
                        <a:lnSpc>
                          <a:spcPts val="1260"/>
                        </a:lnSpc>
                        <a:spcBef>
                          <a:spcPts val="5"/>
                        </a:spcBef>
                      </a:pPr>
                      <a:r>
                        <a:rPr sz="1100" b="1" dirty="0">
                          <a:latin typeface="Times New Roman"/>
                          <a:cs typeface="Times New Roman"/>
                        </a:rPr>
                        <a:t>Challenges</a:t>
                      </a:r>
                      <a:r>
                        <a:rPr sz="1100" b="1" spc="-40" dirty="0">
                          <a:latin typeface="Times New Roman"/>
                          <a:cs typeface="Times New Roman"/>
                        </a:rPr>
                        <a:t> </a:t>
                      </a:r>
                      <a:r>
                        <a:rPr sz="1100" b="1" spc="-50" dirty="0">
                          <a:latin typeface="Times New Roman"/>
                          <a:cs typeface="Times New Roman"/>
                        </a:rPr>
                        <a:t>&amp; </a:t>
                      </a:r>
                      <a:r>
                        <a:rPr sz="1100" b="1" spc="-10" dirty="0">
                          <a:latin typeface="Times New Roman"/>
                          <a:cs typeface="Times New Roman"/>
                        </a:rPr>
                        <a:t>Limitations</a:t>
                      </a:r>
                      <a:endParaRPr sz="1100">
                        <a:latin typeface="Times New Roman"/>
                        <a:cs typeface="Times New Roman"/>
                      </a:endParaRPr>
                    </a:p>
                  </a:txBody>
                  <a:tcPr marL="0" marR="0" marT="635" marB="0">
                    <a:lnL w="6350">
                      <a:solidFill>
                        <a:srgbClr val="999999"/>
                      </a:solidFill>
                      <a:prstDash val="solid"/>
                    </a:lnL>
                    <a:lnR w="6350">
                      <a:solidFill>
                        <a:srgbClr val="999999"/>
                      </a:solidFill>
                      <a:prstDash val="solid"/>
                    </a:lnR>
                    <a:lnT w="6350">
                      <a:solidFill>
                        <a:srgbClr val="999999"/>
                      </a:solidFill>
                      <a:prstDash val="solid"/>
                    </a:lnT>
                    <a:lnB w="6350">
                      <a:solidFill>
                        <a:srgbClr val="999999"/>
                      </a:solidFill>
                      <a:prstDash val="solid"/>
                    </a:lnB>
                  </a:tcPr>
                </a:tc>
                <a:tc>
                  <a:txBody>
                    <a:bodyPr/>
                    <a:lstStyle/>
                    <a:p>
                      <a:pPr marL="343535" lvl="1" indent="-280035">
                        <a:lnSpc>
                          <a:spcPct val="100000"/>
                        </a:lnSpc>
                        <a:spcBef>
                          <a:spcPts val="315"/>
                        </a:spcBef>
                        <a:buAutoNum type="arabicPeriod"/>
                        <a:tabLst>
                          <a:tab pos="343535" algn="l"/>
                        </a:tabLst>
                      </a:pPr>
                      <a:r>
                        <a:rPr sz="1100" dirty="0">
                          <a:latin typeface="Times New Roman"/>
                          <a:cs typeface="Times New Roman"/>
                        </a:rPr>
                        <a:t>Issues</a:t>
                      </a:r>
                      <a:r>
                        <a:rPr sz="1100" spc="-10" dirty="0">
                          <a:latin typeface="Times New Roman"/>
                          <a:cs typeface="Times New Roman"/>
                        </a:rPr>
                        <a:t> </a:t>
                      </a:r>
                      <a:r>
                        <a:rPr sz="1100" dirty="0">
                          <a:latin typeface="Times New Roman"/>
                          <a:cs typeface="Times New Roman"/>
                        </a:rPr>
                        <a:t>Faced</a:t>
                      </a:r>
                      <a:r>
                        <a:rPr sz="1100" spc="-10" dirty="0">
                          <a:latin typeface="Times New Roman"/>
                          <a:cs typeface="Times New Roman"/>
                        </a:rPr>
                        <a:t> </a:t>
                      </a:r>
                      <a:r>
                        <a:rPr sz="1100" dirty="0">
                          <a:latin typeface="Times New Roman"/>
                          <a:cs typeface="Times New Roman"/>
                        </a:rPr>
                        <a:t>During</a:t>
                      </a:r>
                      <a:r>
                        <a:rPr sz="1100" spc="-25" dirty="0">
                          <a:latin typeface="Times New Roman"/>
                          <a:cs typeface="Times New Roman"/>
                        </a:rPr>
                        <a:t> </a:t>
                      </a:r>
                      <a:r>
                        <a:rPr sz="1100" spc="-10" dirty="0">
                          <a:latin typeface="Times New Roman"/>
                          <a:cs typeface="Times New Roman"/>
                        </a:rPr>
                        <a:t>Development</a:t>
                      </a:r>
                      <a:endParaRPr sz="1100">
                        <a:latin typeface="Times New Roman"/>
                        <a:cs typeface="Times New Roman"/>
                      </a:endParaRPr>
                    </a:p>
                    <a:p>
                      <a:pPr marL="343535" lvl="1" indent="-280035">
                        <a:lnSpc>
                          <a:spcPct val="100000"/>
                        </a:lnSpc>
                        <a:spcBef>
                          <a:spcPts val="145"/>
                        </a:spcBef>
                        <a:buAutoNum type="arabicPeriod"/>
                        <a:tabLst>
                          <a:tab pos="343535" algn="l"/>
                        </a:tabLst>
                      </a:pPr>
                      <a:r>
                        <a:rPr sz="1100" dirty="0">
                          <a:latin typeface="Times New Roman"/>
                          <a:cs typeface="Times New Roman"/>
                        </a:rPr>
                        <a:t>Solutions</a:t>
                      </a:r>
                      <a:r>
                        <a:rPr sz="1100" spc="-10" dirty="0">
                          <a:latin typeface="Times New Roman"/>
                          <a:cs typeface="Times New Roman"/>
                        </a:rPr>
                        <a:t> Applied</a:t>
                      </a:r>
                      <a:endParaRPr sz="1100">
                        <a:latin typeface="Times New Roman"/>
                        <a:cs typeface="Times New Roman"/>
                      </a:endParaRPr>
                    </a:p>
                    <a:p>
                      <a:pPr marL="343535" lvl="1" indent="-280035">
                        <a:lnSpc>
                          <a:spcPct val="100000"/>
                        </a:lnSpc>
                        <a:spcBef>
                          <a:spcPts val="145"/>
                        </a:spcBef>
                        <a:buAutoNum type="arabicPeriod"/>
                        <a:tabLst>
                          <a:tab pos="343535" algn="l"/>
                        </a:tabLst>
                      </a:pPr>
                      <a:r>
                        <a:rPr sz="1100" dirty="0">
                          <a:latin typeface="Times New Roman"/>
                          <a:cs typeface="Times New Roman"/>
                        </a:rPr>
                        <a:t>Current</a:t>
                      </a:r>
                      <a:r>
                        <a:rPr sz="1100" spc="-10" dirty="0">
                          <a:latin typeface="Times New Roman"/>
                          <a:cs typeface="Times New Roman"/>
                        </a:rPr>
                        <a:t> </a:t>
                      </a:r>
                      <a:r>
                        <a:rPr sz="1100" dirty="0">
                          <a:latin typeface="Times New Roman"/>
                          <a:cs typeface="Times New Roman"/>
                        </a:rPr>
                        <a:t>Limitations</a:t>
                      </a:r>
                      <a:r>
                        <a:rPr sz="1100" spc="-15" dirty="0">
                          <a:latin typeface="Times New Roman"/>
                          <a:cs typeface="Times New Roman"/>
                        </a:rPr>
                        <a:t> </a:t>
                      </a:r>
                      <a:r>
                        <a:rPr sz="1100" dirty="0">
                          <a:latin typeface="Times New Roman"/>
                          <a:cs typeface="Times New Roman"/>
                        </a:rPr>
                        <a:t>or</a:t>
                      </a:r>
                      <a:r>
                        <a:rPr sz="1100" spc="-25" dirty="0">
                          <a:latin typeface="Times New Roman"/>
                          <a:cs typeface="Times New Roman"/>
                        </a:rPr>
                        <a:t> </a:t>
                      </a:r>
                      <a:r>
                        <a:rPr sz="1100" dirty="0">
                          <a:latin typeface="Times New Roman"/>
                          <a:cs typeface="Times New Roman"/>
                        </a:rPr>
                        <a:t>Known</a:t>
                      </a:r>
                      <a:r>
                        <a:rPr sz="1100" spc="-15" dirty="0">
                          <a:latin typeface="Times New Roman"/>
                          <a:cs typeface="Times New Roman"/>
                        </a:rPr>
                        <a:t> </a:t>
                      </a:r>
                      <a:r>
                        <a:rPr sz="1100" spc="-20" dirty="0">
                          <a:latin typeface="Times New Roman"/>
                          <a:cs typeface="Times New Roman"/>
                        </a:rPr>
                        <a:t>Bugs</a:t>
                      </a:r>
                      <a:endParaRPr sz="1100">
                        <a:latin typeface="Times New Roman"/>
                        <a:cs typeface="Times New Roman"/>
                      </a:endParaRPr>
                    </a:p>
                  </a:txBody>
                  <a:tcPr marL="0" marR="0" marT="40005" marB="0">
                    <a:lnL w="6350">
                      <a:solidFill>
                        <a:srgbClr val="999999"/>
                      </a:solidFill>
                      <a:prstDash val="solid"/>
                    </a:lnL>
                    <a:lnR w="6350">
                      <a:solidFill>
                        <a:srgbClr val="999999"/>
                      </a:solidFill>
                      <a:prstDash val="solid"/>
                    </a:lnR>
                    <a:lnT w="6350">
                      <a:solidFill>
                        <a:srgbClr val="999999"/>
                      </a:solidFill>
                      <a:prstDash val="solid"/>
                    </a:lnT>
                    <a:lnB w="6350">
                      <a:solidFill>
                        <a:srgbClr val="999999"/>
                      </a:solidFill>
                      <a:prstDash val="solid"/>
                    </a:lnB>
                  </a:tcPr>
                </a:tc>
                <a:tc>
                  <a:txBody>
                    <a:bodyPr/>
                    <a:lstStyle/>
                    <a:p>
                      <a:pPr>
                        <a:lnSpc>
                          <a:spcPct val="100000"/>
                        </a:lnSpc>
                        <a:spcBef>
                          <a:spcPts val="515"/>
                        </a:spcBef>
                      </a:pPr>
                      <a:endParaRPr sz="1100">
                        <a:latin typeface="Times New Roman"/>
                        <a:cs typeface="Times New Roman"/>
                      </a:endParaRPr>
                    </a:p>
                    <a:p>
                      <a:pPr algn="ctr">
                        <a:lnSpc>
                          <a:spcPct val="100000"/>
                        </a:lnSpc>
                      </a:pPr>
                      <a:r>
                        <a:rPr sz="1100" spc="-25" dirty="0">
                          <a:latin typeface="Times New Roman"/>
                          <a:cs typeface="Times New Roman"/>
                        </a:rPr>
                        <a:t>18</a:t>
                      </a:r>
                      <a:endParaRPr sz="1100">
                        <a:latin typeface="Times New Roman"/>
                        <a:cs typeface="Times New Roman"/>
                      </a:endParaRPr>
                    </a:p>
                  </a:txBody>
                  <a:tcPr marL="0" marR="0" marT="65405" marB="0">
                    <a:lnL w="6350">
                      <a:solidFill>
                        <a:srgbClr val="999999"/>
                      </a:solidFill>
                      <a:prstDash val="solid"/>
                    </a:lnL>
                    <a:lnR w="6350">
                      <a:solidFill>
                        <a:srgbClr val="999999"/>
                      </a:solidFill>
                      <a:prstDash val="solid"/>
                    </a:lnR>
                    <a:lnT w="6350">
                      <a:solidFill>
                        <a:srgbClr val="999999"/>
                      </a:solidFill>
                      <a:prstDash val="solid"/>
                    </a:lnT>
                    <a:lnB w="6350">
                      <a:solidFill>
                        <a:srgbClr val="999999"/>
                      </a:solidFill>
                      <a:prstDash val="solid"/>
                    </a:lnB>
                  </a:tcPr>
                </a:tc>
                <a:extLst>
                  <a:ext uri="{0D108BD9-81ED-4DB2-BD59-A6C34878D82A}">
                    <a16:rowId xmlns:a16="http://schemas.microsoft.com/office/drawing/2014/main" val="10012"/>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809396" y="1131061"/>
          <a:ext cx="5589268" cy="2771774"/>
        </p:xfrm>
        <a:graphic>
          <a:graphicData uri="http://schemas.openxmlformats.org/drawingml/2006/table">
            <a:tbl>
              <a:tblPr firstRow="1" bandRow="1">
                <a:tableStyleId>{2D5ABB26-0587-4C30-8999-92F81FD0307C}</a:tableStyleId>
              </a:tblPr>
              <a:tblGrid>
                <a:gridCol w="446405">
                  <a:extLst>
                    <a:ext uri="{9D8B030D-6E8A-4147-A177-3AD203B41FA5}">
                      <a16:colId xmlns:a16="http://schemas.microsoft.com/office/drawing/2014/main" val="20000"/>
                    </a:ext>
                  </a:extLst>
                </a:gridCol>
                <a:gridCol w="1205864">
                  <a:extLst>
                    <a:ext uri="{9D8B030D-6E8A-4147-A177-3AD203B41FA5}">
                      <a16:colId xmlns:a16="http://schemas.microsoft.com/office/drawing/2014/main" val="20001"/>
                    </a:ext>
                  </a:extLst>
                </a:gridCol>
                <a:gridCol w="3110864">
                  <a:extLst>
                    <a:ext uri="{9D8B030D-6E8A-4147-A177-3AD203B41FA5}">
                      <a16:colId xmlns:a16="http://schemas.microsoft.com/office/drawing/2014/main" val="20002"/>
                    </a:ext>
                  </a:extLst>
                </a:gridCol>
                <a:gridCol w="826135">
                  <a:extLst>
                    <a:ext uri="{9D8B030D-6E8A-4147-A177-3AD203B41FA5}">
                      <a16:colId xmlns:a16="http://schemas.microsoft.com/office/drawing/2014/main" val="20003"/>
                    </a:ext>
                  </a:extLst>
                </a:gridCol>
              </a:tblGrid>
              <a:tr h="294005">
                <a:tc>
                  <a:txBody>
                    <a:bodyPr/>
                    <a:lstStyle/>
                    <a:p>
                      <a:pPr algn="ctr">
                        <a:lnSpc>
                          <a:spcPct val="100000"/>
                        </a:lnSpc>
                        <a:spcBef>
                          <a:spcPts val="340"/>
                        </a:spcBef>
                      </a:pPr>
                      <a:r>
                        <a:rPr sz="1100" b="1" spc="-20" dirty="0">
                          <a:latin typeface="Times New Roman"/>
                          <a:cs typeface="Times New Roman"/>
                        </a:rPr>
                        <a:t>S.No.</a:t>
                      </a:r>
                      <a:endParaRPr sz="1100">
                        <a:latin typeface="Times New Roman"/>
                        <a:cs typeface="Times New Roman"/>
                      </a:endParaRPr>
                    </a:p>
                  </a:txBody>
                  <a:tcPr marL="0" marR="0" marT="43180" marB="0">
                    <a:lnL w="6350">
                      <a:solidFill>
                        <a:srgbClr val="999999"/>
                      </a:solidFill>
                      <a:prstDash val="solid"/>
                    </a:lnL>
                    <a:lnR w="6350">
                      <a:solidFill>
                        <a:srgbClr val="999999"/>
                      </a:solidFill>
                      <a:prstDash val="solid"/>
                    </a:lnR>
                    <a:lnT w="6350">
                      <a:solidFill>
                        <a:srgbClr val="999999"/>
                      </a:solidFill>
                      <a:prstDash val="solid"/>
                    </a:lnT>
                    <a:lnB w="6350">
                      <a:solidFill>
                        <a:srgbClr val="999999"/>
                      </a:solidFill>
                      <a:prstDash val="solid"/>
                    </a:lnB>
                    <a:solidFill>
                      <a:srgbClr val="D9E1F3"/>
                    </a:solidFill>
                  </a:tcPr>
                </a:tc>
                <a:tc>
                  <a:txBody>
                    <a:bodyPr/>
                    <a:lstStyle/>
                    <a:p>
                      <a:pPr marL="327025">
                        <a:lnSpc>
                          <a:spcPct val="100000"/>
                        </a:lnSpc>
                        <a:spcBef>
                          <a:spcPts val="340"/>
                        </a:spcBef>
                      </a:pPr>
                      <a:r>
                        <a:rPr sz="1100" b="1" spc="-10" dirty="0">
                          <a:latin typeface="Times New Roman"/>
                          <a:cs typeface="Times New Roman"/>
                        </a:rPr>
                        <a:t>Chapters</a:t>
                      </a:r>
                      <a:endParaRPr sz="1100">
                        <a:latin typeface="Times New Roman"/>
                        <a:cs typeface="Times New Roman"/>
                      </a:endParaRPr>
                    </a:p>
                  </a:txBody>
                  <a:tcPr marL="0" marR="0" marT="43180" marB="0">
                    <a:lnL w="6350">
                      <a:solidFill>
                        <a:srgbClr val="999999"/>
                      </a:solidFill>
                      <a:prstDash val="solid"/>
                    </a:lnL>
                    <a:lnR w="6350">
                      <a:solidFill>
                        <a:srgbClr val="999999"/>
                      </a:solidFill>
                      <a:prstDash val="solid"/>
                    </a:lnR>
                    <a:lnT w="6350">
                      <a:solidFill>
                        <a:srgbClr val="999999"/>
                      </a:solidFill>
                      <a:prstDash val="solid"/>
                    </a:lnT>
                    <a:lnB w="6350">
                      <a:solidFill>
                        <a:srgbClr val="999999"/>
                      </a:solidFill>
                      <a:prstDash val="solid"/>
                    </a:lnB>
                    <a:solidFill>
                      <a:srgbClr val="D9E1F3"/>
                    </a:solidFill>
                  </a:tcPr>
                </a:tc>
                <a:tc>
                  <a:txBody>
                    <a:bodyPr/>
                    <a:lstStyle/>
                    <a:p>
                      <a:pPr algn="ctr">
                        <a:lnSpc>
                          <a:spcPct val="100000"/>
                        </a:lnSpc>
                        <a:spcBef>
                          <a:spcPts val="340"/>
                        </a:spcBef>
                      </a:pPr>
                      <a:r>
                        <a:rPr sz="1100" b="1" spc="-10" dirty="0">
                          <a:latin typeface="Times New Roman"/>
                          <a:cs typeface="Times New Roman"/>
                        </a:rPr>
                        <a:t>Topics</a:t>
                      </a:r>
                      <a:endParaRPr sz="1100">
                        <a:latin typeface="Times New Roman"/>
                        <a:cs typeface="Times New Roman"/>
                      </a:endParaRPr>
                    </a:p>
                  </a:txBody>
                  <a:tcPr marL="0" marR="0" marT="43180" marB="0">
                    <a:lnL w="6350">
                      <a:solidFill>
                        <a:srgbClr val="999999"/>
                      </a:solidFill>
                      <a:prstDash val="solid"/>
                    </a:lnL>
                    <a:lnR w="6350">
                      <a:solidFill>
                        <a:srgbClr val="999999"/>
                      </a:solidFill>
                      <a:prstDash val="solid"/>
                    </a:lnR>
                    <a:lnT w="6350">
                      <a:solidFill>
                        <a:srgbClr val="999999"/>
                      </a:solidFill>
                      <a:prstDash val="solid"/>
                    </a:lnT>
                    <a:lnB w="6350">
                      <a:solidFill>
                        <a:srgbClr val="999999"/>
                      </a:solidFill>
                      <a:prstDash val="solid"/>
                    </a:lnB>
                    <a:solidFill>
                      <a:srgbClr val="D9E1F3"/>
                    </a:solidFill>
                  </a:tcPr>
                </a:tc>
                <a:tc>
                  <a:txBody>
                    <a:bodyPr/>
                    <a:lstStyle/>
                    <a:p>
                      <a:pPr marL="1270" algn="ctr">
                        <a:lnSpc>
                          <a:spcPct val="100000"/>
                        </a:lnSpc>
                        <a:spcBef>
                          <a:spcPts val="340"/>
                        </a:spcBef>
                      </a:pPr>
                      <a:r>
                        <a:rPr sz="1100" b="1" dirty="0">
                          <a:latin typeface="Times New Roman"/>
                          <a:cs typeface="Times New Roman"/>
                        </a:rPr>
                        <a:t>Page</a:t>
                      </a:r>
                      <a:r>
                        <a:rPr sz="1100" b="1" spc="-20" dirty="0">
                          <a:latin typeface="Times New Roman"/>
                          <a:cs typeface="Times New Roman"/>
                        </a:rPr>
                        <a:t> </a:t>
                      </a:r>
                      <a:r>
                        <a:rPr sz="1100" b="1" spc="-25" dirty="0">
                          <a:latin typeface="Times New Roman"/>
                          <a:cs typeface="Times New Roman"/>
                        </a:rPr>
                        <a:t>No.</a:t>
                      </a:r>
                      <a:endParaRPr sz="1100">
                        <a:latin typeface="Times New Roman"/>
                        <a:cs typeface="Times New Roman"/>
                      </a:endParaRPr>
                    </a:p>
                  </a:txBody>
                  <a:tcPr marL="0" marR="0" marT="43180" marB="0">
                    <a:lnL w="6350">
                      <a:solidFill>
                        <a:srgbClr val="999999"/>
                      </a:solidFill>
                      <a:prstDash val="solid"/>
                    </a:lnL>
                    <a:lnR w="6350">
                      <a:solidFill>
                        <a:srgbClr val="999999"/>
                      </a:solidFill>
                      <a:prstDash val="solid"/>
                    </a:lnR>
                    <a:lnT w="6350">
                      <a:solidFill>
                        <a:srgbClr val="999999"/>
                      </a:solidFill>
                      <a:prstDash val="solid"/>
                    </a:lnT>
                    <a:lnB w="6350">
                      <a:solidFill>
                        <a:srgbClr val="999999"/>
                      </a:solidFill>
                      <a:prstDash val="solid"/>
                    </a:lnB>
                    <a:solidFill>
                      <a:srgbClr val="D9E1F3"/>
                    </a:solidFill>
                  </a:tcPr>
                </a:tc>
                <a:extLst>
                  <a:ext uri="{0D108BD9-81ED-4DB2-BD59-A6C34878D82A}">
                    <a16:rowId xmlns:a16="http://schemas.microsoft.com/office/drawing/2014/main" val="10000"/>
                  </a:ext>
                </a:extLst>
              </a:tr>
              <a:tr h="480059">
                <a:tc>
                  <a:txBody>
                    <a:bodyPr/>
                    <a:lstStyle/>
                    <a:p>
                      <a:pPr algn="ctr">
                        <a:lnSpc>
                          <a:spcPct val="100000"/>
                        </a:lnSpc>
                        <a:spcBef>
                          <a:spcPts val="1045"/>
                        </a:spcBef>
                      </a:pPr>
                      <a:r>
                        <a:rPr sz="1100" spc="-25" dirty="0">
                          <a:latin typeface="Times New Roman"/>
                          <a:cs typeface="Times New Roman"/>
                        </a:rPr>
                        <a:t>11</a:t>
                      </a:r>
                      <a:endParaRPr sz="1100">
                        <a:latin typeface="Times New Roman"/>
                        <a:cs typeface="Times New Roman"/>
                      </a:endParaRPr>
                    </a:p>
                  </a:txBody>
                  <a:tcPr marL="0" marR="0" marT="132715" marB="0">
                    <a:lnL w="6350">
                      <a:solidFill>
                        <a:srgbClr val="999999"/>
                      </a:solidFill>
                      <a:prstDash val="solid"/>
                    </a:lnL>
                    <a:lnR w="6350">
                      <a:solidFill>
                        <a:srgbClr val="999999"/>
                      </a:solidFill>
                      <a:prstDash val="solid"/>
                    </a:lnR>
                    <a:lnT w="6350">
                      <a:solidFill>
                        <a:srgbClr val="999999"/>
                      </a:solidFill>
                      <a:prstDash val="solid"/>
                    </a:lnT>
                    <a:lnB w="6350">
                      <a:solidFill>
                        <a:srgbClr val="999999"/>
                      </a:solidFill>
                      <a:prstDash val="solid"/>
                    </a:lnB>
                  </a:tcPr>
                </a:tc>
                <a:tc>
                  <a:txBody>
                    <a:bodyPr/>
                    <a:lstStyle/>
                    <a:p>
                      <a:pPr marL="63500" marR="254635">
                        <a:lnSpc>
                          <a:spcPts val="1270"/>
                        </a:lnSpc>
                        <a:spcBef>
                          <a:spcPts val="520"/>
                        </a:spcBef>
                      </a:pPr>
                      <a:r>
                        <a:rPr sz="1100" b="1" spc="-10" dirty="0">
                          <a:latin typeface="Times New Roman"/>
                          <a:cs typeface="Times New Roman"/>
                        </a:rPr>
                        <a:t>Future Enhancements</a:t>
                      </a:r>
                      <a:endParaRPr sz="1100">
                        <a:latin typeface="Times New Roman"/>
                        <a:cs typeface="Times New Roman"/>
                      </a:endParaRPr>
                    </a:p>
                  </a:txBody>
                  <a:tcPr marL="0" marR="0" marT="66040" marB="0">
                    <a:lnL w="6350">
                      <a:solidFill>
                        <a:srgbClr val="999999"/>
                      </a:solidFill>
                      <a:prstDash val="solid"/>
                    </a:lnL>
                    <a:lnR w="6350">
                      <a:solidFill>
                        <a:srgbClr val="999999"/>
                      </a:solidFill>
                      <a:prstDash val="solid"/>
                    </a:lnR>
                    <a:lnT w="6350">
                      <a:solidFill>
                        <a:srgbClr val="999999"/>
                      </a:solidFill>
                      <a:prstDash val="solid"/>
                    </a:lnT>
                    <a:lnB w="6350">
                      <a:solidFill>
                        <a:srgbClr val="999999"/>
                      </a:solidFill>
                      <a:prstDash val="solid"/>
                    </a:lnB>
                  </a:tcPr>
                </a:tc>
                <a:tc>
                  <a:txBody>
                    <a:bodyPr/>
                    <a:lstStyle/>
                    <a:p>
                      <a:pPr marL="343535" lvl="1" indent="-280035">
                        <a:lnSpc>
                          <a:spcPct val="100000"/>
                        </a:lnSpc>
                        <a:spcBef>
                          <a:spcPts val="315"/>
                        </a:spcBef>
                        <a:buAutoNum type="arabicPeriod"/>
                        <a:tabLst>
                          <a:tab pos="343535" algn="l"/>
                        </a:tabLst>
                      </a:pPr>
                      <a:r>
                        <a:rPr sz="1100" dirty="0">
                          <a:latin typeface="Times New Roman"/>
                          <a:cs typeface="Times New Roman"/>
                        </a:rPr>
                        <a:t>Planned</a:t>
                      </a:r>
                      <a:r>
                        <a:rPr sz="1100" spc="-10" dirty="0">
                          <a:latin typeface="Times New Roman"/>
                          <a:cs typeface="Times New Roman"/>
                        </a:rPr>
                        <a:t> Features</a:t>
                      </a:r>
                      <a:endParaRPr sz="1100">
                        <a:latin typeface="Times New Roman"/>
                        <a:cs typeface="Times New Roman"/>
                      </a:endParaRPr>
                    </a:p>
                    <a:p>
                      <a:pPr marL="343535" lvl="1" indent="-280035">
                        <a:lnSpc>
                          <a:spcPct val="100000"/>
                        </a:lnSpc>
                        <a:spcBef>
                          <a:spcPts val="145"/>
                        </a:spcBef>
                        <a:buAutoNum type="arabicPeriod"/>
                        <a:tabLst>
                          <a:tab pos="343535" algn="l"/>
                        </a:tabLst>
                      </a:pPr>
                      <a:r>
                        <a:rPr sz="1100" dirty="0">
                          <a:latin typeface="Times New Roman"/>
                          <a:cs typeface="Times New Roman"/>
                        </a:rPr>
                        <a:t>Possible</a:t>
                      </a:r>
                      <a:r>
                        <a:rPr sz="1100" spc="-10" dirty="0">
                          <a:latin typeface="Times New Roman"/>
                          <a:cs typeface="Times New Roman"/>
                        </a:rPr>
                        <a:t> </a:t>
                      </a:r>
                      <a:r>
                        <a:rPr sz="1100" dirty="0">
                          <a:latin typeface="Times New Roman"/>
                          <a:cs typeface="Times New Roman"/>
                        </a:rPr>
                        <a:t>Integrations</a:t>
                      </a:r>
                      <a:r>
                        <a:rPr sz="1100" spc="-10" dirty="0">
                          <a:latin typeface="Times New Roman"/>
                          <a:cs typeface="Times New Roman"/>
                        </a:rPr>
                        <a:t> </a:t>
                      </a:r>
                      <a:r>
                        <a:rPr sz="1100" dirty="0">
                          <a:latin typeface="Times New Roman"/>
                          <a:cs typeface="Times New Roman"/>
                        </a:rPr>
                        <a:t>or</a:t>
                      </a:r>
                      <a:r>
                        <a:rPr sz="1100" spc="-10" dirty="0">
                          <a:latin typeface="Times New Roman"/>
                          <a:cs typeface="Times New Roman"/>
                        </a:rPr>
                        <a:t> Optimizations</a:t>
                      </a:r>
                      <a:endParaRPr sz="1100">
                        <a:latin typeface="Times New Roman"/>
                        <a:cs typeface="Times New Roman"/>
                      </a:endParaRPr>
                    </a:p>
                  </a:txBody>
                  <a:tcPr marL="0" marR="0" marT="40005" marB="0">
                    <a:lnL w="6350">
                      <a:solidFill>
                        <a:srgbClr val="999999"/>
                      </a:solidFill>
                      <a:prstDash val="solid"/>
                    </a:lnL>
                    <a:lnR w="6350">
                      <a:solidFill>
                        <a:srgbClr val="999999"/>
                      </a:solidFill>
                      <a:prstDash val="solid"/>
                    </a:lnR>
                    <a:lnT w="6350">
                      <a:solidFill>
                        <a:srgbClr val="999999"/>
                      </a:solidFill>
                      <a:prstDash val="solid"/>
                    </a:lnT>
                    <a:lnB w="6350">
                      <a:solidFill>
                        <a:srgbClr val="999999"/>
                      </a:solidFill>
                      <a:prstDash val="solid"/>
                    </a:lnB>
                  </a:tcPr>
                </a:tc>
                <a:tc>
                  <a:txBody>
                    <a:bodyPr/>
                    <a:lstStyle/>
                    <a:p>
                      <a:pPr algn="ctr">
                        <a:lnSpc>
                          <a:spcPct val="100000"/>
                        </a:lnSpc>
                        <a:spcBef>
                          <a:spcPts val="1045"/>
                        </a:spcBef>
                      </a:pPr>
                      <a:r>
                        <a:rPr sz="1100" spc="-25" dirty="0">
                          <a:latin typeface="Times New Roman"/>
                          <a:cs typeface="Times New Roman"/>
                        </a:rPr>
                        <a:t>19</a:t>
                      </a:r>
                      <a:endParaRPr sz="1100">
                        <a:latin typeface="Times New Roman"/>
                        <a:cs typeface="Times New Roman"/>
                      </a:endParaRPr>
                    </a:p>
                  </a:txBody>
                  <a:tcPr marL="0" marR="0" marT="132715" marB="0">
                    <a:lnL w="6350">
                      <a:solidFill>
                        <a:srgbClr val="999999"/>
                      </a:solidFill>
                      <a:prstDash val="solid"/>
                    </a:lnL>
                    <a:lnR w="6350">
                      <a:solidFill>
                        <a:srgbClr val="999999"/>
                      </a:solidFill>
                      <a:prstDash val="solid"/>
                    </a:lnR>
                    <a:lnT w="6350">
                      <a:solidFill>
                        <a:srgbClr val="999999"/>
                      </a:solidFill>
                      <a:prstDash val="solid"/>
                    </a:lnT>
                    <a:lnB w="6350">
                      <a:solidFill>
                        <a:srgbClr val="999999"/>
                      </a:solidFill>
                      <a:prstDash val="solid"/>
                    </a:lnB>
                  </a:tcPr>
                </a:tc>
                <a:extLst>
                  <a:ext uri="{0D108BD9-81ED-4DB2-BD59-A6C34878D82A}">
                    <a16:rowId xmlns:a16="http://schemas.microsoft.com/office/drawing/2014/main" val="10001"/>
                  </a:ext>
                </a:extLst>
              </a:tr>
              <a:tr h="665480">
                <a:tc>
                  <a:txBody>
                    <a:bodyPr/>
                    <a:lstStyle/>
                    <a:p>
                      <a:pPr>
                        <a:lnSpc>
                          <a:spcPct val="100000"/>
                        </a:lnSpc>
                        <a:spcBef>
                          <a:spcPts val="515"/>
                        </a:spcBef>
                      </a:pPr>
                      <a:endParaRPr sz="1100">
                        <a:latin typeface="Times New Roman"/>
                        <a:cs typeface="Times New Roman"/>
                      </a:endParaRPr>
                    </a:p>
                    <a:p>
                      <a:pPr algn="ctr">
                        <a:lnSpc>
                          <a:spcPct val="100000"/>
                        </a:lnSpc>
                      </a:pPr>
                      <a:r>
                        <a:rPr sz="1100" spc="-25" dirty="0">
                          <a:latin typeface="Times New Roman"/>
                          <a:cs typeface="Times New Roman"/>
                        </a:rPr>
                        <a:t>12</a:t>
                      </a:r>
                      <a:endParaRPr sz="1100">
                        <a:latin typeface="Times New Roman"/>
                        <a:cs typeface="Times New Roman"/>
                      </a:endParaRPr>
                    </a:p>
                  </a:txBody>
                  <a:tcPr marL="0" marR="0" marT="65405" marB="0">
                    <a:lnL w="6350">
                      <a:solidFill>
                        <a:srgbClr val="999999"/>
                      </a:solidFill>
                      <a:prstDash val="solid"/>
                    </a:lnL>
                    <a:lnR w="6350">
                      <a:solidFill>
                        <a:srgbClr val="999999"/>
                      </a:solidFill>
                      <a:prstDash val="solid"/>
                    </a:lnR>
                    <a:lnT w="6350">
                      <a:solidFill>
                        <a:srgbClr val="999999"/>
                      </a:solidFill>
                      <a:prstDash val="solid"/>
                    </a:lnT>
                    <a:lnB w="6350">
                      <a:solidFill>
                        <a:srgbClr val="999999"/>
                      </a:solidFill>
                      <a:prstDash val="solid"/>
                    </a:lnB>
                  </a:tcPr>
                </a:tc>
                <a:tc>
                  <a:txBody>
                    <a:bodyPr/>
                    <a:lstStyle/>
                    <a:p>
                      <a:pPr>
                        <a:lnSpc>
                          <a:spcPct val="100000"/>
                        </a:lnSpc>
                        <a:spcBef>
                          <a:spcPts val="535"/>
                        </a:spcBef>
                      </a:pPr>
                      <a:endParaRPr sz="1100">
                        <a:latin typeface="Times New Roman"/>
                        <a:cs typeface="Times New Roman"/>
                      </a:endParaRPr>
                    </a:p>
                    <a:p>
                      <a:pPr marL="63500">
                        <a:lnSpc>
                          <a:spcPct val="100000"/>
                        </a:lnSpc>
                        <a:spcBef>
                          <a:spcPts val="5"/>
                        </a:spcBef>
                      </a:pPr>
                      <a:r>
                        <a:rPr sz="1100" b="1" spc="-10" dirty="0">
                          <a:latin typeface="Times New Roman"/>
                          <a:cs typeface="Times New Roman"/>
                        </a:rPr>
                        <a:t>Conclusion</a:t>
                      </a:r>
                      <a:endParaRPr sz="1100">
                        <a:latin typeface="Times New Roman"/>
                        <a:cs typeface="Times New Roman"/>
                      </a:endParaRPr>
                    </a:p>
                  </a:txBody>
                  <a:tcPr marL="0" marR="0" marT="67945" marB="0">
                    <a:lnL w="6350">
                      <a:solidFill>
                        <a:srgbClr val="999999"/>
                      </a:solidFill>
                      <a:prstDash val="solid"/>
                    </a:lnL>
                    <a:lnR w="6350">
                      <a:solidFill>
                        <a:srgbClr val="999999"/>
                      </a:solidFill>
                      <a:prstDash val="solid"/>
                    </a:lnR>
                    <a:lnT w="6350">
                      <a:solidFill>
                        <a:srgbClr val="999999"/>
                      </a:solidFill>
                      <a:prstDash val="solid"/>
                    </a:lnT>
                    <a:lnB w="6350">
                      <a:solidFill>
                        <a:srgbClr val="999999"/>
                      </a:solidFill>
                      <a:prstDash val="solid"/>
                    </a:lnB>
                  </a:tcPr>
                </a:tc>
                <a:tc>
                  <a:txBody>
                    <a:bodyPr/>
                    <a:lstStyle/>
                    <a:p>
                      <a:pPr marL="343535" lvl="1" indent="-280035">
                        <a:lnSpc>
                          <a:spcPct val="100000"/>
                        </a:lnSpc>
                        <a:spcBef>
                          <a:spcPts val="315"/>
                        </a:spcBef>
                        <a:buAutoNum type="arabicPeriod"/>
                        <a:tabLst>
                          <a:tab pos="343535" algn="l"/>
                        </a:tabLst>
                      </a:pPr>
                      <a:r>
                        <a:rPr sz="1100" dirty="0">
                          <a:latin typeface="Times New Roman"/>
                          <a:cs typeface="Times New Roman"/>
                        </a:rPr>
                        <a:t>Summary</a:t>
                      </a:r>
                      <a:r>
                        <a:rPr sz="1100" spc="-20" dirty="0">
                          <a:latin typeface="Times New Roman"/>
                          <a:cs typeface="Times New Roman"/>
                        </a:rPr>
                        <a:t> </a:t>
                      </a:r>
                      <a:r>
                        <a:rPr sz="1100" dirty="0">
                          <a:latin typeface="Times New Roman"/>
                          <a:cs typeface="Times New Roman"/>
                        </a:rPr>
                        <a:t>of</a:t>
                      </a:r>
                      <a:r>
                        <a:rPr sz="1100" spc="-5" dirty="0">
                          <a:latin typeface="Times New Roman"/>
                          <a:cs typeface="Times New Roman"/>
                        </a:rPr>
                        <a:t> </a:t>
                      </a:r>
                      <a:r>
                        <a:rPr sz="1100" dirty="0">
                          <a:latin typeface="Times New Roman"/>
                          <a:cs typeface="Times New Roman"/>
                        </a:rPr>
                        <a:t>the</a:t>
                      </a:r>
                      <a:r>
                        <a:rPr sz="1100" spc="-5" dirty="0">
                          <a:latin typeface="Times New Roman"/>
                          <a:cs typeface="Times New Roman"/>
                        </a:rPr>
                        <a:t> </a:t>
                      </a:r>
                      <a:r>
                        <a:rPr sz="1100" spc="-10" dirty="0">
                          <a:latin typeface="Times New Roman"/>
                          <a:cs typeface="Times New Roman"/>
                        </a:rPr>
                        <a:t>Project</a:t>
                      </a:r>
                      <a:endParaRPr sz="1100">
                        <a:latin typeface="Times New Roman"/>
                        <a:cs typeface="Times New Roman"/>
                      </a:endParaRPr>
                    </a:p>
                    <a:p>
                      <a:pPr marL="343535" lvl="1" indent="-280035">
                        <a:lnSpc>
                          <a:spcPct val="100000"/>
                        </a:lnSpc>
                        <a:spcBef>
                          <a:spcPts val="145"/>
                        </a:spcBef>
                        <a:buAutoNum type="arabicPeriod"/>
                        <a:tabLst>
                          <a:tab pos="343535" algn="l"/>
                        </a:tabLst>
                      </a:pPr>
                      <a:r>
                        <a:rPr sz="1100" dirty="0">
                          <a:latin typeface="Times New Roman"/>
                          <a:cs typeface="Times New Roman"/>
                        </a:rPr>
                        <a:t>What</a:t>
                      </a:r>
                      <a:r>
                        <a:rPr sz="1100" spc="-10" dirty="0">
                          <a:latin typeface="Times New Roman"/>
                          <a:cs typeface="Times New Roman"/>
                        </a:rPr>
                        <a:t> </a:t>
                      </a:r>
                      <a:r>
                        <a:rPr sz="1100" dirty="0">
                          <a:latin typeface="Times New Roman"/>
                          <a:cs typeface="Times New Roman"/>
                        </a:rPr>
                        <a:t>Was </a:t>
                      </a:r>
                      <a:r>
                        <a:rPr sz="1100" spc="-10" dirty="0">
                          <a:latin typeface="Times New Roman"/>
                          <a:cs typeface="Times New Roman"/>
                        </a:rPr>
                        <a:t>Achieved</a:t>
                      </a:r>
                      <a:endParaRPr sz="1100">
                        <a:latin typeface="Times New Roman"/>
                        <a:cs typeface="Times New Roman"/>
                      </a:endParaRPr>
                    </a:p>
                    <a:p>
                      <a:pPr marL="343535" lvl="1" indent="-280035">
                        <a:lnSpc>
                          <a:spcPct val="100000"/>
                        </a:lnSpc>
                        <a:spcBef>
                          <a:spcPts val="140"/>
                        </a:spcBef>
                        <a:buAutoNum type="arabicPeriod"/>
                        <a:tabLst>
                          <a:tab pos="343535" algn="l"/>
                        </a:tabLst>
                      </a:pPr>
                      <a:r>
                        <a:rPr sz="1100" dirty="0">
                          <a:latin typeface="Times New Roman"/>
                          <a:cs typeface="Times New Roman"/>
                        </a:rPr>
                        <a:t>Skills</a:t>
                      </a:r>
                      <a:r>
                        <a:rPr sz="1100" spc="-5" dirty="0">
                          <a:latin typeface="Times New Roman"/>
                          <a:cs typeface="Times New Roman"/>
                        </a:rPr>
                        <a:t> </a:t>
                      </a:r>
                      <a:r>
                        <a:rPr sz="1100" spc="-10" dirty="0">
                          <a:latin typeface="Times New Roman"/>
                          <a:cs typeface="Times New Roman"/>
                        </a:rPr>
                        <a:t>Learned</a:t>
                      </a:r>
                      <a:endParaRPr sz="1100">
                        <a:latin typeface="Times New Roman"/>
                        <a:cs typeface="Times New Roman"/>
                      </a:endParaRPr>
                    </a:p>
                  </a:txBody>
                  <a:tcPr marL="0" marR="0" marT="40005" marB="0">
                    <a:lnL w="6350">
                      <a:solidFill>
                        <a:srgbClr val="999999"/>
                      </a:solidFill>
                      <a:prstDash val="solid"/>
                    </a:lnL>
                    <a:lnR w="6350">
                      <a:solidFill>
                        <a:srgbClr val="999999"/>
                      </a:solidFill>
                      <a:prstDash val="solid"/>
                    </a:lnR>
                    <a:lnT w="6350">
                      <a:solidFill>
                        <a:srgbClr val="999999"/>
                      </a:solidFill>
                      <a:prstDash val="solid"/>
                    </a:lnT>
                    <a:lnB w="6350">
                      <a:solidFill>
                        <a:srgbClr val="999999"/>
                      </a:solidFill>
                      <a:prstDash val="solid"/>
                    </a:lnB>
                  </a:tcPr>
                </a:tc>
                <a:tc>
                  <a:txBody>
                    <a:bodyPr/>
                    <a:lstStyle/>
                    <a:p>
                      <a:pPr>
                        <a:lnSpc>
                          <a:spcPct val="100000"/>
                        </a:lnSpc>
                        <a:spcBef>
                          <a:spcPts val="515"/>
                        </a:spcBef>
                      </a:pPr>
                      <a:endParaRPr sz="1100">
                        <a:latin typeface="Times New Roman"/>
                        <a:cs typeface="Times New Roman"/>
                      </a:endParaRPr>
                    </a:p>
                    <a:p>
                      <a:pPr algn="ctr">
                        <a:lnSpc>
                          <a:spcPct val="100000"/>
                        </a:lnSpc>
                      </a:pPr>
                      <a:r>
                        <a:rPr sz="1100" spc="-25" dirty="0">
                          <a:latin typeface="Times New Roman"/>
                          <a:cs typeface="Times New Roman"/>
                        </a:rPr>
                        <a:t>20</a:t>
                      </a:r>
                      <a:endParaRPr sz="1100">
                        <a:latin typeface="Times New Roman"/>
                        <a:cs typeface="Times New Roman"/>
                      </a:endParaRPr>
                    </a:p>
                  </a:txBody>
                  <a:tcPr marL="0" marR="0" marT="65405" marB="0">
                    <a:lnL w="6350">
                      <a:solidFill>
                        <a:srgbClr val="999999"/>
                      </a:solidFill>
                      <a:prstDash val="solid"/>
                    </a:lnL>
                    <a:lnR w="6350">
                      <a:solidFill>
                        <a:srgbClr val="999999"/>
                      </a:solidFill>
                      <a:prstDash val="solid"/>
                    </a:lnR>
                    <a:lnT w="6350">
                      <a:solidFill>
                        <a:srgbClr val="999999"/>
                      </a:solidFill>
                      <a:prstDash val="solid"/>
                    </a:lnT>
                    <a:lnB w="6350">
                      <a:solidFill>
                        <a:srgbClr val="999999"/>
                      </a:solidFill>
                      <a:prstDash val="solid"/>
                    </a:lnB>
                  </a:tcPr>
                </a:tc>
                <a:extLst>
                  <a:ext uri="{0D108BD9-81ED-4DB2-BD59-A6C34878D82A}">
                    <a16:rowId xmlns:a16="http://schemas.microsoft.com/office/drawing/2014/main" val="10002"/>
                  </a:ext>
                </a:extLst>
              </a:tr>
              <a:tr h="294005">
                <a:tc>
                  <a:txBody>
                    <a:bodyPr/>
                    <a:lstStyle/>
                    <a:p>
                      <a:pPr algn="ctr">
                        <a:lnSpc>
                          <a:spcPct val="100000"/>
                        </a:lnSpc>
                        <a:spcBef>
                          <a:spcPts val="315"/>
                        </a:spcBef>
                      </a:pPr>
                      <a:r>
                        <a:rPr sz="1100" spc="-25" dirty="0">
                          <a:latin typeface="Times New Roman"/>
                          <a:cs typeface="Times New Roman"/>
                        </a:rPr>
                        <a:t>13</a:t>
                      </a:r>
                      <a:endParaRPr sz="1100">
                        <a:latin typeface="Times New Roman"/>
                        <a:cs typeface="Times New Roman"/>
                      </a:endParaRPr>
                    </a:p>
                  </a:txBody>
                  <a:tcPr marL="0" marR="0" marT="40005" marB="0">
                    <a:lnL w="6350">
                      <a:solidFill>
                        <a:srgbClr val="999999"/>
                      </a:solidFill>
                      <a:prstDash val="solid"/>
                    </a:lnL>
                    <a:lnR w="6350">
                      <a:solidFill>
                        <a:srgbClr val="999999"/>
                      </a:solidFill>
                      <a:prstDash val="solid"/>
                    </a:lnR>
                    <a:lnT w="6350">
                      <a:solidFill>
                        <a:srgbClr val="999999"/>
                      </a:solidFill>
                      <a:prstDash val="solid"/>
                    </a:lnT>
                    <a:lnB w="6350">
                      <a:solidFill>
                        <a:srgbClr val="999999"/>
                      </a:solidFill>
                      <a:prstDash val="solid"/>
                    </a:lnB>
                  </a:tcPr>
                </a:tc>
                <a:tc>
                  <a:txBody>
                    <a:bodyPr/>
                    <a:lstStyle/>
                    <a:p>
                      <a:pPr marL="63500">
                        <a:lnSpc>
                          <a:spcPct val="100000"/>
                        </a:lnSpc>
                        <a:spcBef>
                          <a:spcPts val="340"/>
                        </a:spcBef>
                      </a:pPr>
                      <a:r>
                        <a:rPr sz="1100" b="1" spc="-10" dirty="0">
                          <a:latin typeface="Times New Roman"/>
                          <a:cs typeface="Times New Roman"/>
                        </a:rPr>
                        <a:t>References</a:t>
                      </a:r>
                      <a:endParaRPr sz="1100">
                        <a:latin typeface="Times New Roman"/>
                        <a:cs typeface="Times New Roman"/>
                      </a:endParaRPr>
                    </a:p>
                  </a:txBody>
                  <a:tcPr marL="0" marR="0" marT="43180" marB="0">
                    <a:lnL w="6350">
                      <a:solidFill>
                        <a:srgbClr val="999999"/>
                      </a:solidFill>
                      <a:prstDash val="solid"/>
                    </a:lnL>
                    <a:lnR w="6350">
                      <a:solidFill>
                        <a:srgbClr val="999999"/>
                      </a:solidFill>
                      <a:prstDash val="solid"/>
                    </a:lnR>
                    <a:lnT w="6350">
                      <a:solidFill>
                        <a:srgbClr val="999999"/>
                      </a:solidFill>
                      <a:prstDash val="solid"/>
                    </a:lnT>
                    <a:lnB w="6350">
                      <a:solidFill>
                        <a:srgbClr val="999999"/>
                      </a:solidFill>
                      <a:prstDash val="solid"/>
                    </a:lnB>
                  </a:tcPr>
                </a:tc>
                <a:tc>
                  <a:txBody>
                    <a:bodyPr/>
                    <a:lstStyle/>
                    <a:p>
                      <a:pPr marL="63500">
                        <a:lnSpc>
                          <a:spcPct val="100000"/>
                        </a:lnSpc>
                        <a:spcBef>
                          <a:spcPts val="315"/>
                        </a:spcBef>
                      </a:pPr>
                      <a:r>
                        <a:rPr sz="1100" dirty="0">
                          <a:latin typeface="Times New Roman"/>
                          <a:cs typeface="Times New Roman"/>
                        </a:rPr>
                        <a:t>–</a:t>
                      </a:r>
                      <a:r>
                        <a:rPr sz="1100" spc="-15" dirty="0">
                          <a:latin typeface="Times New Roman"/>
                          <a:cs typeface="Times New Roman"/>
                        </a:rPr>
                        <a:t> </a:t>
                      </a:r>
                      <a:r>
                        <a:rPr sz="1100" dirty="0">
                          <a:latin typeface="Times New Roman"/>
                          <a:cs typeface="Times New Roman"/>
                        </a:rPr>
                        <a:t>Documentation,</a:t>
                      </a:r>
                      <a:r>
                        <a:rPr sz="1100" spc="-30" dirty="0">
                          <a:latin typeface="Times New Roman"/>
                          <a:cs typeface="Times New Roman"/>
                        </a:rPr>
                        <a:t> </a:t>
                      </a:r>
                      <a:r>
                        <a:rPr sz="1100" dirty="0">
                          <a:latin typeface="Times New Roman"/>
                          <a:cs typeface="Times New Roman"/>
                        </a:rPr>
                        <a:t>tools,</a:t>
                      </a:r>
                      <a:r>
                        <a:rPr sz="1100" spc="-15" dirty="0">
                          <a:latin typeface="Times New Roman"/>
                          <a:cs typeface="Times New Roman"/>
                        </a:rPr>
                        <a:t> </a:t>
                      </a:r>
                      <a:r>
                        <a:rPr sz="1100" dirty="0">
                          <a:latin typeface="Times New Roman"/>
                          <a:cs typeface="Times New Roman"/>
                        </a:rPr>
                        <a:t>and</a:t>
                      </a:r>
                      <a:r>
                        <a:rPr sz="1100" spc="-15" dirty="0">
                          <a:latin typeface="Times New Roman"/>
                          <a:cs typeface="Times New Roman"/>
                        </a:rPr>
                        <a:t> </a:t>
                      </a:r>
                      <a:r>
                        <a:rPr sz="1100" dirty="0">
                          <a:latin typeface="Times New Roman"/>
                          <a:cs typeface="Times New Roman"/>
                        </a:rPr>
                        <a:t>resources</a:t>
                      </a:r>
                      <a:r>
                        <a:rPr sz="1100" spc="-15" dirty="0">
                          <a:latin typeface="Times New Roman"/>
                          <a:cs typeface="Times New Roman"/>
                        </a:rPr>
                        <a:t> </a:t>
                      </a:r>
                      <a:r>
                        <a:rPr sz="1100" spc="-20" dirty="0">
                          <a:latin typeface="Times New Roman"/>
                          <a:cs typeface="Times New Roman"/>
                        </a:rPr>
                        <a:t>used</a:t>
                      </a:r>
                      <a:endParaRPr sz="1100">
                        <a:latin typeface="Times New Roman"/>
                        <a:cs typeface="Times New Roman"/>
                      </a:endParaRPr>
                    </a:p>
                  </a:txBody>
                  <a:tcPr marL="0" marR="0" marT="40005" marB="0">
                    <a:lnL w="6350">
                      <a:solidFill>
                        <a:srgbClr val="999999"/>
                      </a:solidFill>
                      <a:prstDash val="solid"/>
                    </a:lnL>
                    <a:lnR w="6350">
                      <a:solidFill>
                        <a:srgbClr val="999999"/>
                      </a:solidFill>
                      <a:prstDash val="solid"/>
                    </a:lnR>
                    <a:lnT w="6350">
                      <a:solidFill>
                        <a:srgbClr val="999999"/>
                      </a:solidFill>
                      <a:prstDash val="solid"/>
                    </a:lnT>
                    <a:lnB w="6350">
                      <a:solidFill>
                        <a:srgbClr val="999999"/>
                      </a:solidFill>
                      <a:prstDash val="solid"/>
                    </a:lnB>
                  </a:tcPr>
                </a:tc>
                <a:tc>
                  <a:txBody>
                    <a:bodyPr/>
                    <a:lstStyle/>
                    <a:p>
                      <a:pPr algn="ctr">
                        <a:lnSpc>
                          <a:spcPct val="100000"/>
                        </a:lnSpc>
                        <a:spcBef>
                          <a:spcPts val="315"/>
                        </a:spcBef>
                      </a:pPr>
                      <a:r>
                        <a:rPr sz="1100" spc="-25" dirty="0">
                          <a:latin typeface="Times New Roman"/>
                          <a:cs typeface="Times New Roman"/>
                        </a:rPr>
                        <a:t>21</a:t>
                      </a:r>
                      <a:endParaRPr sz="1100">
                        <a:latin typeface="Times New Roman"/>
                        <a:cs typeface="Times New Roman"/>
                      </a:endParaRPr>
                    </a:p>
                  </a:txBody>
                  <a:tcPr marL="0" marR="0" marT="40005" marB="0">
                    <a:lnL w="6350">
                      <a:solidFill>
                        <a:srgbClr val="999999"/>
                      </a:solidFill>
                      <a:prstDash val="solid"/>
                    </a:lnL>
                    <a:lnR w="6350">
                      <a:solidFill>
                        <a:srgbClr val="999999"/>
                      </a:solidFill>
                      <a:prstDash val="solid"/>
                    </a:lnR>
                    <a:lnT w="6350">
                      <a:solidFill>
                        <a:srgbClr val="999999"/>
                      </a:solidFill>
                      <a:prstDash val="solid"/>
                    </a:lnT>
                    <a:lnB w="6350">
                      <a:solidFill>
                        <a:srgbClr val="999999"/>
                      </a:solidFill>
                      <a:prstDash val="solid"/>
                    </a:lnB>
                  </a:tcPr>
                </a:tc>
                <a:extLst>
                  <a:ext uri="{0D108BD9-81ED-4DB2-BD59-A6C34878D82A}">
                    <a16:rowId xmlns:a16="http://schemas.microsoft.com/office/drawing/2014/main" val="10003"/>
                  </a:ext>
                </a:extLst>
              </a:tr>
              <a:tr h="1038225">
                <a:tc>
                  <a:txBody>
                    <a:bodyPr/>
                    <a:lstStyle/>
                    <a:p>
                      <a:pPr>
                        <a:lnSpc>
                          <a:spcPct val="100000"/>
                        </a:lnSpc>
                      </a:pPr>
                      <a:endParaRPr sz="1100">
                        <a:latin typeface="Times New Roman"/>
                        <a:cs typeface="Times New Roman"/>
                      </a:endParaRPr>
                    </a:p>
                    <a:p>
                      <a:pPr>
                        <a:lnSpc>
                          <a:spcPct val="100000"/>
                        </a:lnSpc>
                        <a:spcBef>
                          <a:spcPts val="715"/>
                        </a:spcBef>
                      </a:pPr>
                      <a:endParaRPr sz="1100">
                        <a:latin typeface="Times New Roman"/>
                        <a:cs typeface="Times New Roman"/>
                      </a:endParaRPr>
                    </a:p>
                    <a:p>
                      <a:pPr algn="ctr">
                        <a:lnSpc>
                          <a:spcPct val="100000"/>
                        </a:lnSpc>
                      </a:pPr>
                      <a:r>
                        <a:rPr sz="1100" spc="-25" dirty="0">
                          <a:latin typeface="Times New Roman"/>
                          <a:cs typeface="Times New Roman"/>
                        </a:rPr>
                        <a:t>14</a:t>
                      </a:r>
                      <a:endParaRPr sz="1100">
                        <a:latin typeface="Times New Roman"/>
                        <a:cs typeface="Times New Roman"/>
                      </a:endParaRPr>
                    </a:p>
                  </a:txBody>
                  <a:tcPr marL="0" marR="0" marT="0" marB="0">
                    <a:lnL w="6350">
                      <a:solidFill>
                        <a:srgbClr val="999999"/>
                      </a:solidFill>
                      <a:prstDash val="solid"/>
                    </a:lnL>
                    <a:lnR w="6350">
                      <a:solidFill>
                        <a:srgbClr val="999999"/>
                      </a:solidFill>
                      <a:prstDash val="solid"/>
                    </a:lnR>
                    <a:lnT w="6350">
                      <a:solidFill>
                        <a:srgbClr val="999999"/>
                      </a:solidFill>
                      <a:prstDash val="solid"/>
                    </a:lnT>
                    <a:lnB w="6350">
                      <a:solidFill>
                        <a:srgbClr val="999999"/>
                      </a:solidFill>
                      <a:prstDash val="solid"/>
                    </a:lnB>
                  </a:tcPr>
                </a:tc>
                <a:tc>
                  <a:txBody>
                    <a:bodyPr/>
                    <a:lstStyle/>
                    <a:p>
                      <a:pPr>
                        <a:lnSpc>
                          <a:spcPct val="100000"/>
                        </a:lnSpc>
                      </a:pPr>
                      <a:endParaRPr sz="1100">
                        <a:latin typeface="Times New Roman"/>
                        <a:cs typeface="Times New Roman"/>
                      </a:endParaRPr>
                    </a:p>
                    <a:p>
                      <a:pPr>
                        <a:lnSpc>
                          <a:spcPct val="100000"/>
                        </a:lnSpc>
                        <a:spcBef>
                          <a:spcPts val="740"/>
                        </a:spcBef>
                      </a:pPr>
                      <a:endParaRPr sz="1100">
                        <a:latin typeface="Times New Roman"/>
                        <a:cs typeface="Times New Roman"/>
                      </a:endParaRPr>
                    </a:p>
                    <a:p>
                      <a:pPr marL="63500">
                        <a:lnSpc>
                          <a:spcPct val="100000"/>
                        </a:lnSpc>
                      </a:pPr>
                      <a:r>
                        <a:rPr sz="1100" b="1" spc="-10" dirty="0">
                          <a:latin typeface="Times New Roman"/>
                          <a:cs typeface="Times New Roman"/>
                        </a:rPr>
                        <a:t>Appendices</a:t>
                      </a:r>
                      <a:endParaRPr sz="1100">
                        <a:latin typeface="Times New Roman"/>
                        <a:cs typeface="Times New Roman"/>
                      </a:endParaRPr>
                    </a:p>
                  </a:txBody>
                  <a:tcPr marL="0" marR="0" marT="0" marB="0">
                    <a:lnL w="6350">
                      <a:solidFill>
                        <a:srgbClr val="999999"/>
                      </a:solidFill>
                      <a:prstDash val="solid"/>
                    </a:lnL>
                    <a:lnR w="6350">
                      <a:solidFill>
                        <a:srgbClr val="999999"/>
                      </a:solidFill>
                      <a:prstDash val="solid"/>
                    </a:lnR>
                    <a:lnT w="6350">
                      <a:solidFill>
                        <a:srgbClr val="999999"/>
                      </a:solidFill>
                      <a:prstDash val="solid"/>
                    </a:lnT>
                    <a:lnB w="6350">
                      <a:solidFill>
                        <a:srgbClr val="999999"/>
                      </a:solidFill>
                      <a:prstDash val="solid"/>
                    </a:lnB>
                  </a:tcPr>
                </a:tc>
                <a:tc>
                  <a:txBody>
                    <a:bodyPr/>
                    <a:lstStyle/>
                    <a:p>
                      <a:pPr marL="168275" indent="-104775">
                        <a:lnSpc>
                          <a:spcPct val="100000"/>
                        </a:lnSpc>
                        <a:spcBef>
                          <a:spcPts val="315"/>
                        </a:spcBef>
                        <a:buChar char="–"/>
                        <a:tabLst>
                          <a:tab pos="168275" algn="l"/>
                        </a:tabLst>
                      </a:pPr>
                      <a:r>
                        <a:rPr sz="1100" dirty="0">
                          <a:latin typeface="Times New Roman"/>
                          <a:cs typeface="Times New Roman"/>
                        </a:rPr>
                        <a:t>Sample</a:t>
                      </a:r>
                      <a:r>
                        <a:rPr sz="1100" spc="-10" dirty="0">
                          <a:latin typeface="Times New Roman"/>
                          <a:cs typeface="Times New Roman"/>
                        </a:rPr>
                        <a:t> </a:t>
                      </a:r>
                      <a:r>
                        <a:rPr sz="1100" dirty="0">
                          <a:latin typeface="Times New Roman"/>
                          <a:cs typeface="Times New Roman"/>
                        </a:rPr>
                        <a:t>Code</a:t>
                      </a:r>
                      <a:r>
                        <a:rPr sz="1100" spc="-5" dirty="0">
                          <a:latin typeface="Times New Roman"/>
                          <a:cs typeface="Times New Roman"/>
                        </a:rPr>
                        <a:t> </a:t>
                      </a:r>
                      <a:r>
                        <a:rPr sz="1100" spc="-10" dirty="0">
                          <a:latin typeface="Times New Roman"/>
                          <a:cs typeface="Times New Roman"/>
                        </a:rPr>
                        <a:t>Snippets</a:t>
                      </a:r>
                      <a:endParaRPr sz="1100">
                        <a:latin typeface="Times New Roman"/>
                        <a:cs typeface="Times New Roman"/>
                      </a:endParaRPr>
                    </a:p>
                    <a:p>
                      <a:pPr marL="168275" indent="-104775">
                        <a:lnSpc>
                          <a:spcPct val="100000"/>
                        </a:lnSpc>
                        <a:spcBef>
                          <a:spcPts val="145"/>
                        </a:spcBef>
                        <a:buChar char="–"/>
                        <a:tabLst>
                          <a:tab pos="168275" algn="l"/>
                        </a:tabLst>
                      </a:pPr>
                      <a:r>
                        <a:rPr sz="1100" dirty="0">
                          <a:latin typeface="Times New Roman"/>
                          <a:cs typeface="Times New Roman"/>
                        </a:rPr>
                        <a:t>Installation /</a:t>
                      </a:r>
                      <a:r>
                        <a:rPr sz="1100" spc="-5" dirty="0">
                          <a:latin typeface="Times New Roman"/>
                          <a:cs typeface="Times New Roman"/>
                        </a:rPr>
                        <a:t> </a:t>
                      </a:r>
                      <a:r>
                        <a:rPr sz="1100" dirty="0">
                          <a:latin typeface="Times New Roman"/>
                          <a:cs typeface="Times New Roman"/>
                        </a:rPr>
                        <a:t>Setup </a:t>
                      </a:r>
                      <a:r>
                        <a:rPr sz="1100" spc="-10" dirty="0">
                          <a:latin typeface="Times New Roman"/>
                          <a:cs typeface="Times New Roman"/>
                        </a:rPr>
                        <a:t>Instructions</a:t>
                      </a:r>
                      <a:endParaRPr sz="1100">
                        <a:latin typeface="Times New Roman"/>
                        <a:cs typeface="Times New Roman"/>
                      </a:endParaRPr>
                    </a:p>
                    <a:p>
                      <a:pPr marL="168275" indent="-104775">
                        <a:lnSpc>
                          <a:spcPct val="100000"/>
                        </a:lnSpc>
                        <a:spcBef>
                          <a:spcPts val="145"/>
                        </a:spcBef>
                        <a:buChar char="–"/>
                        <a:tabLst>
                          <a:tab pos="168275" algn="l"/>
                        </a:tabLst>
                      </a:pPr>
                      <a:r>
                        <a:rPr sz="1100" dirty="0">
                          <a:latin typeface="Times New Roman"/>
                          <a:cs typeface="Times New Roman"/>
                        </a:rPr>
                        <a:t>Default</a:t>
                      </a:r>
                      <a:r>
                        <a:rPr sz="1100" spc="-20" dirty="0">
                          <a:latin typeface="Times New Roman"/>
                          <a:cs typeface="Times New Roman"/>
                        </a:rPr>
                        <a:t> </a:t>
                      </a:r>
                      <a:r>
                        <a:rPr sz="1100" dirty="0">
                          <a:latin typeface="Times New Roman"/>
                          <a:cs typeface="Times New Roman"/>
                        </a:rPr>
                        <a:t>Login</a:t>
                      </a:r>
                      <a:r>
                        <a:rPr sz="1100" spc="-20" dirty="0">
                          <a:latin typeface="Times New Roman"/>
                          <a:cs typeface="Times New Roman"/>
                        </a:rPr>
                        <a:t> </a:t>
                      </a:r>
                      <a:r>
                        <a:rPr sz="1100" spc="-10" dirty="0">
                          <a:latin typeface="Times New Roman"/>
                          <a:cs typeface="Times New Roman"/>
                        </a:rPr>
                        <a:t>Credentials</a:t>
                      </a:r>
                      <a:endParaRPr sz="1100">
                        <a:latin typeface="Times New Roman"/>
                        <a:cs typeface="Times New Roman"/>
                      </a:endParaRPr>
                    </a:p>
                    <a:p>
                      <a:pPr marL="168275" indent="-104775">
                        <a:lnSpc>
                          <a:spcPct val="100000"/>
                        </a:lnSpc>
                        <a:spcBef>
                          <a:spcPts val="145"/>
                        </a:spcBef>
                        <a:buChar char="–"/>
                        <a:tabLst>
                          <a:tab pos="168275" algn="l"/>
                        </a:tabLst>
                      </a:pPr>
                      <a:r>
                        <a:rPr sz="1100" dirty="0">
                          <a:latin typeface="Times New Roman"/>
                          <a:cs typeface="Times New Roman"/>
                        </a:rPr>
                        <a:t>API</a:t>
                      </a:r>
                      <a:r>
                        <a:rPr sz="1100" spc="-25" dirty="0">
                          <a:latin typeface="Times New Roman"/>
                          <a:cs typeface="Times New Roman"/>
                        </a:rPr>
                        <a:t> </a:t>
                      </a:r>
                      <a:r>
                        <a:rPr sz="1100" dirty="0">
                          <a:latin typeface="Times New Roman"/>
                          <a:cs typeface="Times New Roman"/>
                        </a:rPr>
                        <a:t>Reference</a:t>
                      </a:r>
                      <a:r>
                        <a:rPr sz="1100" spc="-20" dirty="0">
                          <a:latin typeface="Times New Roman"/>
                          <a:cs typeface="Times New Roman"/>
                        </a:rPr>
                        <a:t> </a:t>
                      </a:r>
                      <a:r>
                        <a:rPr sz="1100" spc="-10" dirty="0">
                          <a:latin typeface="Times New Roman"/>
                          <a:cs typeface="Times New Roman"/>
                        </a:rPr>
                        <a:t>Summary</a:t>
                      </a:r>
                      <a:endParaRPr sz="1100">
                        <a:latin typeface="Times New Roman"/>
                        <a:cs typeface="Times New Roman"/>
                      </a:endParaRPr>
                    </a:p>
                    <a:p>
                      <a:pPr marL="168275" indent="-104775">
                        <a:lnSpc>
                          <a:spcPct val="100000"/>
                        </a:lnSpc>
                        <a:spcBef>
                          <a:spcPts val="145"/>
                        </a:spcBef>
                        <a:buChar char="–"/>
                        <a:tabLst>
                          <a:tab pos="168275" algn="l"/>
                        </a:tabLst>
                      </a:pPr>
                      <a:r>
                        <a:rPr sz="1100" dirty="0">
                          <a:latin typeface="Times New Roman"/>
                          <a:cs typeface="Times New Roman"/>
                        </a:rPr>
                        <a:t>Screenshots</a:t>
                      </a:r>
                      <a:r>
                        <a:rPr sz="1100" spc="-15" dirty="0">
                          <a:latin typeface="Times New Roman"/>
                          <a:cs typeface="Times New Roman"/>
                        </a:rPr>
                        <a:t> </a:t>
                      </a:r>
                      <a:r>
                        <a:rPr sz="1100" dirty="0">
                          <a:latin typeface="Times New Roman"/>
                          <a:cs typeface="Times New Roman"/>
                        </a:rPr>
                        <a:t>(to be</a:t>
                      </a:r>
                      <a:r>
                        <a:rPr sz="1100" spc="-10" dirty="0">
                          <a:latin typeface="Times New Roman"/>
                          <a:cs typeface="Times New Roman"/>
                        </a:rPr>
                        <a:t> </a:t>
                      </a:r>
                      <a:r>
                        <a:rPr sz="1100" dirty="0">
                          <a:latin typeface="Times New Roman"/>
                          <a:cs typeface="Times New Roman"/>
                        </a:rPr>
                        <a:t>added</a:t>
                      </a:r>
                      <a:r>
                        <a:rPr sz="1100" spc="-20" dirty="0">
                          <a:latin typeface="Times New Roman"/>
                          <a:cs typeface="Times New Roman"/>
                        </a:rPr>
                        <a:t> </a:t>
                      </a:r>
                      <a:r>
                        <a:rPr sz="1100" dirty="0">
                          <a:latin typeface="Times New Roman"/>
                          <a:cs typeface="Times New Roman"/>
                        </a:rPr>
                        <a:t>by</a:t>
                      </a:r>
                      <a:r>
                        <a:rPr sz="1100" spc="-15" dirty="0">
                          <a:latin typeface="Times New Roman"/>
                          <a:cs typeface="Times New Roman"/>
                        </a:rPr>
                        <a:t> </a:t>
                      </a:r>
                      <a:r>
                        <a:rPr sz="1100" dirty="0">
                          <a:latin typeface="Times New Roman"/>
                          <a:cs typeface="Times New Roman"/>
                        </a:rPr>
                        <a:t>the </a:t>
                      </a:r>
                      <a:r>
                        <a:rPr sz="1100" spc="-10" dirty="0">
                          <a:latin typeface="Times New Roman"/>
                          <a:cs typeface="Times New Roman"/>
                        </a:rPr>
                        <a:t>student)</a:t>
                      </a:r>
                      <a:endParaRPr sz="1100">
                        <a:latin typeface="Times New Roman"/>
                        <a:cs typeface="Times New Roman"/>
                      </a:endParaRPr>
                    </a:p>
                  </a:txBody>
                  <a:tcPr marL="0" marR="0" marT="40005" marB="0">
                    <a:lnL w="6350">
                      <a:solidFill>
                        <a:srgbClr val="999999"/>
                      </a:solidFill>
                      <a:prstDash val="solid"/>
                    </a:lnL>
                    <a:lnR w="6350">
                      <a:solidFill>
                        <a:srgbClr val="999999"/>
                      </a:solidFill>
                      <a:prstDash val="solid"/>
                    </a:lnR>
                    <a:lnT w="6350">
                      <a:solidFill>
                        <a:srgbClr val="999999"/>
                      </a:solidFill>
                      <a:prstDash val="solid"/>
                    </a:lnT>
                    <a:lnB w="6350">
                      <a:solidFill>
                        <a:srgbClr val="999999"/>
                      </a:solidFill>
                      <a:prstDash val="solid"/>
                    </a:lnB>
                  </a:tcPr>
                </a:tc>
                <a:tc>
                  <a:txBody>
                    <a:bodyPr/>
                    <a:lstStyle/>
                    <a:p>
                      <a:pPr>
                        <a:lnSpc>
                          <a:spcPct val="100000"/>
                        </a:lnSpc>
                      </a:pPr>
                      <a:endParaRPr sz="1100">
                        <a:latin typeface="Times New Roman"/>
                        <a:cs typeface="Times New Roman"/>
                      </a:endParaRPr>
                    </a:p>
                    <a:p>
                      <a:pPr>
                        <a:lnSpc>
                          <a:spcPct val="100000"/>
                        </a:lnSpc>
                        <a:spcBef>
                          <a:spcPts val="715"/>
                        </a:spcBef>
                      </a:pPr>
                      <a:endParaRPr sz="1100">
                        <a:latin typeface="Times New Roman"/>
                        <a:cs typeface="Times New Roman"/>
                      </a:endParaRPr>
                    </a:p>
                    <a:p>
                      <a:pPr algn="ctr">
                        <a:lnSpc>
                          <a:spcPct val="100000"/>
                        </a:lnSpc>
                      </a:pPr>
                      <a:r>
                        <a:rPr sz="1100" spc="-25" dirty="0">
                          <a:latin typeface="Times New Roman"/>
                          <a:cs typeface="Times New Roman"/>
                        </a:rPr>
                        <a:t>22</a:t>
                      </a:r>
                      <a:endParaRPr sz="1100">
                        <a:latin typeface="Times New Roman"/>
                        <a:cs typeface="Times New Roman"/>
                      </a:endParaRPr>
                    </a:p>
                  </a:txBody>
                  <a:tcPr marL="0" marR="0" marT="0" marB="0">
                    <a:lnL w="6350">
                      <a:solidFill>
                        <a:srgbClr val="999999"/>
                      </a:solidFill>
                      <a:prstDash val="solid"/>
                    </a:lnL>
                    <a:lnR w="6350">
                      <a:solidFill>
                        <a:srgbClr val="999999"/>
                      </a:solidFill>
                      <a:prstDash val="solid"/>
                    </a:lnR>
                    <a:lnT w="6350">
                      <a:solidFill>
                        <a:srgbClr val="999999"/>
                      </a:solidFill>
                      <a:prstDash val="solid"/>
                    </a:lnT>
                    <a:lnB w="6350">
                      <a:solidFill>
                        <a:srgbClr val="999999"/>
                      </a:solidFill>
                      <a:prstDash val="soli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665602" y="950721"/>
            <a:ext cx="769620"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CHAPTER</a:t>
            </a:r>
            <a:endParaRPr sz="1200">
              <a:latin typeface="Times New Roman"/>
              <a:cs typeface="Times New Roman"/>
            </a:endParaRPr>
          </a:p>
        </p:txBody>
      </p:sp>
      <p:sp>
        <p:nvSpPr>
          <p:cNvPr id="3" name="object 3"/>
          <p:cNvSpPr txBox="1"/>
          <p:nvPr/>
        </p:nvSpPr>
        <p:spPr>
          <a:xfrm>
            <a:off x="3458590" y="969212"/>
            <a:ext cx="1381760" cy="180340"/>
          </a:xfrm>
          <a:prstGeom prst="rect">
            <a:avLst/>
          </a:prstGeom>
          <a:solidFill>
            <a:srgbClr val="F8F8F8"/>
          </a:solidFill>
        </p:spPr>
        <p:txBody>
          <a:bodyPr vert="horz" wrap="square" lIns="0" tIns="0" rIns="0" bIns="0" rtlCol="0">
            <a:spAutoFit/>
          </a:bodyPr>
          <a:lstStyle/>
          <a:p>
            <a:pPr>
              <a:lnSpc>
                <a:spcPts val="1395"/>
              </a:lnSpc>
            </a:pPr>
            <a:r>
              <a:rPr sz="1200" b="1" spc="-10" dirty="0">
                <a:latin typeface="Times New Roman"/>
                <a:cs typeface="Times New Roman"/>
              </a:rPr>
              <a:t>-</a:t>
            </a:r>
            <a:r>
              <a:rPr sz="1200" b="1" dirty="0">
                <a:latin typeface="Times New Roman"/>
                <a:cs typeface="Times New Roman"/>
              </a:rPr>
              <a:t>1</a:t>
            </a:r>
            <a:r>
              <a:rPr sz="1200" b="1" spc="-10" dirty="0">
                <a:latin typeface="Times New Roman"/>
                <a:cs typeface="Times New Roman"/>
              </a:rPr>
              <a:t> INTRODUCTION</a:t>
            </a:r>
            <a:endParaRPr sz="1200">
              <a:latin typeface="Times New Roman"/>
              <a:cs typeface="Times New Roman"/>
            </a:endParaRPr>
          </a:p>
        </p:txBody>
      </p:sp>
      <p:sp>
        <p:nvSpPr>
          <p:cNvPr id="4" name="object 4"/>
          <p:cNvSpPr txBox="1"/>
          <p:nvPr/>
        </p:nvSpPr>
        <p:spPr>
          <a:xfrm>
            <a:off x="796848" y="1200121"/>
            <a:ext cx="5970270" cy="8617103"/>
          </a:xfrm>
          <a:prstGeom prst="rect">
            <a:avLst/>
          </a:prstGeom>
        </p:spPr>
        <p:txBody>
          <a:bodyPr vert="horz" wrap="square" lIns="0" tIns="93345" rIns="0" bIns="0" rtlCol="0">
            <a:spAutoFit/>
          </a:bodyPr>
          <a:lstStyle/>
          <a:p>
            <a:pPr marL="259079" lvl="1" indent="-246379" algn="just">
              <a:lnSpc>
                <a:spcPct val="100000"/>
              </a:lnSpc>
              <a:spcBef>
                <a:spcPts val="735"/>
              </a:spcBef>
              <a:buAutoNum type="arabicPeriod"/>
              <a:tabLst>
                <a:tab pos="259079" algn="l"/>
              </a:tabLst>
            </a:pPr>
            <a:r>
              <a:rPr sz="1300" b="1" dirty="0">
                <a:latin typeface="Times New Roman"/>
                <a:cs typeface="Times New Roman"/>
              </a:rPr>
              <a:t>Background</a:t>
            </a:r>
            <a:r>
              <a:rPr sz="1300" b="1" spc="-25" dirty="0">
                <a:latin typeface="Times New Roman"/>
                <a:cs typeface="Times New Roman"/>
              </a:rPr>
              <a:t> </a:t>
            </a:r>
            <a:r>
              <a:rPr sz="1300" b="1" dirty="0">
                <a:latin typeface="Times New Roman"/>
                <a:cs typeface="Times New Roman"/>
              </a:rPr>
              <a:t>of</a:t>
            </a:r>
            <a:r>
              <a:rPr sz="1300" b="1" spc="-35" dirty="0">
                <a:latin typeface="Times New Roman"/>
                <a:cs typeface="Times New Roman"/>
              </a:rPr>
              <a:t> </a:t>
            </a:r>
            <a:r>
              <a:rPr sz="1300" b="1" dirty="0">
                <a:latin typeface="Times New Roman"/>
                <a:cs typeface="Times New Roman"/>
              </a:rPr>
              <a:t>the</a:t>
            </a:r>
            <a:r>
              <a:rPr sz="1300" b="1" spc="-20" dirty="0">
                <a:latin typeface="Times New Roman"/>
                <a:cs typeface="Times New Roman"/>
              </a:rPr>
              <a:t> </a:t>
            </a:r>
            <a:r>
              <a:rPr sz="1300" b="1" spc="-10" dirty="0">
                <a:latin typeface="Times New Roman"/>
                <a:cs typeface="Times New Roman"/>
              </a:rPr>
              <a:t>Project</a:t>
            </a:r>
            <a:endParaRPr sz="1300" dirty="0">
              <a:latin typeface="Times New Roman"/>
              <a:cs typeface="Times New Roman"/>
            </a:endParaRPr>
          </a:p>
          <a:p>
            <a:r>
              <a:rPr lang="en-IN" sz="1200" dirty="0">
                <a:latin typeface="Times New Roman" panose="02020603050405020304" pitchFamily="18" charset="0"/>
                <a:cs typeface="Times New Roman" panose="02020603050405020304" pitchFamily="18" charset="0"/>
              </a:rPr>
              <a:t>Libraries routinely manage a large number of books, students, issue and return transactions, fines, and inventory records. In many libraries, these activities may be coordinated through manual registers, spreadsheets, or separate records. This can work when the number of books and users is small, but becomes difficult as library usage increases, leading to problems such as outdated availability information, difficulty tracking borrowed books, errors in fine records, and inefficient inventory management.</a:t>
            </a:r>
          </a:p>
          <a:p>
            <a:r>
              <a:rPr lang="en-IN" sz="1200" dirty="0">
                <a:latin typeface="Times New Roman" panose="02020603050405020304" pitchFamily="18" charset="0"/>
                <a:cs typeface="Times New Roman" panose="02020603050405020304" pitchFamily="18" charset="0"/>
              </a:rPr>
              <a:t>The </a:t>
            </a:r>
            <a:r>
              <a:rPr lang="en-IN" sz="1200" b="1" dirty="0">
                <a:latin typeface="Times New Roman" panose="02020603050405020304" pitchFamily="18" charset="0"/>
                <a:cs typeface="Times New Roman" panose="02020603050405020304" pitchFamily="18" charset="0"/>
              </a:rPr>
              <a:t>Library Management System with RFID Integration</a:t>
            </a:r>
            <a:r>
              <a:rPr lang="en-IN" sz="1200" dirty="0">
                <a:latin typeface="Times New Roman" panose="02020603050405020304" pitchFamily="18" charset="0"/>
                <a:cs typeface="Times New Roman" panose="02020603050405020304" pitchFamily="18" charset="0"/>
              </a:rPr>
              <a:t> was built to replace this fragmented management with a single, database-backed source of truth. Every book, member, transaction, and fine is stored in a centralized MySQL database, while the system provides a web interface for managing these records. The system can track whether a book is available or issued, associate transactions with members, manage returns and fines, and provide dashboard statistics. A software-based RFID simulator is also included to demonstrate how RFID identification can be integrated into the issue and return process, while role-based access allows administrators, librarians, and students to access the functions relevant to them. </a:t>
            </a:r>
          </a:p>
          <a:p>
            <a:pPr marL="259079" lvl="1" indent="-246379" algn="just">
              <a:lnSpc>
                <a:spcPct val="100000"/>
              </a:lnSpc>
              <a:spcBef>
                <a:spcPts val="1375"/>
              </a:spcBef>
              <a:buAutoNum type="arabicPeriod" startAt="2"/>
              <a:tabLst>
                <a:tab pos="259079" algn="l"/>
              </a:tabLst>
            </a:pPr>
            <a:r>
              <a:rPr sz="1300" b="1" dirty="0">
                <a:latin typeface="Times New Roman"/>
                <a:cs typeface="Times New Roman"/>
              </a:rPr>
              <a:t>Problem</a:t>
            </a:r>
            <a:r>
              <a:rPr sz="1300" b="1" spc="-45" dirty="0">
                <a:latin typeface="Times New Roman"/>
                <a:cs typeface="Times New Roman"/>
              </a:rPr>
              <a:t> </a:t>
            </a:r>
            <a:r>
              <a:rPr sz="1300" b="1" spc="-10" dirty="0">
                <a:latin typeface="Times New Roman"/>
                <a:cs typeface="Times New Roman"/>
              </a:rPr>
              <a:t>Statement</a:t>
            </a:r>
            <a:endParaRPr sz="1300" dirty="0">
              <a:latin typeface="Times New Roman"/>
              <a:cs typeface="Times New Roman"/>
            </a:endParaRPr>
          </a:p>
          <a:p>
            <a:r>
              <a:rPr lang="en-IN" sz="1200" dirty="0">
                <a:latin typeface="Times New Roman" panose="02020603050405020304" pitchFamily="18" charset="0"/>
                <a:cs typeface="Times New Roman" panose="02020603050405020304" pitchFamily="18" charset="0"/>
              </a:rPr>
              <a:t>Libraries manage a large number of books, students, issue and return transactions, fines, and inventory records. When these activities are handled through manual registers, spreadsheets, or separate records, it becomes difficult to maintain accurate and up-to-date information about book availability, borrowed books, due dates, fines, and inventory. This can lead to outdated records, duplicate entries, and inefficient library operations.</a:t>
            </a:r>
          </a:p>
          <a:p>
            <a:r>
              <a:rPr lang="en-IN" sz="1200" dirty="0">
                <a:latin typeface="Times New Roman" panose="02020603050405020304" pitchFamily="18" charset="0"/>
                <a:cs typeface="Times New Roman" panose="02020603050405020304" pitchFamily="18" charset="0"/>
              </a:rPr>
              <a:t>The </a:t>
            </a:r>
            <a:r>
              <a:rPr lang="en-IN" sz="1200" b="1" dirty="0">
                <a:latin typeface="Times New Roman" panose="02020603050405020304" pitchFamily="18" charset="0"/>
                <a:cs typeface="Times New Roman" panose="02020603050405020304" pitchFamily="18" charset="0"/>
              </a:rPr>
              <a:t>Library Management System with RFID Integration</a:t>
            </a:r>
            <a:r>
              <a:rPr lang="en-IN" sz="1200" dirty="0">
                <a:latin typeface="Times New Roman" panose="02020603050405020304" pitchFamily="18" charset="0"/>
                <a:cs typeface="Times New Roman" panose="02020603050405020304" pitchFamily="18" charset="0"/>
              </a:rPr>
              <a:t> addresses these problems by providing a centralized, database-backed system for managing books, members, transactions, and fines. The system maintains accurate book availability, tracks issue and return activities, manages fines, and provides role-based access for administrators, librarians, and students. A software-based RFID simulator is also included to demonstrate RFID-based book identification during library operations</a:t>
            </a:r>
            <a:r>
              <a:rPr lang="en-IN" dirty="0"/>
              <a:t>.</a:t>
            </a:r>
          </a:p>
          <a:p>
            <a:pPr marL="259079" lvl="1" indent="-246379" algn="just">
              <a:lnSpc>
                <a:spcPct val="100000"/>
              </a:lnSpc>
              <a:spcBef>
                <a:spcPts val="1375"/>
              </a:spcBef>
              <a:buAutoNum type="arabicPeriod" startAt="3"/>
              <a:tabLst>
                <a:tab pos="259079" algn="l"/>
              </a:tabLst>
            </a:pPr>
            <a:r>
              <a:rPr sz="1300" b="1" dirty="0">
                <a:latin typeface="Times New Roman"/>
                <a:cs typeface="Times New Roman"/>
              </a:rPr>
              <a:t>Scope</a:t>
            </a:r>
            <a:r>
              <a:rPr sz="1300" b="1" spc="-20" dirty="0">
                <a:latin typeface="Times New Roman"/>
                <a:cs typeface="Times New Roman"/>
              </a:rPr>
              <a:t> </a:t>
            </a:r>
            <a:r>
              <a:rPr sz="1300" b="1" dirty="0">
                <a:latin typeface="Times New Roman"/>
                <a:cs typeface="Times New Roman"/>
              </a:rPr>
              <a:t>of</a:t>
            </a:r>
            <a:r>
              <a:rPr sz="1300" b="1" spc="-25" dirty="0">
                <a:latin typeface="Times New Roman"/>
                <a:cs typeface="Times New Roman"/>
              </a:rPr>
              <a:t> </a:t>
            </a:r>
            <a:r>
              <a:rPr sz="1300" b="1" dirty="0">
                <a:latin typeface="Times New Roman"/>
                <a:cs typeface="Times New Roman"/>
              </a:rPr>
              <a:t>the</a:t>
            </a:r>
            <a:r>
              <a:rPr sz="1300" b="1" spc="-25" dirty="0">
                <a:latin typeface="Times New Roman"/>
                <a:cs typeface="Times New Roman"/>
              </a:rPr>
              <a:t> </a:t>
            </a:r>
            <a:r>
              <a:rPr sz="1300" b="1" spc="-10" dirty="0">
                <a:latin typeface="Times New Roman"/>
                <a:cs typeface="Times New Roman"/>
              </a:rPr>
              <a:t>Project</a:t>
            </a:r>
            <a:endParaRPr sz="1300" dirty="0">
              <a:latin typeface="Times New Roman"/>
              <a:cs typeface="Times New Roman"/>
            </a:endParaRPr>
          </a:p>
          <a:p>
            <a:pPr marL="12700" marR="6350" algn="just">
              <a:lnSpc>
                <a:spcPct val="100000"/>
              </a:lnSpc>
              <a:spcBef>
                <a:spcPts val="455"/>
              </a:spcBef>
            </a:pPr>
            <a:r>
              <a:rPr lang="en-IN" sz="1200" dirty="0">
                <a:latin typeface="Times New Roman" panose="02020603050405020304" pitchFamily="18" charset="0"/>
                <a:cs typeface="Times New Roman" panose="02020603050405020304" pitchFamily="18" charset="0"/>
              </a:rPr>
              <a:t>The system covers the major operations of a library, including adding and managing books and members, checking book availability, issuing and returning books, maintaining transaction records, managing fines, verifying inventory, and viewing reports and dashboard statistics. The system also includes a software-based RFID simulator for identifying books and demonstrating RFID-assisted circulation. Role-based access is provided for administrators, librarians, and students, while students are restricted to viewing their own library information. Physical RFID hardware integration is considered outside the scope of the current implementation</a:t>
            </a:r>
            <a:r>
              <a:rPr lang="en-IN" sz="1200" dirty="0"/>
              <a:t>.</a:t>
            </a:r>
            <a:endParaRPr sz="1200" dirty="0">
              <a:latin typeface="Times New Roman"/>
              <a:cs typeface="Times New Roman"/>
            </a:endParaRPr>
          </a:p>
          <a:p>
            <a:pPr marL="259079" lvl="1" indent="-246379">
              <a:lnSpc>
                <a:spcPct val="100000"/>
              </a:lnSpc>
              <a:spcBef>
                <a:spcPts val="1380"/>
              </a:spcBef>
              <a:buAutoNum type="arabicPeriod" startAt="4"/>
              <a:tabLst>
                <a:tab pos="259079" algn="l"/>
              </a:tabLst>
            </a:pPr>
            <a:r>
              <a:rPr sz="1300" b="1" spc="-10" dirty="0">
                <a:latin typeface="Times New Roman"/>
                <a:cs typeface="Times New Roman"/>
              </a:rPr>
              <a:t>Objectives</a:t>
            </a:r>
            <a:endParaRPr lang="en-US" sz="1300" b="1" spc="-10" dirty="0">
              <a:latin typeface="Times New Roman"/>
              <a:cs typeface="Times New Roman"/>
            </a:endParaRPr>
          </a:p>
          <a:p>
            <a:pPr marL="171450" lvl="0" indent="-1714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Provide a centralized system for managing books, members, transactions, fines, and inventory. </a:t>
            </a:r>
          </a:p>
          <a:p>
            <a:pPr marL="171450" lvl="0" indent="-1714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Provide up-to-date information about book availability and circulation status. </a:t>
            </a:r>
          </a:p>
          <a:p>
            <a:pPr marL="171450" lvl="0" indent="-1714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Maintain accurate records for book issue, return, due dates, and applicable fines.</a:t>
            </a:r>
          </a:p>
          <a:p>
            <a:pPr marL="259079" lvl="1" indent="-246379">
              <a:lnSpc>
                <a:spcPct val="100000"/>
              </a:lnSpc>
              <a:spcBef>
                <a:spcPts val="1380"/>
              </a:spcBef>
              <a:buAutoNum type="arabicPeriod" startAt="4"/>
              <a:tabLst>
                <a:tab pos="259079" algn="l"/>
              </a:tabLst>
            </a:pPr>
            <a:endParaRPr sz="1300" dirty="0">
              <a:latin typeface="Times New Roman"/>
              <a:cs typeface="Times New Roman"/>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2384">
              <a:lnSpc>
                <a:spcPts val="1150"/>
              </a:lnSpc>
            </a:pPr>
            <a:r>
              <a:rPr dirty="0">
                <a:solidFill>
                  <a:srgbClr val="000000"/>
                </a:solidFill>
                <a:latin typeface="Calibri Light"/>
                <a:cs typeface="Calibri Light"/>
              </a:rPr>
              <a:t>Page</a:t>
            </a:r>
            <a:r>
              <a:rPr spc="-45" dirty="0">
                <a:solidFill>
                  <a:srgbClr val="000000"/>
                </a:solidFill>
                <a:latin typeface="Calibri Light"/>
                <a:cs typeface="Calibri Light"/>
              </a:rPr>
              <a:t> </a:t>
            </a:r>
            <a:r>
              <a:rPr spc="-25" dirty="0">
                <a:solidFill>
                  <a:srgbClr val="000000"/>
                </a:solidFill>
                <a:latin typeface="Calibri Light"/>
                <a:cs typeface="Calibri Light"/>
              </a:rPr>
              <a:t>5</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96848" y="891895"/>
            <a:ext cx="5970270" cy="3823226"/>
          </a:xfrm>
          <a:prstGeom prst="rect">
            <a:avLst/>
          </a:prstGeom>
        </p:spPr>
        <p:txBody>
          <a:bodyPr vert="horz" wrap="square" lIns="0" tIns="12065" rIns="0" bIns="0" rtlCol="0">
            <a:spAutoFit/>
          </a:bodyPr>
          <a:lstStyle/>
          <a:p>
            <a:pPr marL="304800" marR="5080" indent="-166370">
              <a:lnSpc>
                <a:spcPct val="106400"/>
              </a:lnSpc>
              <a:spcBef>
                <a:spcPts val="95"/>
              </a:spcBef>
              <a:buChar char="•"/>
              <a:tabLst>
                <a:tab pos="304800" algn="l"/>
              </a:tabLst>
            </a:pPr>
            <a:r>
              <a:rPr sz="1100" dirty="0">
                <a:latin typeface="Times New Roman"/>
                <a:cs typeface="Times New Roman"/>
              </a:rPr>
              <a:t>Secure</a:t>
            </a:r>
            <a:r>
              <a:rPr sz="1100" spc="390" dirty="0">
                <a:latin typeface="Times New Roman"/>
                <a:cs typeface="Times New Roman"/>
              </a:rPr>
              <a:t> </a:t>
            </a:r>
            <a:r>
              <a:rPr sz="1100" dirty="0">
                <a:latin typeface="Times New Roman"/>
                <a:cs typeface="Times New Roman"/>
              </a:rPr>
              <a:t>the</a:t>
            </a:r>
            <a:r>
              <a:rPr sz="1100" spc="395" dirty="0">
                <a:latin typeface="Times New Roman"/>
                <a:cs typeface="Times New Roman"/>
              </a:rPr>
              <a:t> </a:t>
            </a:r>
            <a:r>
              <a:rPr sz="1100" dirty="0">
                <a:latin typeface="Times New Roman"/>
                <a:cs typeface="Times New Roman"/>
              </a:rPr>
              <a:t>system</a:t>
            </a:r>
            <a:r>
              <a:rPr sz="1100" spc="375" dirty="0">
                <a:latin typeface="Times New Roman"/>
                <a:cs typeface="Times New Roman"/>
              </a:rPr>
              <a:t> </a:t>
            </a:r>
            <a:r>
              <a:rPr sz="1100" dirty="0">
                <a:latin typeface="Times New Roman"/>
                <a:cs typeface="Times New Roman"/>
              </a:rPr>
              <a:t>with</a:t>
            </a:r>
            <a:r>
              <a:rPr sz="1100" spc="375" dirty="0">
                <a:latin typeface="Times New Roman"/>
                <a:cs typeface="Times New Roman"/>
              </a:rPr>
              <a:t> </a:t>
            </a:r>
            <a:r>
              <a:rPr sz="1100" dirty="0">
                <a:latin typeface="Times New Roman"/>
                <a:cs typeface="Times New Roman"/>
              </a:rPr>
              <a:t>role-based</a:t>
            </a:r>
            <a:r>
              <a:rPr sz="1100" spc="385" dirty="0">
                <a:latin typeface="Times New Roman"/>
                <a:cs typeface="Times New Roman"/>
              </a:rPr>
              <a:t> </a:t>
            </a:r>
            <a:r>
              <a:rPr sz="1100" dirty="0">
                <a:latin typeface="Times New Roman"/>
                <a:cs typeface="Times New Roman"/>
              </a:rPr>
              <a:t>access,</a:t>
            </a:r>
            <a:r>
              <a:rPr sz="1100" spc="380" dirty="0">
                <a:latin typeface="Times New Roman"/>
                <a:cs typeface="Times New Roman"/>
              </a:rPr>
              <a:t> </a:t>
            </a:r>
            <a:r>
              <a:rPr sz="1100" dirty="0">
                <a:latin typeface="Times New Roman"/>
                <a:cs typeface="Times New Roman"/>
              </a:rPr>
              <a:t>so</a:t>
            </a:r>
            <a:r>
              <a:rPr sz="1100" spc="395" dirty="0">
                <a:latin typeface="Times New Roman"/>
                <a:cs typeface="Times New Roman"/>
              </a:rPr>
              <a:t> </a:t>
            </a:r>
            <a:r>
              <a:rPr sz="1100" dirty="0">
                <a:latin typeface="Times New Roman"/>
                <a:cs typeface="Times New Roman"/>
              </a:rPr>
              <a:t>student</a:t>
            </a:r>
            <a:r>
              <a:rPr sz="1100" spc="395" dirty="0">
                <a:latin typeface="Times New Roman"/>
                <a:cs typeface="Times New Roman"/>
              </a:rPr>
              <a:t> </a:t>
            </a:r>
            <a:r>
              <a:rPr sz="1100" dirty="0">
                <a:latin typeface="Times New Roman"/>
                <a:cs typeface="Times New Roman"/>
              </a:rPr>
              <a:t>accounts</a:t>
            </a:r>
            <a:r>
              <a:rPr sz="1100" spc="385" dirty="0">
                <a:latin typeface="Times New Roman"/>
                <a:cs typeface="Times New Roman"/>
              </a:rPr>
              <a:t> </a:t>
            </a:r>
            <a:r>
              <a:rPr sz="1100" dirty="0">
                <a:latin typeface="Times New Roman"/>
                <a:cs typeface="Times New Roman"/>
              </a:rPr>
              <a:t>can</a:t>
            </a:r>
            <a:r>
              <a:rPr sz="1100" spc="395" dirty="0">
                <a:latin typeface="Times New Roman"/>
                <a:cs typeface="Times New Roman"/>
              </a:rPr>
              <a:t> </a:t>
            </a:r>
            <a:r>
              <a:rPr sz="1100" dirty="0">
                <a:latin typeface="Times New Roman"/>
                <a:cs typeface="Times New Roman"/>
              </a:rPr>
              <a:t>never</a:t>
            </a:r>
            <a:r>
              <a:rPr sz="1100" spc="385" dirty="0">
                <a:latin typeface="Times New Roman"/>
                <a:cs typeface="Times New Roman"/>
              </a:rPr>
              <a:t> </a:t>
            </a:r>
            <a:r>
              <a:rPr sz="1100" dirty="0">
                <a:latin typeface="Times New Roman"/>
                <a:cs typeface="Times New Roman"/>
              </a:rPr>
              <a:t>reach</a:t>
            </a:r>
            <a:r>
              <a:rPr sz="1100" spc="395" dirty="0">
                <a:latin typeface="Times New Roman"/>
                <a:cs typeface="Times New Roman"/>
              </a:rPr>
              <a:t> </a:t>
            </a:r>
            <a:r>
              <a:rPr sz="1100" spc="-10" dirty="0">
                <a:latin typeface="Times New Roman"/>
                <a:cs typeface="Times New Roman"/>
              </a:rPr>
              <a:t>admin-</a:t>
            </a:r>
            <a:r>
              <a:rPr sz="1100" spc="-20" dirty="0">
                <a:latin typeface="Times New Roman"/>
                <a:cs typeface="Times New Roman"/>
              </a:rPr>
              <a:t>only </a:t>
            </a:r>
            <a:r>
              <a:rPr sz="1100" spc="-10" dirty="0">
                <a:latin typeface="Times New Roman"/>
                <a:cs typeface="Times New Roman"/>
              </a:rPr>
              <a:t>functionality.</a:t>
            </a:r>
            <a:endParaRPr sz="1100" dirty="0">
              <a:latin typeface="Times New Roman"/>
              <a:cs typeface="Times New Roman"/>
            </a:endParaRPr>
          </a:p>
          <a:p>
            <a:pPr>
              <a:lnSpc>
                <a:spcPct val="100000"/>
              </a:lnSpc>
            </a:pPr>
            <a:endParaRPr sz="1100" dirty="0">
              <a:latin typeface="Times New Roman"/>
              <a:cs typeface="Times New Roman"/>
            </a:endParaRPr>
          </a:p>
          <a:p>
            <a:pPr>
              <a:lnSpc>
                <a:spcPct val="100000"/>
              </a:lnSpc>
              <a:spcBef>
                <a:spcPts val="965"/>
              </a:spcBef>
            </a:pPr>
            <a:endParaRPr sz="1100" dirty="0">
              <a:latin typeface="Times New Roman"/>
              <a:cs typeface="Times New Roman"/>
            </a:endParaRPr>
          </a:p>
          <a:p>
            <a:pPr marL="259079" lvl="1" indent="-246379" algn="just">
              <a:lnSpc>
                <a:spcPct val="100000"/>
              </a:lnSpc>
              <a:spcBef>
                <a:spcPts val="5"/>
              </a:spcBef>
              <a:buAutoNum type="arabicPeriod" startAt="5"/>
              <a:tabLst>
                <a:tab pos="259079" algn="l"/>
              </a:tabLst>
            </a:pPr>
            <a:r>
              <a:rPr sz="1300" b="1" dirty="0">
                <a:latin typeface="Times New Roman"/>
                <a:cs typeface="Times New Roman"/>
              </a:rPr>
              <a:t>Importance</a:t>
            </a:r>
            <a:r>
              <a:rPr sz="1300" b="1" spc="-35" dirty="0">
                <a:latin typeface="Times New Roman"/>
                <a:cs typeface="Times New Roman"/>
              </a:rPr>
              <a:t> </a:t>
            </a:r>
            <a:r>
              <a:rPr sz="1300" b="1" dirty="0">
                <a:latin typeface="Times New Roman"/>
                <a:cs typeface="Times New Roman"/>
              </a:rPr>
              <a:t>of</a:t>
            </a:r>
            <a:r>
              <a:rPr sz="1300" b="1" spc="-15" dirty="0">
                <a:latin typeface="Times New Roman"/>
                <a:cs typeface="Times New Roman"/>
              </a:rPr>
              <a:t> </a:t>
            </a:r>
            <a:r>
              <a:rPr sz="1300" b="1" dirty="0">
                <a:latin typeface="Times New Roman"/>
                <a:cs typeface="Times New Roman"/>
              </a:rPr>
              <a:t>the</a:t>
            </a:r>
            <a:r>
              <a:rPr sz="1300" b="1" spc="-15" dirty="0">
                <a:latin typeface="Times New Roman"/>
                <a:cs typeface="Times New Roman"/>
              </a:rPr>
              <a:t> </a:t>
            </a:r>
            <a:r>
              <a:rPr sz="1300" b="1" spc="-10" dirty="0">
                <a:latin typeface="Times New Roman"/>
                <a:cs typeface="Times New Roman"/>
              </a:rPr>
              <a:t>Application</a:t>
            </a:r>
            <a:endParaRPr sz="1300" dirty="0">
              <a:latin typeface="Times New Roman"/>
              <a:cs typeface="Times New Roman"/>
            </a:endParaRPr>
          </a:p>
          <a:p>
            <a:pPr>
              <a:lnSpc>
                <a:spcPct val="100000"/>
              </a:lnSpc>
            </a:pPr>
            <a:r>
              <a:rPr lang="en-IN" sz="1200" dirty="0">
                <a:latin typeface="Times New Roman" panose="02020603050405020304" pitchFamily="18" charset="0"/>
                <a:cs typeface="Times New Roman" panose="02020603050405020304" pitchFamily="18" charset="0"/>
              </a:rPr>
              <a:t>By centralizing book, member, transaction, and fine information, the system reduces the difficulties associated with manual library management. Librarians gain a clear view of book availability, issued books, returns, fines, and inventory, allowing them to manage library resources more efficiently. Students can check available books, view their borrowed books and fines, and access their profile without depending entirely on library staff. The software RFID simulator also demonstrates how RFID-based identification can be incorporated into library circulation</a:t>
            </a:r>
            <a:r>
              <a:rPr lang="en-IN" sz="1200" dirty="0"/>
              <a:t>.</a:t>
            </a:r>
          </a:p>
          <a:p>
            <a:pPr>
              <a:lnSpc>
                <a:spcPct val="100000"/>
              </a:lnSpc>
            </a:pPr>
            <a:endParaRPr sz="1200" dirty="0">
              <a:latin typeface="Times New Roman"/>
              <a:cs typeface="Times New Roman"/>
            </a:endParaRPr>
          </a:p>
          <a:p>
            <a:pPr marL="259079" lvl="1" indent="-246379" algn="just">
              <a:lnSpc>
                <a:spcPct val="100000"/>
              </a:lnSpc>
              <a:buAutoNum type="arabicPeriod" startAt="6"/>
              <a:tabLst>
                <a:tab pos="259079" algn="l"/>
              </a:tabLst>
            </a:pPr>
            <a:r>
              <a:rPr sz="1300" b="1" dirty="0">
                <a:latin typeface="Times New Roman"/>
                <a:cs typeface="Times New Roman"/>
              </a:rPr>
              <a:t>Target</a:t>
            </a:r>
            <a:r>
              <a:rPr sz="1300" b="1" spc="-5" dirty="0">
                <a:latin typeface="Times New Roman"/>
                <a:cs typeface="Times New Roman"/>
              </a:rPr>
              <a:t> </a:t>
            </a:r>
            <a:r>
              <a:rPr sz="1300" b="1" dirty="0">
                <a:latin typeface="Times New Roman"/>
                <a:cs typeface="Times New Roman"/>
              </a:rPr>
              <a:t>Users</a:t>
            </a:r>
            <a:r>
              <a:rPr sz="1300" b="1" spc="-20" dirty="0">
                <a:latin typeface="Times New Roman"/>
                <a:cs typeface="Times New Roman"/>
              </a:rPr>
              <a:t> </a:t>
            </a:r>
            <a:r>
              <a:rPr sz="1300" b="1" dirty="0">
                <a:latin typeface="Times New Roman"/>
                <a:cs typeface="Times New Roman"/>
              </a:rPr>
              <a:t>/</a:t>
            </a:r>
            <a:r>
              <a:rPr sz="1300" b="1" spc="-5" dirty="0">
                <a:latin typeface="Times New Roman"/>
                <a:cs typeface="Times New Roman"/>
              </a:rPr>
              <a:t> </a:t>
            </a:r>
            <a:r>
              <a:rPr sz="1300" b="1" spc="-10" dirty="0">
                <a:latin typeface="Times New Roman"/>
                <a:cs typeface="Times New Roman"/>
              </a:rPr>
              <a:t>Audience</a:t>
            </a:r>
            <a:endParaRPr lang="en-US" sz="1300" b="1" spc="-10" dirty="0">
              <a:latin typeface="Times New Roman"/>
              <a:cs typeface="Times New Roman"/>
            </a:endParaRPr>
          </a:p>
          <a:p>
            <a:pPr marL="12700" lvl="1" algn="just">
              <a:lnSpc>
                <a:spcPct val="100000"/>
              </a:lnSpc>
              <a:tabLst>
                <a:tab pos="259079" algn="l"/>
              </a:tabLst>
            </a:pPr>
            <a:r>
              <a:rPr lang="en-IN" sz="1200" dirty="0">
                <a:latin typeface="Times New Roman" panose="02020603050405020304" pitchFamily="18" charset="0"/>
                <a:cs typeface="Times New Roman" panose="02020603050405020304" pitchFamily="18" charset="0"/>
              </a:rPr>
              <a:t>The system primarily serves </a:t>
            </a:r>
            <a:r>
              <a:rPr lang="en-IN" sz="1200" b="1" dirty="0">
                <a:latin typeface="Times New Roman" panose="02020603050405020304" pitchFamily="18" charset="0"/>
                <a:cs typeface="Times New Roman" panose="02020603050405020304" pitchFamily="18" charset="0"/>
              </a:rPr>
              <a:t>three roles: administrators, librarians, and students</a:t>
            </a:r>
            <a:r>
              <a:rPr lang="en-IN" sz="1200" dirty="0">
                <a:latin typeface="Times New Roman" panose="02020603050405020304" pitchFamily="18" charset="0"/>
                <a:cs typeface="Times New Roman" panose="02020603050405020304" pitchFamily="18" charset="0"/>
              </a:rPr>
              <a:t>. Students use the system to browse available books, view their borrowed books, check their fines, and access their profile. Librarians use it to manage books and members, issue and return books, perform RFID operations, manage fines, verify inventory, and access reports. Administrators have overall management access to the library system and can control the appropriate administrative operations. </a:t>
            </a:r>
            <a:endParaRPr sz="1200" dirty="0">
              <a:latin typeface="Times New Roman" panose="02020603050405020304" pitchFamily="18" charset="0"/>
              <a:cs typeface="Times New Roman" panose="02020603050405020304" pitchFamily="18" charset="0"/>
            </a:endParaRPr>
          </a:p>
        </p:txBody>
      </p:sp>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32384">
              <a:lnSpc>
                <a:spcPts val="1150"/>
              </a:lnSpc>
            </a:pPr>
            <a:r>
              <a:rPr dirty="0">
                <a:solidFill>
                  <a:srgbClr val="000000"/>
                </a:solidFill>
                <a:latin typeface="Calibri Light"/>
                <a:cs typeface="Calibri Light"/>
              </a:rPr>
              <a:t>Page</a:t>
            </a:r>
            <a:r>
              <a:rPr spc="-45" dirty="0">
                <a:solidFill>
                  <a:srgbClr val="000000"/>
                </a:solidFill>
                <a:latin typeface="Calibri Light"/>
                <a:cs typeface="Calibri Light"/>
              </a:rPr>
              <a:t> </a:t>
            </a:r>
            <a:r>
              <a:rPr spc="-25" dirty="0">
                <a:solidFill>
                  <a:srgbClr val="000000"/>
                </a:solidFill>
                <a:latin typeface="Calibri Light"/>
                <a:cs typeface="Calibri Light"/>
              </a:rPr>
              <a:t>6</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98372" y="839469"/>
            <a:ext cx="5968365" cy="5488682"/>
          </a:xfrm>
          <a:prstGeom prst="rect">
            <a:avLst/>
          </a:prstGeom>
        </p:spPr>
        <p:txBody>
          <a:bodyPr vert="horz" wrap="square" lIns="0" tIns="12700" rIns="0" bIns="0" rtlCol="0">
            <a:spAutoFit/>
          </a:bodyPr>
          <a:lstStyle/>
          <a:p>
            <a:pPr algn="ctr">
              <a:lnSpc>
                <a:spcPct val="100000"/>
              </a:lnSpc>
              <a:spcBef>
                <a:spcPts val="100"/>
              </a:spcBef>
            </a:pPr>
            <a:r>
              <a:rPr sz="1500" b="1" dirty="0">
                <a:latin typeface="Times New Roman"/>
                <a:cs typeface="Times New Roman"/>
              </a:rPr>
              <a:t>CHAPTER</a:t>
            </a:r>
            <a:r>
              <a:rPr sz="1500" b="1" spc="-50" dirty="0">
                <a:latin typeface="Times New Roman"/>
                <a:cs typeface="Times New Roman"/>
              </a:rPr>
              <a:t> </a:t>
            </a:r>
            <a:r>
              <a:rPr sz="1500" b="1" dirty="0">
                <a:latin typeface="Times New Roman"/>
                <a:cs typeface="Times New Roman"/>
              </a:rPr>
              <a:t>2:</a:t>
            </a:r>
            <a:r>
              <a:rPr sz="1500" b="1" spc="-35" dirty="0">
                <a:latin typeface="Times New Roman"/>
                <a:cs typeface="Times New Roman"/>
              </a:rPr>
              <a:t> </a:t>
            </a:r>
            <a:r>
              <a:rPr sz="1500" b="1" dirty="0">
                <a:latin typeface="Times New Roman"/>
                <a:cs typeface="Times New Roman"/>
              </a:rPr>
              <a:t>SYSTEM</a:t>
            </a:r>
            <a:r>
              <a:rPr sz="1500" b="1" spc="-30" dirty="0">
                <a:latin typeface="Times New Roman"/>
                <a:cs typeface="Times New Roman"/>
              </a:rPr>
              <a:t> </a:t>
            </a:r>
            <a:r>
              <a:rPr sz="1500" b="1" spc="-10" dirty="0">
                <a:latin typeface="Times New Roman"/>
                <a:cs typeface="Times New Roman"/>
              </a:rPr>
              <a:t>REQUIREMENTS</a:t>
            </a:r>
            <a:endParaRPr sz="1500" dirty="0">
              <a:latin typeface="Times New Roman"/>
              <a:cs typeface="Times New Roman"/>
            </a:endParaRPr>
          </a:p>
          <a:p>
            <a:pPr marL="259079" lvl="1" indent="-246379" algn="just">
              <a:lnSpc>
                <a:spcPct val="100000"/>
              </a:lnSpc>
              <a:spcBef>
                <a:spcPts val="1245"/>
              </a:spcBef>
              <a:buAutoNum type="arabicPeriod"/>
              <a:tabLst>
                <a:tab pos="259079" algn="l"/>
              </a:tabLst>
            </a:pPr>
            <a:r>
              <a:rPr sz="1300" b="1" dirty="0">
                <a:latin typeface="Times New Roman"/>
                <a:cs typeface="Times New Roman"/>
              </a:rPr>
              <a:t>Hardware</a:t>
            </a:r>
            <a:r>
              <a:rPr sz="1300" b="1" spc="-45" dirty="0">
                <a:latin typeface="Times New Roman"/>
                <a:cs typeface="Times New Roman"/>
              </a:rPr>
              <a:t> </a:t>
            </a:r>
            <a:r>
              <a:rPr sz="1300" b="1" spc="-10" dirty="0">
                <a:latin typeface="Times New Roman"/>
                <a:cs typeface="Times New Roman"/>
              </a:rPr>
              <a:t>Requirements</a:t>
            </a:r>
            <a:endParaRPr sz="1300" dirty="0">
              <a:latin typeface="Times New Roman"/>
              <a:cs typeface="Times New Roman"/>
            </a:endParaRPr>
          </a:p>
          <a:p>
            <a:pPr marL="12700" marR="5080" algn="just">
              <a:lnSpc>
                <a:spcPct val="100000"/>
              </a:lnSpc>
              <a:spcBef>
                <a:spcPts val="455"/>
              </a:spcBef>
            </a:pPr>
            <a:r>
              <a:rPr lang="en-IN" sz="1200" dirty="0">
                <a:latin typeface="Times New Roman" panose="02020603050405020304" pitchFamily="18" charset="0"/>
                <a:cs typeface="Times New Roman" panose="02020603050405020304" pitchFamily="18" charset="0"/>
              </a:rPr>
              <a:t>The application has modest hardware requirements because the React frontend, Node.js backend, and MySQL database can all run on a standard development computer. A computer with a dual-core processor, at least 4 GB of RAM, and sufficient free storage for the project files, Node.js modules, and MySQL database is suitable for developing and demonstrating the Library Management System. The system does not currently require physical RFID hardware because the project uses a software-based RFID simulator.</a:t>
            </a:r>
            <a:endParaRPr sz="1200" dirty="0">
              <a:latin typeface="Times New Roman" panose="02020603050405020304" pitchFamily="18" charset="0"/>
              <a:cs typeface="Times New Roman" panose="02020603050405020304" pitchFamily="18" charset="0"/>
            </a:endParaRPr>
          </a:p>
          <a:p>
            <a:pPr marL="246379" marR="4036695" lvl="1" indent="-246379" algn="r">
              <a:lnSpc>
                <a:spcPct val="100000"/>
              </a:lnSpc>
              <a:spcBef>
                <a:spcPts val="1375"/>
              </a:spcBef>
              <a:buAutoNum type="arabicPeriod" startAt="2"/>
              <a:tabLst>
                <a:tab pos="246379" algn="l"/>
              </a:tabLst>
            </a:pPr>
            <a:r>
              <a:rPr sz="1300" b="1" dirty="0">
                <a:latin typeface="Times New Roman"/>
                <a:cs typeface="Times New Roman"/>
              </a:rPr>
              <a:t>Software</a:t>
            </a:r>
            <a:r>
              <a:rPr sz="1300" b="1" spc="-35" dirty="0">
                <a:latin typeface="Times New Roman"/>
                <a:cs typeface="Times New Roman"/>
              </a:rPr>
              <a:t> </a:t>
            </a:r>
            <a:r>
              <a:rPr sz="1300" b="1" spc="-10" dirty="0">
                <a:latin typeface="Times New Roman"/>
                <a:cs typeface="Times New Roman"/>
              </a:rPr>
              <a:t>Requirements</a:t>
            </a:r>
            <a:endParaRPr sz="1300" dirty="0">
              <a:latin typeface="Times New Roman"/>
              <a:cs typeface="Times New Roman"/>
            </a:endParaRPr>
          </a:p>
          <a:p>
            <a:pPr marL="171450" lvl="0" indent="-1714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Node.js 18 or later, with </a:t>
            </a:r>
            <a:r>
              <a:rPr lang="en-IN" sz="1200" dirty="0" err="1">
                <a:latin typeface="Times New Roman" panose="02020603050405020304" pitchFamily="18" charset="0"/>
                <a:cs typeface="Times New Roman" panose="02020603050405020304" pitchFamily="18" charset="0"/>
              </a:rPr>
              <a:t>npm</a:t>
            </a:r>
            <a:r>
              <a:rPr lang="en-IN" sz="1200" dirty="0">
                <a:latin typeface="Times New Roman" panose="02020603050405020304" pitchFamily="18" charset="0"/>
                <a:cs typeface="Times New Roman" panose="02020603050405020304" pitchFamily="18" charset="0"/>
              </a:rPr>
              <a:t> </a:t>
            </a:r>
          </a:p>
          <a:p>
            <a:pPr marL="171450" lvl="0" indent="-1714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MySQL 8.0 or later </a:t>
            </a:r>
          </a:p>
          <a:p>
            <a:pPr marL="171450" lvl="0" indent="-1714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A modern web browser such as Chrome, Edge, or Firefox </a:t>
            </a:r>
          </a:p>
          <a:p>
            <a:pPr marL="171450" lvl="0" indent="-1714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Git and GitHub for version control </a:t>
            </a:r>
          </a:p>
          <a:p>
            <a:pPr marL="171450" lvl="0" indent="-1714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Visual Studio Code for development </a:t>
            </a:r>
          </a:p>
          <a:p>
            <a:pPr marL="171450" lvl="0" indent="-1714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MySQL Workbench for managing and verifying the database </a:t>
            </a:r>
          </a:p>
          <a:p>
            <a:pPr marL="171450" lvl="0" indent="-1714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Postman for testing REST APIs</a:t>
            </a:r>
          </a:p>
          <a:p>
            <a:pPr lvl="0"/>
            <a:endParaRPr lang="en-IN" sz="1200" dirty="0">
              <a:latin typeface="Times New Roman" panose="02020603050405020304" pitchFamily="18" charset="0"/>
              <a:cs typeface="Times New Roman" panose="02020603050405020304" pitchFamily="18" charset="0"/>
            </a:endParaRPr>
          </a:p>
          <a:p>
            <a:pPr marL="12700" algn="just">
              <a:lnSpc>
                <a:spcPct val="100000"/>
              </a:lnSpc>
            </a:pPr>
            <a:r>
              <a:rPr sz="1300" b="1" dirty="0">
                <a:latin typeface="Times New Roman"/>
                <a:cs typeface="Times New Roman"/>
              </a:rPr>
              <a:t>2.3</a:t>
            </a:r>
            <a:r>
              <a:rPr sz="1300" b="1" spc="-35" dirty="0">
                <a:latin typeface="Times New Roman"/>
                <a:cs typeface="Times New Roman"/>
              </a:rPr>
              <a:t> </a:t>
            </a:r>
            <a:r>
              <a:rPr sz="1300" b="1" dirty="0">
                <a:latin typeface="Times New Roman"/>
                <a:cs typeface="Times New Roman"/>
              </a:rPr>
              <a:t>Development</a:t>
            </a:r>
            <a:r>
              <a:rPr sz="1300" b="1" spc="-25" dirty="0">
                <a:latin typeface="Times New Roman"/>
                <a:cs typeface="Times New Roman"/>
              </a:rPr>
              <a:t> </a:t>
            </a:r>
            <a:r>
              <a:rPr sz="1300" b="1" dirty="0">
                <a:latin typeface="Times New Roman"/>
                <a:cs typeface="Times New Roman"/>
              </a:rPr>
              <a:t>Tools</a:t>
            </a:r>
            <a:r>
              <a:rPr sz="1300" b="1" spc="-35" dirty="0">
                <a:latin typeface="Times New Roman"/>
                <a:cs typeface="Times New Roman"/>
              </a:rPr>
              <a:t> </a:t>
            </a:r>
            <a:r>
              <a:rPr sz="1300" b="1" dirty="0">
                <a:latin typeface="Times New Roman"/>
                <a:cs typeface="Times New Roman"/>
              </a:rPr>
              <a:t>and</a:t>
            </a:r>
            <a:r>
              <a:rPr sz="1300" b="1" spc="-35" dirty="0">
                <a:latin typeface="Times New Roman"/>
                <a:cs typeface="Times New Roman"/>
              </a:rPr>
              <a:t> </a:t>
            </a:r>
            <a:r>
              <a:rPr sz="1300" b="1" spc="-10" dirty="0">
                <a:latin typeface="Times New Roman"/>
                <a:cs typeface="Times New Roman"/>
              </a:rPr>
              <a:t>Frameworks</a:t>
            </a:r>
            <a:endParaRPr lang="en-US" sz="1300" b="1" spc="-10" dirty="0">
              <a:latin typeface="Times New Roman"/>
              <a:cs typeface="Times New Roman"/>
            </a:endParaRPr>
          </a:p>
          <a:p>
            <a:pPr marL="12700" algn="just">
              <a:lnSpc>
                <a:spcPct val="100000"/>
              </a:lnSpc>
            </a:pPr>
            <a:r>
              <a:rPr lang="en-IN" sz="1200" dirty="0">
                <a:latin typeface="Times New Roman" panose="02020603050405020304" pitchFamily="18" charset="0"/>
                <a:cs typeface="Times New Roman" panose="02020603050405020304" pitchFamily="18" charset="0"/>
              </a:rPr>
              <a:t>React.js with Vite is used to develop the frontend of the Library Management System, providing the user interface for administrators, librarians, and students. Node.js with the Express.js framework is used to develop the backend REST APIs and handle application logic. MySQL is used as the relational database for storing books, members, users, transactions, and fines, while the mysql2 driver enables communication between the Node.js backend and MySQL database. JWT and </a:t>
            </a:r>
            <a:r>
              <a:rPr lang="en-IN" sz="1200" dirty="0" err="1">
                <a:latin typeface="Times New Roman" panose="02020603050405020304" pitchFamily="18" charset="0"/>
                <a:cs typeface="Times New Roman" panose="02020603050405020304" pitchFamily="18" charset="0"/>
              </a:rPr>
              <a:t>bcrypt</a:t>
            </a:r>
            <a:r>
              <a:rPr lang="en-IN" sz="1200" dirty="0">
                <a:latin typeface="Times New Roman" panose="02020603050405020304" pitchFamily="18" charset="0"/>
                <a:cs typeface="Times New Roman" panose="02020603050405020304" pitchFamily="18" charset="0"/>
              </a:rPr>
              <a:t> are used for authentication and password security, while CORS enables communication between the frontend and backend. Visual Studio Code is used as the primary development environment, and MySQL Workbench is used to inspect and manage the database.</a:t>
            </a:r>
            <a:endParaRPr sz="1200" dirty="0">
              <a:latin typeface="Times New Roman" panose="02020603050405020304" pitchFamily="18" charset="0"/>
              <a:cs typeface="Times New Roman" panose="02020603050405020304" pitchFamily="18" charset="0"/>
            </a:endParaRPr>
          </a:p>
        </p:txBody>
      </p:sp>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32384">
              <a:lnSpc>
                <a:spcPts val="1150"/>
              </a:lnSpc>
            </a:pPr>
            <a:r>
              <a:rPr dirty="0">
                <a:solidFill>
                  <a:srgbClr val="000000"/>
                </a:solidFill>
                <a:latin typeface="Calibri Light"/>
                <a:cs typeface="Calibri Light"/>
              </a:rPr>
              <a:t>Page</a:t>
            </a:r>
            <a:r>
              <a:rPr spc="-45" dirty="0">
                <a:solidFill>
                  <a:srgbClr val="000000"/>
                </a:solidFill>
                <a:latin typeface="Calibri Light"/>
                <a:cs typeface="Calibri Light"/>
              </a:rPr>
              <a:t> </a:t>
            </a:r>
            <a:r>
              <a:rPr spc="-25" dirty="0">
                <a:solidFill>
                  <a:srgbClr val="000000"/>
                </a:solidFill>
                <a:latin typeface="Calibri Light"/>
                <a:cs typeface="Calibri Light"/>
              </a:rPr>
              <a:t>7</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99782" y="854075"/>
            <a:ext cx="5969635" cy="8553624"/>
          </a:xfrm>
          <a:prstGeom prst="rect">
            <a:avLst/>
          </a:prstGeom>
        </p:spPr>
        <p:txBody>
          <a:bodyPr vert="horz" wrap="square" lIns="0" tIns="12700" rIns="0" bIns="0" rtlCol="0">
            <a:spAutoFit/>
          </a:bodyPr>
          <a:lstStyle/>
          <a:p>
            <a:pPr algn="ctr">
              <a:lnSpc>
                <a:spcPct val="100000"/>
              </a:lnSpc>
              <a:spcBef>
                <a:spcPts val="100"/>
              </a:spcBef>
            </a:pPr>
            <a:r>
              <a:rPr sz="1500" b="1" dirty="0">
                <a:latin typeface="Times New Roman"/>
                <a:cs typeface="Times New Roman"/>
              </a:rPr>
              <a:t>CHAPTER</a:t>
            </a:r>
            <a:r>
              <a:rPr sz="1500" b="1" spc="-40" dirty="0">
                <a:latin typeface="Times New Roman"/>
                <a:cs typeface="Times New Roman"/>
              </a:rPr>
              <a:t> </a:t>
            </a:r>
            <a:r>
              <a:rPr sz="1500" b="1" dirty="0">
                <a:latin typeface="Times New Roman"/>
                <a:cs typeface="Times New Roman"/>
              </a:rPr>
              <a:t>3:</a:t>
            </a:r>
            <a:r>
              <a:rPr sz="1500" b="1" spc="-25" dirty="0">
                <a:latin typeface="Times New Roman"/>
                <a:cs typeface="Times New Roman"/>
              </a:rPr>
              <a:t> </a:t>
            </a:r>
            <a:r>
              <a:rPr sz="1500" b="1" dirty="0">
                <a:latin typeface="Times New Roman"/>
                <a:cs typeface="Times New Roman"/>
              </a:rPr>
              <a:t>TECHNOLOGY</a:t>
            </a:r>
            <a:r>
              <a:rPr sz="1500" b="1" spc="-40" dirty="0">
                <a:latin typeface="Times New Roman"/>
                <a:cs typeface="Times New Roman"/>
              </a:rPr>
              <a:t> </a:t>
            </a:r>
            <a:r>
              <a:rPr sz="1500" b="1" spc="-10" dirty="0">
                <a:latin typeface="Times New Roman"/>
                <a:cs typeface="Times New Roman"/>
              </a:rPr>
              <a:t>STACK</a:t>
            </a:r>
            <a:endParaRPr sz="1500" dirty="0">
              <a:latin typeface="Times New Roman"/>
              <a:cs typeface="Times New Roman"/>
            </a:endParaRPr>
          </a:p>
          <a:p>
            <a:pPr marL="259079" lvl="1" indent="-246379" algn="just">
              <a:lnSpc>
                <a:spcPct val="100000"/>
              </a:lnSpc>
              <a:spcBef>
                <a:spcPts val="1245"/>
              </a:spcBef>
              <a:buAutoNum type="arabicPeriod"/>
              <a:tabLst>
                <a:tab pos="259079" algn="l"/>
              </a:tabLst>
            </a:pPr>
            <a:r>
              <a:rPr sz="1300" b="1" spc="-10" dirty="0">
                <a:latin typeface="Times New Roman"/>
                <a:cs typeface="Times New Roman"/>
              </a:rPr>
              <a:t>Frontend</a:t>
            </a:r>
            <a:endParaRPr sz="1300" dirty="0">
              <a:latin typeface="Times New Roman"/>
              <a:cs typeface="Times New Roman"/>
            </a:endParaRPr>
          </a:p>
          <a:p>
            <a:pPr marL="12700" marR="5715" algn="just">
              <a:lnSpc>
                <a:spcPct val="100000"/>
              </a:lnSpc>
              <a:spcBef>
                <a:spcPts val="455"/>
              </a:spcBef>
            </a:pPr>
            <a:r>
              <a:rPr lang="en-IN" sz="1200" dirty="0">
                <a:latin typeface="Times New Roman" panose="02020603050405020304" pitchFamily="18" charset="0"/>
                <a:cs typeface="Times New Roman" panose="02020603050405020304" pitchFamily="18" charset="0"/>
              </a:rPr>
              <a:t>The frontend of the </a:t>
            </a:r>
            <a:r>
              <a:rPr lang="en-IN" sz="1200" b="1" dirty="0">
                <a:latin typeface="Times New Roman" panose="02020603050405020304" pitchFamily="18" charset="0"/>
                <a:cs typeface="Times New Roman" panose="02020603050405020304" pitchFamily="18" charset="0"/>
              </a:rPr>
              <a:t>Library Management System with RFID Integration</a:t>
            </a:r>
            <a:r>
              <a:rPr lang="en-IN" sz="1200" dirty="0">
                <a:latin typeface="Times New Roman" panose="02020603050405020304" pitchFamily="18" charset="0"/>
                <a:cs typeface="Times New Roman" panose="02020603050405020304" pitchFamily="18" charset="0"/>
              </a:rPr>
              <a:t> is a single-page application developed using </a:t>
            </a:r>
            <a:r>
              <a:rPr lang="en-IN" sz="1200" b="1" dirty="0">
                <a:latin typeface="Times New Roman" panose="02020603050405020304" pitchFamily="18" charset="0"/>
                <a:cs typeface="Times New Roman" panose="02020603050405020304" pitchFamily="18" charset="0"/>
              </a:rPr>
              <a:t>React.js</a:t>
            </a:r>
            <a:r>
              <a:rPr lang="en-IN" sz="1200" dirty="0">
                <a:latin typeface="Times New Roman" panose="02020603050405020304" pitchFamily="18" charset="0"/>
                <a:cs typeface="Times New Roman" panose="02020603050405020304" pitchFamily="18" charset="0"/>
              </a:rPr>
              <a:t> and bundled with </a:t>
            </a:r>
            <a:r>
              <a:rPr lang="en-IN" sz="1200" b="1" dirty="0">
                <a:latin typeface="Times New Roman" panose="02020603050405020304" pitchFamily="18" charset="0"/>
                <a:cs typeface="Times New Roman" panose="02020603050405020304" pitchFamily="18" charset="0"/>
              </a:rPr>
              <a:t>Vite</a:t>
            </a:r>
            <a:r>
              <a:rPr lang="en-IN" sz="1200" dirty="0">
                <a:latin typeface="Times New Roman" panose="02020603050405020304" pitchFamily="18" charset="0"/>
                <a:cs typeface="Times New Roman" panose="02020603050405020304" pitchFamily="18" charset="0"/>
              </a:rPr>
              <a:t>. It provides the user interface for administrators, librarians, and students. The frontend includes pages and components for login, dashboard, books, members, RFID simulation, issue and return operations, fines, inventory, reports, and student information. It communicates with the backend through HTTP requests to REST APIs and displays the JSON data received from the server. React components and state management are used to provide a dynamic and reusable user interface.</a:t>
            </a:r>
            <a:endParaRPr sz="1200" dirty="0">
              <a:latin typeface="Times New Roman" panose="02020603050405020304" pitchFamily="18" charset="0"/>
              <a:cs typeface="Times New Roman" panose="02020603050405020304" pitchFamily="18" charset="0"/>
            </a:endParaRPr>
          </a:p>
          <a:p>
            <a:pPr marL="259079" lvl="1" indent="-246379" algn="just">
              <a:lnSpc>
                <a:spcPct val="100000"/>
              </a:lnSpc>
              <a:spcBef>
                <a:spcPts val="1375"/>
              </a:spcBef>
              <a:buAutoNum type="arabicPeriod" startAt="2"/>
              <a:tabLst>
                <a:tab pos="259079" algn="l"/>
              </a:tabLst>
            </a:pPr>
            <a:r>
              <a:rPr sz="1300" b="1" spc="-10" dirty="0">
                <a:latin typeface="Times New Roman"/>
                <a:cs typeface="Times New Roman"/>
              </a:rPr>
              <a:t>Backend</a:t>
            </a:r>
            <a:endParaRPr sz="1300" dirty="0">
              <a:latin typeface="Times New Roman"/>
              <a:cs typeface="Times New Roman"/>
            </a:endParaRPr>
          </a:p>
          <a:p>
            <a:pPr marL="12700" marR="6350" algn="just">
              <a:lnSpc>
                <a:spcPct val="100000"/>
              </a:lnSpc>
              <a:spcBef>
                <a:spcPts val="459"/>
              </a:spcBef>
            </a:pPr>
            <a:r>
              <a:rPr lang="en-IN" sz="1200" dirty="0">
                <a:latin typeface="Times New Roman" panose="02020603050405020304" pitchFamily="18" charset="0"/>
                <a:cs typeface="Times New Roman" panose="02020603050405020304" pitchFamily="18" charset="0"/>
              </a:rPr>
              <a:t>The backend is a </a:t>
            </a:r>
            <a:r>
              <a:rPr lang="en-IN" sz="1200" b="1" dirty="0">
                <a:latin typeface="Times New Roman" panose="02020603050405020304" pitchFamily="18" charset="0"/>
                <a:cs typeface="Times New Roman" panose="02020603050405020304" pitchFamily="18" charset="0"/>
              </a:rPr>
              <a:t>REST API built using Node.js and Express.js</a:t>
            </a:r>
            <a:r>
              <a:rPr lang="en-IN" sz="1200" dirty="0">
                <a:latin typeface="Times New Roman" panose="02020603050405020304" pitchFamily="18" charset="0"/>
                <a:cs typeface="Times New Roman" panose="02020603050405020304" pitchFamily="18" charset="0"/>
              </a:rPr>
              <a:t>. It handles requests received from the React frontend and contains the business logic of the application. The backend provides API routes for authentication, books, members, RFID operations, transactions, fines, dashboard statistics, reports, and inventory. It validates and processes requests, performs authentication and authorization, communicates with the MySQL database using mysql2, and sends JSON responses back to the frontend. This separation keeps the frontend, business logic, and database operations organized.</a:t>
            </a:r>
            <a:endParaRPr sz="1200" dirty="0">
              <a:latin typeface="Times New Roman" panose="02020603050405020304" pitchFamily="18" charset="0"/>
              <a:cs typeface="Times New Roman" panose="02020603050405020304" pitchFamily="18" charset="0"/>
            </a:endParaRPr>
          </a:p>
          <a:p>
            <a:pPr marL="259079" lvl="1" indent="-246379" algn="just">
              <a:lnSpc>
                <a:spcPct val="100000"/>
              </a:lnSpc>
              <a:spcBef>
                <a:spcPts val="1375"/>
              </a:spcBef>
              <a:buAutoNum type="arabicPeriod" startAt="3"/>
              <a:tabLst>
                <a:tab pos="259079" algn="l"/>
              </a:tabLst>
            </a:pPr>
            <a:r>
              <a:rPr sz="1300" b="1" spc="-10" dirty="0">
                <a:latin typeface="Times New Roman"/>
                <a:cs typeface="Times New Roman"/>
              </a:rPr>
              <a:t>Database</a:t>
            </a:r>
            <a:endParaRPr sz="1300" dirty="0">
              <a:latin typeface="Times New Roman"/>
              <a:cs typeface="Times New Roman"/>
            </a:endParaRPr>
          </a:p>
          <a:p>
            <a:pPr>
              <a:lnSpc>
                <a:spcPct val="100000"/>
              </a:lnSpc>
            </a:pPr>
            <a:r>
              <a:rPr lang="en-IN" sz="1200" b="1" dirty="0">
                <a:latin typeface="Times New Roman" panose="02020603050405020304" pitchFamily="18" charset="0"/>
                <a:cs typeface="Times New Roman" panose="02020603050405020304" pitchFamily="18" charset="0"/>
              </a:rPr>
              <a:t>MySQL</a:t>
            </a:r>
            <a:r>
              <a:rPr lang="en-IN" sz="1200" dirty="0">
                <a:latin typeface="Times New Roman" panose="02020603050405020304" pitchFamily="18" charset="0"/>
                <a:cs typeface="Times New Roman" panose="02020603050405020304" pitchFamily="18" charset="0"/>
              </a:rPr>
              <a:t> is used as the relational database for storing the persistent data of the Library Management System. The main tables include </a:t>
            </a:r>
            <a:r>
              <a:rPr lang="en-IN" sz="1200" b="1" dirty="0">
                <a:latin typeface="Times New Roman" panose="02020603050405020304" pitchFamily="18" charset="0"/>
                <a:cs typeface="Times New Roman" panose="02020603050405020304" pitchFamily="18" charset="0"/>
              </a:rPr>
              <a:t>users, books, members, transactions, and fines</a:t>
            </a:r>
            <a:r>
              <a:rPr lang="en-IN" sz="1200" dirty="0">
                <a:latin typeface="Times New Roman" panose="02020603050405020304" pitchFamily="18" charset="0"/>
                <a:cs typeface="Times New Roman" panose="02020603050405020304" pitchFamily="18" charset="0"/>
              </a:rPr>
              <a:t>. These tables maintain relationships between users, members, books, circulation transactions, and fines using primary keys and foreign keys. The database stores information such as book details, availability status, member information, issue and return dates, and fine records. SQL operations such as INSERT, SELECT, UPDATE, DELETE, JOIN, COUNT, and SUM are used to manage and retrieve the required information.</a:t>
            </a:r>
            <a:r>
              <a:rPr lang="en-IN" sz="1200" dirty="0"/>
              <a:t> </a:t>
            </a:r>
          </a:p>
          <a:p>
            <a:pPr>
              <a:lnSpc>
                <a:spcPct val="100000"/>
              </a:lnSpc>
            </a:pPr>
            <a:endParaRPr sz="1200" dirty="0">
              <a:latin typeface="Times New Roman"/>
              <a:cs typeface="Times New Roman"/>
            </a:endParaRPr>
          </a:p>
          <a:p>
            <a:pPr marL="259079" lvl="1" indent="-246379" algn="just">
              <a:lnSpc>
                <a:spcPct val="100000"/>
              </a:lnSpc>
              <a:buAutoNum type="arabicPeriod" startAt="4"/>
              <a:tabLst>
                <a:tab pos="259079" algn="l"/>
              </a:tabLst>
            </a:pPr>
            <a:r>
              <a:rPr sz="1300" b="1" dirty="0">
                <a:latin typeface="Times New Roman"/>
                <a:cs typeface="Times New Roman"/>
              </a:rPr>
              <a:t>Version</a:t>
            </a:r>
            <a:r>
              <a:rPr sz="1300" b="1" spc="-40" dirty="0">
                <a:latin typeface="Times New Roman"/>
                <a:cs typeface="Times New Roman"/>
              </a:rPr>
              <a:t> </a:t>
            </a:r>
            <a:r>
              <a:rPr sz="1300" b="1" spc="-10" dirty="0">
                <a:latin typeface="Times New Roman"/>
                <a:cs typeface="Times New Roman"/>
              </a:rPr>
              <a:t>Control</a:t>
            </a:r>
            <a:endParaRPr lang="en-US" sz="1300" b="1" spc="-10" dirty="0">
              <a:latin typeface="Times New Roman"/>
              <a:cs typeface="Times New Roman"/>
            </a:endParaRPr>
          </a:p>
          <a:p>
            <a:pPr marL="12700" lvl="1" algn="just">
              <a:lnSpc>
                <a:spcPct val="100000"/>
              </a:lnSpc>
              <a:tabLst>
                <a:tab pos="259079" algn="l"/>
              </a:tabLst>
            </a:pPr>
            <a:r>
              <a:rPr lang="en-IN" sz="1200" b="1" dirty="0">
                <a:latin typeface="Times New Roman" panose="02020603050405020304" pitchFamily="18" charset="0"/>
                <a:cs typeface="Times New Roman" panose="02020603050405020304" pitchFamily="18" charset="0"/>
              </a:rPr>
              <a:t>Git</a:t>
            </a:r>
            <a:r>
              <a:rPr lang="en-IN" sz="1200" dirty="0">
                <a:latin typeface="Times New Roman" panose="02020603050405020304" pitchFamily="18" charset="0"/>
                <a:cs typeface="Times New Roman" panose="02020603050405020304" pitchFamily="18" charset="0"/>
              </a:rPr>
              <a:t> is used for version control during the development of the project. It helps maintain different versions of the source code and track changes made during development. </a:t>
            </a:r>
            <a:r>
              <a:rPr lang="en-IN" sz="1200" b="1" dirty="0">
                <a:latin typeface="Times New Roman" panose="02020603050405020304" pitchFamily="18" charset="0"/>
                <a:cs typeface="Times New Roman" panose="02020603050405020304" pitchFamily="18" charset="0"/>
              </a:rPr>
              <a:t>GitHub</a:t>
            </a:r>
            <a:r>
              <a:rPr lang="en-IN" sz="1200" dirty="0">
                <a:latin typeface="Times New Roman" panose="02020603050405020304" pitchFamily="18" charset="0"/>
                <a:cs typeface="Times New Roman" panose="02020603050405020304" pitchFamily="18" charset="0"/>
              </a:rPr>
              <a:t> is used to store and manage the project repository, making it easier for the team members to maintain and share the project source code</a:t>
            </a:r>
            <a:r>
              <a:rPr lang="en-IN" sz="1400" dirty="0">
                <a:latin typeface="Times New Roman" panose="02020603050405020304" pitchFamily="18" charset="0"/>
                <a:cs typeface="Times New Roman" panose="02020603050405020304" pitchFamily="18" charset="0"/>
              </a:rPr>
              <a:t>.</a:t>
            </a:r>
            <a:endParaRPr sz="1300" dirty="0">
              <a:latin typeface="Times New Roman" panose="02020603050405020304" pitchFamily="18" charset="0"/>
              <a:cs typeface="Times New Roman" panose="02020603050405020304" pitchFamily="18" charset="0"/>
            </a:endParaRPr>
          </a:p>
          <a:p>
            <a:pPr marL="259079" lvl="1" indent="-246379" algn="just">
              <a:lnSpc>
                <a:spcPct val="100000"/>
              </a:lnSpc>
              <a:spcBef>
                <a:spcPts val="1375"/>
              </a:spcBef>
              <a:buAutoNum type="arabicPeriod" startAt="5"/>
              <a:tabLst>
                <a:tab pos="259079" algn="l"/>
              </a:tabLst>
            </a:pPr>
            <a:r>
              <a:rPr sz="1300" b="1" dirty="0">
                <a:latin typeface="Times New Roman"/>
                <a:cs typeface="Times New Roman"/>
              </a:rPr>
              <a:t>Authentication</a:t>
            </a:r>
            <a:r>
              <a:rPr sz="1300" b="1" spc="-45" dirty="0">
                <a:latin typeface="Times New Roman"/>
                <a:cs typeface="Times New Roman"/>
              </a:rPr>
              <a:t> </a:t>
            </a:r>
            <a:r>
              <a:rPr sz="1300" b="1" dirty="0">
                <a:latin typeface="Times New Roman"/>
                <a:cs typeface="Times New Roman"/>
              </a:rPr>
              <a:t>and</a:t>
            </a:r>
            <a:r>
              <a:rPr sz="1300" b="1" spc="-45" dirty="0">
                <a:latin typeface="Times New Roman"/>
                <a:cs typeface="Times New Roman"/>
              </a:rPr>
              <a:t> </a:t>
            </a:r>
            <a:r>
              <a:rPr sz="1300" b="1" dirty="0">
                <a:latin typeface="Times New Roman"/>
                <a:cs typeface="Times New Roman"/>
              </a:rPr>
              <a:t>Security</a:t>
            </a:r>
            <a:r>
              <a:rPr sz="1300" b="1" spc="-35" dirty="0">
                <a:latin typeface="Times New Roman"/>
                <a:cs typeface="Times New Roman"/>
              </a:rPr>
              <a:t> </a:t>
            </a:r>
            <a:r>
              <a:rPr sz="1300" b="1" spc="-10" dirty="0">
                <a:latin typeface="Times New Roman"/>
                <a:cs typeface="Times New Roman"/>
              </a:rPr>
              <a:t>Libraries</a:t>
            </a:r>
            <a:endParaRPr lang="en-US" sz="1300" b="1" spc="-10" dirty="0">
              <a:latin typeface="Times New Roman"/>
              <a:cs typeface="Times New Roman"/>
            </a:endParaRPr>
          </a:p>
          <a:p>
            <a:pPr marL="12700" lvl="1" algn="just">
              <a:lnSpc>
                <a:spcPct val="100000"/>
              </a:lnSpc>
              <a:spcBef>
                <a:spcPts val="1375"/>
              </a:spcBef>
              <a:tabLst>
                <a:tab pos="259079" algn="l"/>
              </a:tabLst>
            </a:pPr>
            <a:r>
              <a:rPr lang="en-IN" sz="1200" b="1" dirty="0" err="1">
                <a:latin typeface="Times New Roman" panose="02020603050405020304" pitchFamily="18" charset="0"/>
                <a:cs typeface="Times New Roman" panose="02020603050405020304" pitchFamily="18" charset="0"/>
              </a:rPr>
              <a:t>bcrypt</a:t>
            </a:r>
            <a:r>
              <a:rPr lang="en-IN" sz="1200" dirty="0">
                <a:latin typeface="Times New Roman" panose="02020603050405020304" pitchFamily="18" charset="0"/>
                <a:cs typeface="Times New Roman" panose="02020603050405020304" pitchFamily="18" charset="0"/>
              </a:rPr>
              <a:t> is used to hash passwords before storing them in the database, so plain-text passwords are not stored. </a:t>
            </a:r>
            <a:r>
              <a:rPr lang="en-IN" sz="1200" b="1" dirty="0">
                <a:latin typeface="Times New Roman" panose="02020603050405020304" pitchFamily="18" charset="0"/>
                <a:cs typeface="Times New Roman" panose="02020603050405020304" pitchFamily="18" charset="0"/>
              </a:rPr>
              <a:t>JSON Web Token (JWT)</a:t>
            </a:r>
            <a:r>
              <a:rPr lang="en-IN" sz="1200" dirty="0">
                <a:latin typeface="Times New Roman" panose="02020603050405020304" pitchFamily="18" charset="0"/>
                <a:cs typeface="Times New Roman" panose="02020603050405020304" pitchFamily="18" charset="0"/>
              </a:rPr>
              <a:t> is used for authentication and authorization of users accessing protected APIs. The system supports different roles such as </a:t>
            </a:r>
            <a:r>
              <a:rPr lang="en-IN" sz="1200" b="1" dirty="0">
                <a:latin typeface="Times New Roman" panose="02020603050405020304" pitchFamily="18" charset="0"/>
                <a:cs typeface="Times New Roman" panose="02020603050405020304" pitchFamily="18" charset="0"/>
              </a:rPr>
              <a:t>Admin, Librarian, and Student</a:t>
            </a:r>
            <a:r>
              <a:rPr lang="en-IN" sz="1200" dirty="0">
                <a:latin typeface="Times New Roman" panose="02020603050405020304" pitchFamily="18" charset="0"/>
                <a:cs typeface="Times New Roman" panose="02020603050405020304" pitchFamily="18" charset="0"/>
              </a:rPr>
              <a:t>, and backend authorization ensures that users can access only the operations permitted for their roles. </a:t>
            </a:r>
            <a:r>
              <a:rPr lang="en-IN" sz="1200" b="1" dirty="0">
                <a:latin typeface="Times New Roman" panose="02020603050405020304" pitchFamily="18" charset="0"/>
                <a:cs typeface="Times New Roman" panose="02020603050405020304" pitchFamily="18" charset="0"/>
              </a:rPr>
              <a:t>CORS</a:t>
            </a:r>
            <a:r>
              <a:rPr lang="en-IN" sz="1200" dirty="0">
                <a:latin typeface="Times New Roman" panose="02020603050405020304" pitchFamily="18" charset="0"/>
                <a:cs typeface="Times New Roman" panose="02020603050405020304" pitchFamily="18" charset="0"/>
              </a:rPr>
              <a:t> is used to allow communication between the React frontend running on localhost:5173 and the Node.js backend running on localhost:5000. </a:t>
            </a:r>
            <a:r>
              <a:rPr lang="en-IN" sz="1200" b="1" dirty="0" err="1">
                <a:latin typeface="Times New Roman" panose="02020603050405020304" pitchFamily="18" charset="0"/>
                <a:cs typeface="Times New Roman" panose="02020603050405020304" pitchFamily="18" charset="0"/>
              </a:rPr>
              <a:t>dotenv</a:t>
            </a:r>
            <a:r>
              <a:rPr lang="en-IN" sz="1200" dirty="0">
                <a:latin typeface="Times New Roman" panose="02020603050405020304" pitchFamily="18" charset="0"/>
                <a:cs typeface="Times New Roman" panose="02020603050405020304" pitchFamily="18" charset="0"/>
              </a:rPr>
              <a:t> is used to load configuration values such as database credentials, JWT secrets, and server settings from environment variables. </a:t>
            </a:r>
            <a:endParaRPr sz="1200" dirty="0">
              <a:latin typeface="Times New Roman" panose="02020603050405020304" pitchFamily="18" charset="0"/>
              <a:cs typeface="Times New Roman" panose="02020603050405020304" pitchFamily="18" charset="0"/>
            </a:endParaRPr>
          </a:p>
        </p:txBody>
      </p:sp>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32384">
              <a:lnSpc>
                <a:spcPts val="1150"/>
              </a:lnSpc>
            </a:pPr>
            <a:r>
              <a:rPr dirty="0">
                <a:solidFill>
                  <a:srgbClr val="000000"/>
                </a:solidFill>
                <a:latin typeface="Calibri Light"/>
                <a:cs typeface="Calibri Light"/>
              </a:rPr>
              <a:t>Page</a:t>
            </a:r>
            <a:r>
              <a:rPr spc="-45" dirty="0">
                <a:solidFill>
                  <a:srgbClr val="000000"/>
                </a:solidFill>
                <a:latin typeface="Calibri Light"/>
                <a:cs typeface="Calibri Light"/>
              </a:rPr>
              <a:t> </a:t>
            </a:r>
            <a:r>
              <a:rPr spc="-25" dirty="0">
                <a:solidFill>
                  <a:srgbClr val="000000"/>
                </a:solidFill>
                <a:latin typeface="Calibri Light"/>
                <a:cs typeface="Calibri Light"/>
              </a:rPr>
              <a:t>8</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96848" y="1063497"/>
            <a:ext cx="5964555" cy="2206886"/>
          </a:xfrm>
          <a:prstGeom prst="rect">
            <a:avLst/>
          </a:prstGeom>
        </p:spPr>
        <p:txBody>
          <a:bodyPr vert="horz" wrap="square" lIns="0" tIns="12700" rIns="0" bIns="0" rtlCol="0">
            <a:spAutoFit/>
          </a:bodyPr>
          <a:lstStyle/>
          <a:p>
            <a:pPr marL="3810" algn="ctr">
              <a:lnSpc>
                <a:spcPct val="100000"/>
              </a:lnSpc>
              <a:spcBef>
                <a:spcPts val="100"/>
              </a:spcBef>
            </a:pPr>
            <a:r>
              <a:rPr sz="1500" b="1" dirty="0">
                <a:latin typeface="Times New Roman"/>
                <a:cs typeface="Times New Roman"/>
              </a:rPr>
              <a:t>CHAPTER</a:t>
            </a:r>
            <a:r>
              <a:rPr sz="1500" b="1" spc="-50" dirty="0">
                <a:latin typeface="Times New Roman"/>
                <a:cs typeface="Times New Roman"/>
              </a:rPr>
              <a:t> </a:t>
            </a:r>
            <a:r>
              <a:rPr sz="1500" b="1" dirty="0">
                <a:latin typeface="Times New Roman"/>
                <a:cs typeface="Times New Roman"/>
              </a:rPr>
              <a:t>4:</a:t>
            </a:r>
            <a:r>
              <a:rPr sz="1500" b="1" spc="-35" dirty="0">
                <a:latin typeface="Times New Roman"/>
                <a:cs typeface="Times New Roman"/>
              </a:rPr>
              <a:t> </a:t>
            </a:r>
            <a:r>
              <a:rPr sz="1500" b="1" dirty="0">
                <a:latin typeface="Times New Roman"/>
                <a:cs typeface="Times New Roman"/>
              </a:rPr>
              <a:t>SYSTEM</a:t>
            </a:r>
            <a:r>
              <a:rPr sz="1500" b="1" spc="-30" dirty="0">
                <a:latin typeface="Times New Roman"/>
                <a:cs typeface="Times New Roman"/>
              </a:rPr>
              <a:t> </a:t>
            </a:r>
            <a:r>
              <a:rPr sz="1500" b="1" spc="-10" dirty="0">
                <a:latin typeface="Times New Roman"/>
                <a:cs typeface="Times New Roman"/>
              </a:rPr>
              <a:t>ARCHITECTURE</a:t>
            </a:r>
            <a:endParaRPr sz="1500" dirty="0">
              <a:latin typeface="Times New Roman"/>
              <a:cs typeface="Times New Roman"/>
            </a:endParaRPr>
          </a:p>
          <a:p>
            <a:pPr marL="12700" algn="just">
              <a:lnSpc>
                <a:spcPct val="100000"/>
              </a:lnSpc>
              <a:spcBef>
                <a:spcPts val="1245"/>
              </a:spcBef>
            </a:pPr>
            <a:r>
              <a:rPr sz="1300" b="1" dirty="0">
                <a:latin typeface="Times New Roman"/>
                <a:cs typeface="Times New Roman"/>
              </a:rPr>
              <a:t>4.1</a:t>
            </a:r>
            <a:r>
              <a:rPr sz="1300" b="1" spc="-35" dirty="0">
                <a:latin typeface="Times New Roman"/>
                <a:cs typeface="Times New Roman"/>
              </a:rPr>
              <a:t> </a:t>
            </a:r>
            <a:r>
              <a:rPr sz="1300" b="1" spc="-10" dirty="0">
                <a:latin typeface="Times New Roman"/>
                <a:cs typeface="Times New Roman"/>
              </a:rPr>
              <a:t>High-</a:t>
            </a:r>
            <a:r>
              <a:rPr sz="1300" b="1" dirty="0">
                <a:latin typeface="Times New Roman"/>
                <a:cs typeface="Times New Roman"/>
              </a:rPr>
              <a:t>Level</a:t>
            </a:r>
            <a:r>
              <a:rPr sz="1300" b="1" spc="-30" dirty="0">
                <a:latin typeface="Times New Roman"/>
                <a:cs typeface="Times New Roman"/>
              </a:rPr>
              <a:t> </a:t>
            </a:r>
            <a:r>
              <a:rPr sz="1300" b="1" dirty="0">
                <a:latin typeface="Times New Roman"/>
                <a:cs typeface="Times New Roman"/>
              </a:rPr>
              <a:t>Architecture</a:t>
            </a:r>
            <a:r>
              <a:rPr sz="1300" b="1" spc="-30" dirty="0">
                <a:latin typeface="Times New Roman"/>
                <a:cs typeface="Times New Roman"/>
              </a:rPr>
              <a:t> </a:t>
            </a:r>
            <a:r>
              <a:rPr sz="1300" b="1" spc="-10" dirty="0">
                <a:latin typeface="Times New Roman"/>
                <a:cs typeface="Times New Roman"/>
              </a:rPr>
              <a:t>Diagram</a:t>
            </a:r>
            <a:endParaRPr sz="1300" dirty="0">
              <a:latin typeface="Times New Roman"/>
              <a:cs typeface="Times New Roman"/>
            </a:endParaRPr>
          </a:p>
          <a:p>
            <a:pPr marL="12700" marR="5080" algn="just">
              <a:lnSpc>
                <a:spcPct val="100000"/>
              </a:lnSpc>
              <a:spcBef>
                <a:spcPts val="459"/>
              </a:spcBef>
            </a:pPr>
            <a:r>
              <a:rPr lang="en-IN" sz="1200" dirty="0">
                <a:latin typeface="Times New Roman" panose="02020603050405020304" pitchFamily="18" charset="0"/>
                <a:cs typeface="Times New Roman" panose="02020603050405020304" pitchFamily="18" charset="0"/>
              </a:rPr>
              <a:t>The </a:t>
            </a:r>
            <a:r>
              <a:rPr lang="en-IN" sz="1200" b="1" dirty="0">
                <a:latin typeface="Times New Roman" panose="02020603050405020304" pitchFamily="18" charset="0"/>
                <a:cs typeface="Times New Roman" panose="02020603050405020304" pitchFamily="18" charset="0"/>
              </a:rPr>
              <a:t>Library Management System with RFID Integration</a:t>
            </a:r>
            <a:r>
              <a:rPr lang="en-IN" sz="1200" dirty="0">
                <a:latin typeface="Times New Roman" panose="02020603050405020304" pitchFamily="18" charset="0"/>
                <a:cs typeface="Times New Roman" panose="02020603050405020304" pitchFamily="18" charset="0"/>
              </a:rPr>
              <a:t> follows a standard three-tier architecture that separates the user interface, application/business logic, and database. The React-based frontend communicates with the Node.js and Express.js backend through REST APIs, while the backend communicates with the MySQL database using mysql2. The database stores and manages information related to users, books, members, transactions, and fines. The processed results are returned from the database through the backend as JSON responses and displayed on the React frontend. </a:t>
            </a:r>
          </a:p>
          <a:p>
            <a:pPr marL="12700" marR="5080" algn="just">
              <a:lnSpc>
                <a:spcPct val="110000"/>
              </a:lnSpc>
              <a:spcBef>
                <a:spcPts val="459"/>
              </a:spcBef>
            </a:pPr>
            <a:r>
              <a:rPr sz="1200" spc="-10" dirty="0">
                <a:latin typeface="Times New Roman"/>
                <a:cs typeface="Times New Roman"/>
              </a:rPr>
              <a:t>.</a:t>
            </a:r>
            <a:endParaRPr sz="1200" dirty="0">
              <a:latin typeface="Times New Roman"/>
              <a:cs typeface="Times New Roman"/>
            </a:endParaRPr>
          </a:p>
        </p:txBody>
      </p:sp>
      <p:sp>
        <p:nvSpPr>
          <p:cNvPr id="3" name="object 3"/>
          <p:cNvSpPr txBox="1"/>
          <p:nvPr/>
        </p:nvSpPr>
        <p:spPr>
          <a:xfrm>
            <a:off x="796848" y="4438880"/>
            <a:ext cx="5970905" cy="5312993"/>
          </a:xfrm>
          <a:prstGeom prst="rect">
            <a:avLst/>
          </a:prstGeom>
        </p:spPr>
        <p:txBody>
          <a:bodyPr vert="horz" wrap="square" lIns="0" tIns="95250" rIns="0" bIns="0" rtlCol="0">
            <a:spAutoFit/>
          </a:bodyPr>
          <a:lstStyle/>
          <a:p>
            <a:pPr marL="12700" algn="just">
              <a:lnSpc>
                <a:spcPct val="100000"/>
              </a:lnSpc>
              <a:spcBef>
                <a:spcPts val="750"/>
              </a:spcBef>
            </a:pPr>
            <a:r>
              <a:rPr sz="1300" b="1" dirty="0">
                <a:latin typeface="Times New Roman"/>
                <a:cs typeface="Times New Roman"/>
              </a:rPr>
              <a:t>4.2</a:t>
            </a:r>
            <a:r>
              <a:rPr sz="1300" b="1" spc="-20" dirty="0">
                <a:latin typeface="Times New Roman"/>
                <a:cs typeface="Times New Roman"/>
              </a:rPr>
              <a:t> </a:t>
            </a:r>
            <a:r>
              <a:rPr sz="1300" b="1" dirty="0">
                <a:latin typeface="Times New Roman"/>
                <a:cs typeface="Times New Roman"/>
              </a:rPr>
              <a:t>Description</a:t>
            </a:r>
            <a:r>
              <a:rPr sz="1300" b="1" spc="-15" dirty="0">
                <a:latin typeface="Times New Roman"/>
                <a:cs typeface="Times New Roman"/>
              </a:rPr>
              <a:t> </a:t>
            </a:r>
            <a:r>
              <a:rPr sz="1300" b="1" dirty="0">
                <a:latin typeface="Times New Roman"/>
                <a:cs typeface="Times New Roman"/>
              </a:rPr>
              <a:t>of</a:t>
            </a:r>
            <a:r>
              <a:rPr sz="1300" b="1" spc="-5" dirty="0">
                <a:latin typeface="Times New Roman"/>
                <a:cs typeface="Times New Roman"/>
              </a:rPr>
              <a:t> </a:t>
            </a:r>
            <a:r>
              <a:rPr sz="1300" b="1" dirty="0">
                <a:latin typeface="Times New Roman"/>
                <a:cs typeface="Times New Roman"/>
              </a:rPr>
              <a:t>Each</a:t>
            </a:r>
            <a:r>
              <a:rPr sz="1300" b="1" spc="-15" dirty="0">
                <a:latin typeface="Times New Roman"/>
                <a:cs typeface="Times New Roman"/>
              </a:rPr>
              <a:t> </a:t>
            </a:r>
            <a:r>
              <a:rPr sz="1300" b="1" spc="-20" dirty="0">
                <a:latin typeface="Times New Roman"/>
                <a:cs typeface="Times New Roman"/>
              </a:rPr>
              <a:t>Laye</a:t>
            </a:r>
            <a:r>
              <a:rPr lang="en-US" sz="1300" b="1" spc="-20" dirty="0">
                <a:latin typeface="Times New Roman"/>
                <a:cs typeface="Times New Roman"/>
              </a:rPr>
              <a:t>r</a:t>
            </a:r>
            <a:endParaRPr sz="1300" dirty="0">
              <a:latin typeface="Times New Roman"/>
              <a:cs typeface="Times New Roman"/>
            </a:endParaRPr>
          </a:p>
          <a:p>
            <a:r>
              <a:rPr lang="en-IN" sz="1200" dirty="0">
                <a:latin typeface="Times New Roman" panose="02020603050405020304" pitchFamily="18" charset="0"/>
                <a:cs typeface="Times New Roman" panose="02020603050405020304" pitchFamily="18" charset="0"/>
              </a:rPr>
              <a:t>The </a:t>
            </a:r>
            <a:r>
              <a:rPr lang="en-IN" sz="1200" b="1" dirty="0">
                <a:latin typeface="Times New Roman" panose="02020603050405020304" pitchFamily="18" charset="0"/>
                <a:cs typeface="Times New Roman" panose="02020603050405020304" pitchFamily="18" charset="0"/>
              </a:rPr>
              <a:t>Presentation Layer</a:t>
            </a:r>
            <a:r>
              <a:rPr lang="en-IN" sz="1200" dirty="0">
                <a:latin typeface="Times New Roman" panose="02020603050405020304" pitchFamily="18" charset="0"/>
                <a:cs typeface="Times New Roman" panose="02020603050405020304" pitchFamily="18" charset="0"/>
              </a:rPr>
              <a:t> is the React.js single-page application used by administrators, librarians, and students. It provides the user interface for login, dashboard, book management, member management, RFID simulation, issue and return operations, fines, inventory, reports, and student information. The React frontend does not communicate with MySQL directly. All data is obtained by sending HTTP requests to the REST API provided by the Express backend.</a:t>
            </a:r>
          </a:p>
          <a:p>
            <a:r>
              <a:rPr lang="en-IN" sz="1200" dirty="0">
                <a:latin typeface="Times New Roman" panose="02020603050405020304" pitchFamily="18" charset="0"/>
                <a:cs typeface="Times New Roman" panose="02020603050405020304" pitchFamily="18" charset="0"/>
              </a:rPr>
              <a:t>The </a:t>
            </a:r>
            <a:r>
              <a:rPr lang="en-IN" sz="1200" b="1" dirty="0">
                <a:latin typeface="Times New Roman" panose="02020603050405020304" pitchFamily="18" charset="0"/>
                <a:cs typeface="Times New Roman" panose="02020603050405020304" pitchFamily="18" charset="0"/>
              </a:rPr>
              <a:t>Application Layer</a:t>
            </a:r>
            <a:r>
              <a:rPr lang="en-IN" sz="1200" dirty="0">
                <a:latin typeface="Times New Roman" panose="02020603050405020304" pitchFamily="18" charset="0"/>
                <a:cs typeface="Times New Roman" panose="02020603050405020304" pitchFamily="18" charset="0"/>
              </a:rPr>
              <a:t> is the Node.js and Express.js REST API. It receives requests from the React frontend, authenticates users, checks their roles and permissions, validates requests, and applies the library's business logic. It handles operations such as adding and managing books and members, issuing and returning books, processing RFID simulator requests, managing fines, and generating dashboard statistics. The backend communicates with MySQL through the mysql2 driver and sends the results back to the frontend as JSON responses.</a:t>
            </a:r>
          </a:p>
          <a:p>
            <a:r>
              <a:rPr lang="en-IN" sz="1200" dirty="0">
                <a:latin typeface="Times New Roman" panose="02020603050405020304" pitchFamily="18" charset="0"/>
                <a:cs typeface="Times New Roman" panose="02020603050405020304" pitchFamily="18" charset="0"/>
              </a:rPr>
              <a:t>The </a:t>
            </a:r>
            <a:r>
              <a:rPr lang="en-IN" sz="1200" b="1" dirty="0">
                <a:latin typeface="Times New Roman" panose="02020603050405020304" pitchFamily="18" charset="0"/>
                <a:cs typeface="Times New Roman" panose="02020603050405020304" pitchFamily="18" charset="0"/>
              </a:rPr>
              <a:t>Data Layer</a:t>
            </a:r>
            <a:r>
              <a:rPr lang="en-IN" sz="1200" dirty="0">
                <a:latin typeface="Times New Roman" panose="02020603050405020304" pitchFamily="18" charset="0"/>
                <a:cs typeface="Times New Roman" panose="02020603050405020304" pitchFamily="18" charset="0"/>
              </a:rPr>
              <a:t> is the MySQL relational database named </a:t>
            </a:r>
            <a:r>
              <a:rPr lang="en-IN" sz="1200" dirty="0" err="1">
                <a:latin typeface="Times New Roman" panose="02020603050405020304" pitchFamily="18" charset="0"/>
                <a:cs typeface="Times New Roman" panose="02020603050405020304" pitchFamily="18" charset="0"/>
              </a:rPr>
              <a:t>library_rfid</a:t>
            </a:r>
            <a:r>
              <a:rPr lang="en-IN" sz="1200" dirty="0">
                <a:latin typeface="Times New Roman" panose="02020603050405020304" pitchFamily="18" charset="0"/>
                <a:cs typeface="Times New Roman" panose="02020603050405020304" pitchFamily="18" charset="0"/>
              </a:rPr>
              <a:t>. It stores the persistent information required by the system, including users, books, members, transactions, and fines. Primary keys and foreign keys are used to maintain relationships between the tables, while SQL queries are used to insert, retrieve, update, and delete data.</a:t>
            </a:r>
          </a:p>
          <a:p>
            <a:pPr>
              <a:lnSpc>
                <a:spcPct val="100000"/>
              </a:lnSpc>
            </a:pPr>
            <a:endParaRPr sz="1200" dirty="0">
              <a:latin typeface="Times New Roman"/>
              <a:cs typeface="Times New Roman"/>
            </a:endParaRPr>
          </a:p>
          <a:p>
            <a:pPr marL="12700" algn="just">
              <a:lnSpc>
                <a:spcPct val="100000"/>
              </a:lnSpc>
            </a:pPr>
            <a:r>
              <a:rPr sz="1300" b="1" dirty="0">
                <a:latin typeface="Times New Roman"/>
                <a:cs typeface="Times New Roman"/>
              </a:rPr>
              <a:t>4.3</a:t>
            </a:r>
            <a:r>
              <a:rPr sz="1300" b="1" spc="-45" dirty="0">
                <a:latin typeface="Times New Roman"/>
                <a:cs typeface="Times New Roman"/>
              </a:rPr>
              <a:t> </a:t>
            </a:r>
            <a:r>
              <a:rPr sz="1300" b="1" dirty="0">
                <a:latin typeface="Times New Roman"/>
                <a:cs typeface="Times New Roman"/>
              </a:rPr>
              <a:t>Deployment</a:t>
            </a:r>
            <a:r>
              <a:rPr sz="1300" b="1" spc="-30" dirty="0">
                <a:latin typeface="Times New Roman"/>
                <a:cs typeface="Times New Roman"/>
              </a:rPr>
              <a:t> </a:t>
            </a:r>
            <a:r>
              <a:rPr sz="1300" b="1" spc="-10" dirty="0">
                <a:latin typeface="Times New Roman"/>
                <a:cs typeface="Times New Roman"/>
              </a:rPr>
              <a:t>Architecture</a:t>
            </a:r>
            <a:endParaRPr lang="en-US" sz="1300" b="1" spc="-10" dirty="0">
              <a:latin typeface="Times New Roman"/>
              <a:cs typeface="Times New Roman"/>
            </a:endParaRPr>
          </a:p>
          <a:p>
            <a:r>
              <a:rPr lang="en-IN" sz="1200" dirty="0">
                <a:latin typeface="Times New Roman" panose="02020603050405020304" pitchFamily="18" charset="0"/>
                <a:cs typeface="Times New Roman" panose="02020603050405020304" pitchFamily="18" charset="0"/>
              </a:rPr>
              <a:t>For development and demonstration, the three layers of the Library Management System run as separate local services on the same computer. The </a:t>
            </a:r>
            <a:r>
              <a:rPr lang="en-IN" sz="1200" b="1" dirty="0">
                <a:latin typeface="Times New Roman" panose="02020603050405020304" pitchFamily="18" charset="0"/>
                <a:cs typeface="Times New Roman" panose="02020603050405020304" pitchFamily="18" charset="0"/>
              </a:rPr>
              <a:t>Node.js and Express backend</a:t>
            </a:r>
            <a:r>
              <a:rPr lang="en-IN" sz="1200" dirty="0">
                <a:latin typeface="Times New Roman" panose="02020603050405020304" pitchFamily="18" charset="0"/>
                <a:cs typeface="Times New Roman" panose="02020603050405020304" pitchFamily="18" charset="0"/>
              </a:rPr>
              <a:t> runs on port </a:t>
            </a:r>
            <a:r>
              <a:rPr lang="en-IN" sz="1200" b="1" dirty="0">
                <a:latin typeface="Times New Roman" panose="02020603050405020304" pitchFamily="18" charset="0"/>
                <a:cs typeface="Times New Roman" panose="02020603050405020304" pitchFamily="18" charset="0"/>
              </a:rPr>
              <a:t>5000</a:t>
            </a:r>
            <a:r>
              <a:rPr lang="en-IN" sz="1200" dirty="0">
                <a:latin typeface="Times New Roman" panose="02020603050405020304" pitchFamily="18" charset="0"/>
                <a:cs typeface="Times New Roman" panose="02020603050405020304" pitchFamily="18" charset="0"/>
              </a:rPr>
              <a:t>, the </a:t>
            </a:r>
            <a:r>
              <a:rPr lang="en-IN" sz="1200" b="1" dirty="0">
                <a:latin typeface="Times New Roman" panose="02020603050405020304" pitchFamily="18" charset="0"/>
                <a:cs typeface="Times New Roman" panose="02020603050405020304" pitchFamily="18" charset="0"/>
              </a:rPr>
              <a:t>React/Vite frontend</a:t>
            </a:r>
            <a:r>
              <a:rPr lang="en-IN" sz="1200" dirty="0">
                <a:latin typeface="Times New Roman" panose="02020603050405020304" pitchFamily="18" charset="0"/>
                <a:cs typeface="Times New Roman" panose="02020603050405020304" pitchFamily="18" charset="0"/>
              </a:rPr>
              <a:t> runs on port </a:t>
            </a:r>
            <a:r>
              <a:rPr lang="en-IN" sz="1200" b="1" dirty="0">
                <a:latin typeface="Times New Roman" panose="02020603050405020304" pitchFamily="18" charset="0"/>
                <a:cs typeface="Times New Roman" panose="02020603050405020304" pitchFamily="18" charset="0"/>
              </a:rPr>
              <a:t>5173</a:t>
            </a:r>
            <a:r>
              <a:rPr lang="en-IN" sz="1200" dirty="0">
                <a:latin typeface="Times New Roman" panose="02020603050405020304" pitchFamily="18" charset="0"/>
                <a:cs typeface="Times New Roman" panose="02020603050405020304" pitchFamily="18" charset="0"/>
              </a:rPr>
              <a:t>, and the </a:t>
            </a:r>
            <a:r>
              <a:rPr lang="en-IN" sz="1200" b="1" dirty="0">
                <a:latin typeface="Times New Roman" panose="02020603050405020304" pitchFamily="18" charset="0"/>
                <a:cs typeface="Times New Roman" panose="02020603050405020304" pitchFamily="18" charset="0"/>
              </a:rPr>
              <a:t>MySQL database</a:t>
            </a:r>
            <a:r>
              <a:rPr lang="en-IN" sz="1200" dirty="0">
                <a:latin typeface="Times New Roman" panose="02020603050405020304" pitchFamily="18" charset="0"/>
                <a:cs typeface="Times New Roman" panose="02020603050405020304" pitchFamily="18" charset="0"/>
              </a:rPr>
              <a:t> runs on its default port </a:t>
            </a:r>
            <a:r>
              <a:rPr lang="en-IN" sz="1200" b="1" dirty="0">
                <a:latin typeface="Times New Roman" panose="02020603050405020304" pitchFamily="18" charset="0"/>
                <a:cs typeface="Times New Roman" panose="02020603050405020304" pitchFamily="18" charset="0"/>
              </a:rPr>
              <a:t>3306</a:t>
            </a:r>
            <a:r>
              <a:rPr lang="en-IN" sz="1200" dirty="0">
                <a:latin typeface="Times New Roman" panose="02020603050405020304" pitchFamily="18" charset="0"/>
                <a:cs typeface="Times New Roman" panose="02020603050405020304" pitchFamily="18" charset="0"/>
              </a:rPr>
              <a:t>. The frontend communicates with the backend through HTTP/REST API requests, while the backend communicates with MySQL using mysql2.</a:t>
            </a:r>
          </a:p>
          <a:p>
            <a:r>
              <a:rPr lang="en-IN" sz="1200" dirty="0">
                <a:latin typeface="Times New Roman" panose="02020603050405020304" pitchFamily="18" charset="0"/>
                <a:cs typeface="Times New Roman" panose="02020603050405020304" pitchFamily="18" charset="0"/>
              </a:rPr>
              <a:t>The basic running order is to start the </a:t>
            </a:r>
            <a:r>
              <a:rPr lang="en-IN" sz="1200" b="1" dirty="0">
                <a:latin typeface="Times New Roman" panose="02020603050405020304" pitchFamily="18" charset="0"/>
                <a:cs typeface="Times New Roman" panose="02020603050405020304" pitchFamily="18" charset="0"/>
              </a:rPr>
              <a:t>MySQL server first</a:t>
            </a:r>
            <a:r>
              <a:rPr lang="en-IN" sz="1200" dirty="0">
                <a:latin typeface="Times New Roman" panose="02020603050405020304" pitchFamily="18" charset="0"/>
                <a:cs typeface="Times New Roman" panose="02020603050405020304" pitchFamily="18" charset="0"/>
              </a:rPr>
              <a:t>, followed by the </a:t>
            </a:r>
            <a:r>
              <a:rPr lang="en-IN" sz="1200" b="1" dirty="0">
                <a:latin typeface="Times New Roman" panose="02020603050405020304" pitchFamily="18" charset="0"/>
                <a:cs typeface="Times New Roman" panose="02020603050405020304" pitchFamily="18" charset="0"/>
              </a:rPr>
              <a:t>backend</a:t>
            </a:r>
            <a:r>
              <a:rPr lang="en-IN" sz="1200" dirty="0">
                <a:latin typeface="Times New Roman" panose="02020603050405020304" pitchFamily="18" charset="0"/>
                <a:cs typeface="Times New Roman" panose="02020603050405020304" pitchFamily="18" charset="0"/>
              </a:rPr>
              <a:t>, and then the </a:t>
            </a:r>
            <a:r>
              <a:rPr lang="en-IN" sz="1200" b="1" dirty="0">
                <a:latin typeface="Times New Roman" panose="02020603050405020304" pitchFamily="18" charset="0"/>
                <a:cs typeface="Times New Roman" panose="02020603050405020304" pitchFamily="18" charset="0"/>
              </a:rPr>
              <a:t>frontend</a:t>
            </a:r>
            <a:r>
              <a:rPr lang="en-IN" sz="1200" dirty="0">
                <a:latin typeface="Times New Roman" panose="02020603050405020304" pitchFamily="18" charset="0"/>
                <a:cs typeface="Times New Roman" panose="02020603050405020304" pitchFamily="18" charset="0"/>
              </a:rPr>
              <a:t>. The application can then be accessed through http://localhost:5173. The current project uses a local development setup, while physical RFID hardware integration and production/cloud deployment can be considered as future enhancements. </a:t>
            </a:r>
          </a:p>
          <a:p>
            <a:pPr marL="12700" algn="just">
              <a:lnSpc>
                <a:spcPct val="100000"/>
              </a:lnSpc>
            </a:pPr>
            <a:endParaRPr sz="1300" dirty="0">
              <a:latin typeface="Times New Roman"/>
              <a:cs typeface="Times New Roman"/>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2384">
              <a:lnSpc>
                <a:spcPts val="1150"/>
              </a:lnSpc>
            </a:pPr>
            <a:r>
              <a:rPr dirty="0">
                <a:solidFill>
                  <a:srgbClr val="000000"/>
                </a:solidFill>
                <a:latin typeface="Calibri Light"/>
                <a:cs typeface="Calibri Light"/>
              </a:rPr>
              <a:t>Page</a:t>
            </a:r>
            <a:r>
              <a:rPr spc="-45" dirty="0">
                <a:solidFill>
                  <a:srgbClr val="000000"/>
                </a:solidFill>
                <a:latin typeface="Calibri Light"/>
                <a:cs typeface="Calibri Light"/>
              </a:rPr>
              <a:t> </a:t>
            </a:r>
            <a:r>
              <a:rPr spc="-25" dirty="0">
                <a:solidFill>
                  <a:srgbClr val="000000"/>
                </a:solidFill>
                <a:latin typeface="Calibri Light"/>
                <a:cs typeface="Calibri Light"/>
              </a:rPr>
              <a:t>9</a:t>
            </a:r>
          </a:p>
        </p:txBody>
      </p:sp>
      <p:pic>
        <p:nvPicPr>
          <p:cNvPr id="7" name="Picture 6">
            <a:extLst>
              <a:ext uri="{FF2B5EF4-FFF2-40B4-BE49-F238E27FC236}">
                <a16:creationId xmlns:a16="http://schemas.microsoft.com/office/drawing/2014/main" id="{4C0B0FEC-AE7F-B1DE-40CA-A405353B5277}"/>
              </a:ext>
            </a:extLst>
          </p:cNvPr>
          <p:cNvPicPr>
            <a:picLocks noChangeAspect="1"/>
          </p:cNvPicPr>
          <p:nvPr/>
        </p:nvPicPr>
        <p:blipFill>
          <a:blip r:embed="rId2"/>
          <a:stretch>
            <a:fillRect/>
          </a:stretch>
        </p:blipFill>
        <p:spPr>
          <a:xfrm>
            <a:off x="1117600" y="3074408"/>
            <a:ext cx="3957397" cy="1349867"/>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96848" y="839469"/>
            <a:ext cx="5969000" cy="3709221"/>
          </a:xfrm>
          <a:prstGeom prst="rect">
            <a:avLst/>
          </a:prstGeom>
        </p:spPr>
        <p:txBody>
          <a:bodyPr vert="horz" wrap="square" lIns="0" tIns="12700" rIns="0" bIns="0" rtlCol="0">
            <a:spAutoFit/>
          </a:bodyPr>
          <a:lstStyle/>
          <a:p>
            <a:pPr algn="ctr">
              <a:lnSpc>
                <a:spcPct val="100000"/>
              </a:lnSpc>
              <a:spcBef>
                <a:spcPts val="100"/>
              </a:spcBef>
            </a:pPr>
            <a:r>
              <a:rPr sz="1500" b="1" dirty="0">
                <a:latin typeface="Times New Roman"/>
                <a:cs typeface="Times New Roman"/>
              </a:rPr>
              <a:t>CHAPTER</a:t>
            </a:r>
            <a:r>
              <a:rPr sz="1500" b="1" spc="-40" dirty="0">
                <a:latin typeface="Times New Roman"/>
                <a:cs typeface="Times New Roman"/>
              </a:rPr>
              <a:t> </a:t>
            </a:r>
            <a:r>
              <a:rPr sz="1500" b="1" dirty="0">
                <a:latin typeface="Times New Roman"/>
                <a:cs typeface="Times New Roman"/>
              </a:rPr>
              <a:t>5:</a:t>
            </a:r>
            <a:r>
              <a:rPr sz="1500" b="1" spc="-30" dirty="0">
                <a:latin typeface="Times New Roman"/>
                <a:cs typeface="Times New Roman"/>
              </a:rPr>
              <a:t> </a:t>
            </a:r>
            <a:r>
              <a:rPr sz="1500" b="1" spc="-10" dirty="0">
                <a:latin typeface="Times New Roman"/>
                <a:cs typeface="Times New Roman"/>
              </a:rPr>
              <a:t>DESIGN</a:t>
            </a:r>
            <a:endParaRPr sz="1500" dirty="0">
              <a:latin typeface="Times New Roman"/>
              <a:cs typeface="Times New Roman"/>
            </a:endParaRPr>
          </a:p>
          <a:p>
            <a:pPr marL="259079" lvl="1" indent="-246379" algn="just">
              <a:lnSpc>
                <a:spcPct val="100000"/>
              </a:lnSpc>
              <a:spcBef>
                <a:spcPts val="1245"/>
              </a:spcBef>
              <a:buAutoNum type="arabicPeriod"/>
              <a:tabLst>
                <a:tab pos="259079" algn="l"/>
              </a:tabLst>
            </a:pPr>
            <a:r>
              <a:rPr sz="1300" b="1" dirty="0">
                <a:latin typeface="Times New Roman"/>
                <a:cs typeface="Times New Roman"/>
              </a:rPr>
              <a:t>Database</a:t>
            </a:r>
            <a:r>
              <a:rPr sz="1300" b="1" spc="-25" dirty="0">
                <a:latin typeface="Times New Roman"/>
                <a:cs typeface="Times New Roman"/>
              </a:rPr>
              <a:t> </a:t>
            </a:r>
            <a:r>
              <a:rPr sz="1300" b="1" dirty="0">
                <a:latin typeface="Times New Roman"/>
                <a:cs typeface="Times New Roman"/>
              </a:rPr>
              <a:t>Design</a:t>
            </a:r>
            <a:r>
              <a:rPr sz="1300" b="1" spc="-20" dirty="0">
                <a:latin typeface="Times New Roman"/>
                <a:cs typeface="Times New Roman"/>
              </a:rPr>
              <a:t> </a:t>
            </a:r>
            <a:r>
              <a:rPr sz="1300" b="1" spc="-10" dirty="0">
                <a:latin typeface="Times New Roman"/>
                <a:cs typeface="Times New Roman"/>
              </a:rPr>
              <a:t>Principles</a:t>
            </a:r>
            <a:endParaRPr sz="1300" dirty="0">
              <a:latin typeface="Times New Roman"/>
              <a:cs typeface="Times New Roman"/>
            </a:endParaRPr>
          </a:p>
          <a:p>
            <a:r>
              <a:rPr lang="en-IN" sz="1200" dirty="0">
                <a:latin typeface="Times New Roman" panose="02020603050405020304" pitchFamily="18" charset="0"/>
                <a:cs typeface="Times New Roman" panose="02020603050405020304" pitchFamily="18" charset="0"/>
              </a:rPr>
              <a:t>The database schema of the </a:t>
            </a:r>
            <a:r>
              <a:rPr lang="en-IN" sz="1200" b="1" dirty="0">
                <a:latin typeface="Times New Roman" panose="02020603050405020304" pitchFamily="18" charset="0"/>
                <a:cs typeface="Times New Roman" panose="02020603050405020304" pitchFamily="18" charset="0"/>
              </a:rPr>
              <a:t>Library Management System with RFID Integration</a:t>
            </a:r>
            <a:r>
              <a:rPr lang="en-IN" sz="1200" dirty="0">
                <a:latin typeface="Times New Roman" panose="02020603050405020304" pitchFamily="18" charset="0"/>
                <a:cs typeface="Times New Roman" panose="02020603050405020304" pitchFamily="18" charset="0"/>
              </a:rPr>
              <a:t> is designed to organize library information efficiently and reduce unnecessary duplication of data. Each type of information is stored in its appropriate table, such as users, books, members, transactions, and fines, while relationships between these tables are maintained using primary keys and foreign keys. This makes it easier to manage and retrieve related information without repeatedly storing the same data.</a:t>
            </a:r>
          </a:p>
          <a:p>
            <a:r>
              <a:rPr lang="en-IN" sz="1200" dirty="0">
                <a:latin typeface="Times New Roman" panose="02020603050405020304" pitchFamily="18" charset="0"/>
                <a:cs typeface="Times New Roman" panose="02020603050405020304" pitchFamily="18" charset="0"/>
              </a:rPr>
              <a:t>The database uses constraints such as </a:t>
            </a:r>
            <a:r>
              <a:rPr lang="en-IN" sz="1200" b="1" dirty="0">
                <a:latin typeface="Times New Roman" panose="02020603050405020304" pitchFamily="18" charset="0"/>
                <a:cs typeface="Times New Roman" panose="02020603050405020304" pitchFamily="18" charset="0"/>
              </a:rPr>
              <a:t>PRIMARY KEY, FOREIGN KEY, UNIQUE, and appropriate validation constraints</a:t>
            </a:r>
            <a:r>
              <a:rPr lang="en-IN" sz="1200" dirty="0">
                <a:latin typeface="Times New Roman" panose="02020603050405020304" pitchFamily="18" charset="0"/>
                <a:cs typeface="Times New Roman" panose="02020603050405020304" pitchFamily="18" charset="0"/>
              </a:rPr>
              <a:t> to maintain data consistency and integrity. For example, each book and member has a unique identifier, transactions are linked to valid books and members, and user information is maintained separately from library circulation records. This ensures that invalid or inconsistent records are prevented as much as possible at the database level. </a:t>
            </a:r>
          </a:p>
          <a:p>
            <a:pPr marL="259079" marR="5080" indent="-246379" algn="just">
              <a:lnSpc>
                <a:spcPct val="110100"/>
              </a:lnSpc>
              <a:spcBef>
                <a:spcPts val="455"/>
              </a:spcBef>
              <a:buAutoNum type="arabicPeriod" startAt="2"/>
            </a:pPr>
            <a:r>
              <a:rPr sz="1200" spc="-25" dirty="0">
                <a:latin typeface="Times New Roman"/>
                <a:cs typeface="Times New Roman"/>
              </a:rPr>
              <a:t>.</a:t>
            </a:r>
            <a:r>
              <a:rPr lang="en-IN" sz="1200" b="1" dirty="0">
                <a:latin typeface="Times New Roman"/>
                <a:cs typeface="Times New Roman"/>
              </a:rPr>
              <a:t> ER</a:t>
            </a:r>
            <a:r>
              <a:rPr lang="en-IN" sz="1200" b="1" spc="-25" dirty="0">
                <a:latin typeface="Times New Roman"/>
                <a:cs typeface="Times New Roman"/>
              </a:rPr>
              <a:t> </a:t>
            </a:r>
            <a:r>
              <a:rPr lang="en-IN" sz="1200" b="1" dirty="0">
                <a:latin typeface="Times New Roman"/>
                <a:cs typeface="Times New Roman"/>
              </a:rPr>
              <a:t>Diagram</a:t>
            </a:r>
            <a:r>
              <a:rPr lang="en-IN" sz="1200" b="1" spc="-35" dirty="0">
                <a:latin typeface="Times New Roman"/>
                <a:cs typeface="Times New Roman"/>
              </a:rPr>
              <a:t> </a:t>
            </a:r>
            <a:r>
              <a:rPr lang="en-IN" sz="1200" b="1" dirty="0">
                <a:latin typeface="Times New Roman"/>
                <a:cs typeface="Times New Roman"/>
              </a:rPr>
              <a:t>/</a:t>
            </a:r>
            <a:r>
              <a:rPr lang="en-IN" sz="1200" b="1" spc="-15" dirty="0">
                <a:latin typeface="Times New Roman"/>
                <a:cs typeface="Times New Roman"/>
              </a:rPr>
              <a:t> </a:t>
            </a:r>
            <a:r>
              <a:rPr lang="en-IN" sz="1200" b="1" dirty="0">
                <a:latin typeface="Times New Roman"/>
                <a:cs typeface="Times New Roman"/>
              </a:rPr>
              <a:t>Database</a:t>
            </a:r>
            <a:r>
              <a:rPr lang="en-IN" sz="1200" b="1" spc="-20" dirty="0">
                <a:latin typeface="Times New Roman"/>
                <a:cs typeface="Times New Roman"/>
              </a:rPr>
              <a:t> </a:t>
            </a:r>
            <a:r>
              <a:rPr lang="en-IN" sz="1200" b="1" spc="-10" dirty="0">
                <a:latin typeface="Times New Roman"/>
                <a:cs typeface="Times New Roman"/>
              </a:rPr>
              <a:t>Schema</a:t>
            </a:r>
            <a:endParaRPr lang="en-IN" sz="1200" dirty="0">
              <a:latin typeface="Times New Roman"/>
              <a:cs typeface="Times New Roman"/>
            </a:endParaRPr>
          </a:p>
          <a:p>
            <a:pPr marL="12700" marR="5080" algn="just">
              <a:lnSpc>
                <a:spcPct val="110100"/>
              </a:lnSpc>
              <a:spcBef>
                <a:spcPts val="455"/>
              </a:spcBef>
            </a:pPr>
            <a:r>
              <a:rPr lang="en-US" sz="1200" dirty="0">
                <a:latin typeface="Times New Roman"/>
                <a:cs typeface="Times New Roman"/>
              </a:rPr>
              <a:t>The</a:t>
            </a:r>
            <a:r>
              <a:rPr lang="en-US" sz="1200" spc="-35" dirty="0">
                <a:latin typeface="Times New Roman"/>
                <a:cs typeface="Times New Roman"/>
              </a:rPr>
              <a:t> </a:t>
            </a:r>
            <a:r>
              <a:rPr lang="en-US" sz="1200" dirty="0">
                <a:latin typeface="Times New Roman"/>
                <a:cs typeface="Times New Roman"/>
              </a:rPr>
              <a:t>database</a:t>
            </a:r>
            <a:r>
              <a:rPr lang="en-US" sz="1200" spc="-25" dirty="0">
                <a:latin typeface="Times New Roman"/>
                <a:cs typeface="Times New Roman"/>
              </a:rPr>
              <a:t> </a:t>
            </a:r>
            <a:r>
              <a:rPr lang="en-US" sz="1200" dirty="0">
                <a:latin typeface="Times New Roman"/>
                <a:cs typeface="Times New Roman"/>
              </a:rPr>
              <a:t>consists</a:t>
            </a:r>
            <a:r>
              <a:rPr lang="en-US" sz="1200" spc="-25" dirty="0">
                <a:latin typeface="Times New Roman"/>
                <a:cs typeface="Times New Roman"/>
              </a:rPr>
              <a:t> </a:t>
            </a:r>
            <a:r>
              <a:rPr lang="en-US" sz="1200" dirty="0">
                <a:latin typeface="Times New Roman"/>
                <a:cs typeface="Times New Roman"/>
              </a:rPr>
              <a:t>of</a:t>
            </a:r>
            <a:r>
              <a:rPr lang="en-US" sz="1200" spc="-20" dirty="0">
                <a:latin typeface="Times New Roman"/>
                <a:cs typeface="Times New Roman"/>
              </a:rPr>
              <a:t> </a:t>
            </a:r>
            <a:r>
              <a:rPr lang="en-US" sz="1200" dirty="0">
                <a:latin typeface="Times New Roman"/>
                <a:cs typeface="Times New Roman"/>
              </a:rPr>
              <a:t>seven</a:t>
            </a:r>
            <a:r>
              <a:rPr lang="en-US" sz="1200" spc="-20" dirty="0">
                <a:latin typeface="Times New Roman"/>
                <a:cs typeface="Times New Roman"/>
              </a:rPr>
              <a:t> </a:t>
            </a:r>
            <a:r>
              <a:rPr lang="en-US" sz="1200" dirty="0">
                <a:latin typeface="Times New Roman"/>
                <a:cs typeface="Times New Roman"/>
              </a:rPr>
              <a:t>related</a:t>
            </a:r>
            <a:r>
              <a:rPr lang="en-US" sz="1200" spc="-25" dirty="0">
                <a:latin typeface="Times New Roman"/>
                <a:cs typeface="Times New Roman"/>
              </a:rPr>
              <a:t> </a:t>
            </a:r>
            <a:r>
              <a:rPr lang="en-US" sz="1200" dirty="0">
                <a:latin typeface="Times New Roman"/>
                <a:cs typeface="Times New Roman"/>
              </a:rPr>
              <a:t>tables,</a:t>
            </a:r>
            <a:r>
              <a:rPr lang="en-US" sz="1200" spc="-20" dirty="0">
                <a:latin typeface="Times New Roman"/>
                <a:cs typeface="Times New Roman"/>
              </a:rPr>
              <a:t> </a:t>
            </a:r>
            <a:r>
              <a:rPr lang="en-US" sz="1200" dirty="0">
                <a:latin typeface="Times New Roman"/>
                <a:cs typeface="Times New Roman"/>
              </a:rPr>
              <a:t>shown</a:t>
            </a:r>
            <a:r>
              <a:rPr lang="en-US" sz="1200" spc="-25" dirty="0">
                <a:latin typeface="Times New Roman"/>
                <a:cs typeface="Times New Roman"/>
              </a:rPr>
              <a:t> </a:t>
            </a:r>
            <a:r>
              <a:rPr lang="en-US" sz="1200" dirty="0">
                <a:latin typeface="Times New Roman"/>
                <a:cs typeface="Times New Roman"/>
              </a:rPr>
              <a:t>in</a:t>
            </a:r>
            <a:r>
              <a:rPr lang="en-US" sz="1200" spc="-20" dirty="0">
                <a:latin typeface="Times New Roman"/>
                <a:cs typeface="Times New Roman"/>
              </a:rPr>
              <a:t> </a:t>
            </a:r>
            <a:r>
              <a:rPr lang="en-US" sz="1200" dirty="0">
                <a:latin typeface="Times New Roman"/>
                <a:cs typeface="Times New Roman"/>
              </a:rPr>
              <a:t>Figure</a:t>
            </a:r>
            <a:r>
              <a:rPr lang="en-US" sz="1200" spc="-35" dirty="0">
                <a:latin typeface="Times New Roman"/>
                <a:cs typeface="Times New Roman"/>
              </a:rPr>
              <a:t> </a:t>
            </a:r>
            <a:r>
              <a:rPr lang="en-US" sz="1200" spc="-20" dirty="0">
                <a:latin typeface="Times New Roman"/>
                <a:cs typeface="Times New Roman"/>
              </a:rPr>
              <a:t>5.1</a:t>
            </a:r>
            <a:endParaRPr sz="1200" dirty="0">
              <a:latin typeface="Times New Roman"/>
              <a:cs typeface="Times New Roman"/>
            </a:endParaRPr>
          </a:p>
          <a:p>
            <a:pPr marL="12700" algn="just">
              <a:lnSpc>
                <a:spcPct val="100000"/>
              </a:lnSpc>
              <a:spcBef>
                <a:spcPts val="940"/>
              </a:spcBef>
            </a:pPr>
            <a:r>
              <a:rPr sz="1200" spc="-20" dirty="0">
                <a:latin typeface="Times New Roman"/>
                <a:cs typeface="Times New Roman"/>
              </a:rPr>
              <a:t>.</a:t>
            </a:r>
            <a:endParaRPr sz="1200" dirty="0">
              <a:latin typeface="Times New Roman"/>
              <a:cs typeface="Times New Roman"/>
            </a:endParaRPr>
          </a:p>
        </p:txBody>
      </p:sp>
      <p:sp>
        <p:nvSpPr>
          <p:cNvPr id="3" name="object 3"/>
          <p:cNvSpPr txBox="1"/>
          <p:nvPr/>
        </p:nvSpPr>
        <p:spPr>
          <a:xfrm>
            <a:off x="796848" y="6513956"/>
            <a:ext cx="5971540" cy="2674450"/>
          </a:xfrm>
          <a:prstGeom prst="rect">
            <a:avLst/>
          </a:prstGeom>
        </p:spPr>
        <p:txBody>
          <a:bodyPr vert="horz" wrap="square" lIns="0" tIns="12065" rIns="0" bIns="0" rtlCol="0">
            <a:spAutoFit/>
          </a:bodyPr>
          <a:lstStyle/>
          <a:p>
            <a:pPr marL="12700">
              <a:lnSpc>
                <a:spcPct val="100000"/>
              </a:lnSpc>
              <a:spcBef>
                <a:spcPts val="1375"/>
              </a:spcBef>
            </a:pPr>
            <a:r>
              <a:rPr lang="en-IN" sz="1200" dirty="0">
                <a:latin typeface="Times New Roman" panose="02020603050405020304" pitchFamily="18" charset="0"/>
                <a:cs typeface="Times New Roman" panose="02020603050405020304" pitchFamily="18" charset="0"/>
              </a:rPr>
              <a:t>The database consists of five related tables: users, members, books, transactions, and fines. The </a:t>
            </a:r>
            <a:r>
              <a:rPr lang="en-IN" sz="1200" b="1" dirty="0">
                <a:latin typeface="Times New Roman" panose="02020603050405020304" pitchFamily="18" charset="0"/>
                <a:cs typeface="Times New Roman" panose="02020603050405020304" pitchFamily="18" charset="0"/>
              </a:rPr>
              <a:t>USERS</a:t>
            </a:r>
            <a:r>
              <a:rPr lang="en-IN" sz="1200" dirty="0">
                <a:latin typeface="Times New Roman" panose="02020603050405020304" pitchFamily="18" charset="0"/>
                <a:cs typeface="Times New Roman" panose="02020603050405020304" pitchFamily="18" charset="0"/>
              </a:rPr>
              <a:t> table stores login details and user roles, while </a:t>
            </a:r>
            <a:r>
              <a:rPr lang="en-IN" sz="1200" b="1" dirty="0">
                <a:latin typeface="Times New Roman" panose="02020603050405020304" pitchFamily="18" charset="0"/>
                <a:cs typeface="Times New Roman" panose="02020603050405020304" pitchFamily="18" charset="0"/>
              </a:rPr>
              <a:t>MEMBERS</a:t>
            </a:r>
            <a:r>
              <a:rPr lang="en-IN" sz="1200" dirty="0">
                <a:latin typeface="Times New Roman" panose="02020603050405020304" pitchFamily="18" charset="0"/>
                <a:cs typeface="Times New Roman" panose="02020603050405020304" pitchFamily="18" charset="0"/>
              </a:rPr>
              <a:t> stores library member information. The </a:t>
            </a:r>
            <a:r>
              <a:rPr lang="en-IN" sz="1200" b="1" dirty="0">
                <a:latin typeface="Times New Roman" panose="02020603050405020304" pitchFamily="18" charset="0"/>
                <a:cs typeface="Times New Roman" panose="02020603050405020304" pitchFamily="18" charset="0"/>
              </a:rPr>
              <a:t>BOOKS</a:t>
            </a:r>
            <a:r>
              <a:rPr lang="en-IN" sz="1200" dirty="0">
                <a:latin typeface="Times New Roman" panose="02020603050405020304" pitchFamily="18" charset="0"/>
                <a:cs typeface="Times New Roman" panose="02020603050405020304" pitchFamily="18" charset="0"/>
              </a:rPr>
              <a:t> table stores book details, including RFID information and availability. The </a:t>
            </a:r>
            <a:r>
              <a:rPr lang="en-IN" sz="1200" b="1" dirty="0">
                <a:latin typeface="Times New Roman" panose="02020603050405020304" pitchFamily="18" charset="0"/>
                <a:cs typeface="Times New Roman" panose="02020603050405020304" pitchFamily="18" charset="0"/>
              </a:rPr>
              <a:t>TRANSACTIONS</a:t>
            </a:r>
            <a:r>
              <a:rPr lang="en-IN" sz="1200" dirty="0">
                <a:latin typeface="Times New Roman" panose="02020603050405020304" pitchFamily="18" charset="0"/>
                <a:cs typeface="Times New Roman" panose="02020603050405020304" pitchFamily="18" charset="0"/>
              </a:rPr>
              <a:t> table records book issue and return activities by connecting books with members. The </a:t>
            </a:r>
            <a:r>
              <a:rPr lang="en-IN" sz="1200" b="1" dirty="0">
                <a:latin typeface="Times New Roman" panose="02020603050405020304" pitchFamily="18" charset="0"/>
                <a:cs typeface="Times New Roman" panose="02020603050405020304" pitchFamily="18" charset="0"/>
              </a:rPr>
              <a:t>FINES</a:t>
            </a:r>
            <a:r>
              <a:rPr lang="en-IN" sz="1200" dirty="0">
                <a:latin typeface="Times New Roman" panose="02020603050405020304" pitchFamily="18" charset="0"/>
                <a:cs typeface="Times New Roman" panose="02020603050405020304" pitchFamily="18" charset="0"/>
              </a:rPr>
              <a:t> table stores fine details related to transactions. Primary keys uniquely identify records, while foreign keys maintain relationships between the tables. These relationships help the system manage books, members, circulation, and fines efficiently. </a:t>
            </a:r>
          </a:p>
          <a:p>
            <a:pPr marL="12700">
              <a:lnSpc>
                <a:spcPct val="100000"/>
              </a:lnSpc>
              <a:spcBef>
                <a:spcPts val="1375"/>
              </a:spcBef>
            </a:pPr>
            <a:r>
              <a:rPr sz="1300" b="1" dirty="0">
                <a:latin typeface="Times New Roman"/>
                <a:cs typeface="Times New Roman"/>
              </a:rPr>
              <a:t>5.3</a:t>
            </a:r>
            <a:r>
              <a:rPr sz="1300" b="1" spc="-30" dirty="0">
                <a:latin typeface="Times New Roman"/>
                <a:cs typeface="Times New Roman"/>
              </a:rPr>
              <a:t> </a:t>
            </a:r>
            <a:r>
              <a:rPr sz="1300" b="1" dirty="0">
                <a:latin typeface="Times New Roman"/>
                <a:cs typeface="Times New Roman"/>
              </a:rPr>
              <a:t>Design</a:t>
            </a:r>
            <a:r>
              <a:rPr sz="1300" b="1" spc="-30" dirty="0">
                <a:latin typeface="Times New Roman"/>
                <a:cs typeface="Times New Roman"/>
              </a:rPr>
              <a:t> </a:t>
            </a:r>
            <a:r>
              <a:rPr sz="1300" b="1" dirty="0">
                <a:latin typeface="Times New Roman"/>
                <a:cs typeface="Times New Roman"/>
              </a:rPr>
              <a:t>Decisions</a:t>
            </a:r>
            <a:r>
              <a:rPr sz="1300" b="1" spc="-30" dirty="0">
                <a:latin typeface="Times New Roman"/>
                <a:cs typeface="Times New Roman"/>
              </a:rPr>
              <a:t> </a:t>
            </a:r>
            <a:r>
              <a:rPr sz="1300" b="1" dirty="0">
                <a:latin typeface="Times New Roman"/>
                <a:cs typeface="Times New Roman"/>
              </a:rPr>
              <a:t>and</a:t>
            </a:r>
            <a:r>
              <a:rPr sz="1300" b="1" spc="-30" dirty="0">
                <a:latin typeface="Times New Roman"/>
                <a:cs typeface="Times New Roman"/>
              </a:rPr>
              <a:t> </a:t>
            </a:r>
            <a:r>
              <a:rPr sz="1300" b="1" spc="-10" dirty="0">
                <a:latin typeface="Times New Roman"/>
                <a:cs typeface="Times New Roman"/>
              </a:rPr>
              <a:t>Assumptions</a:t>
            </a:r>
            <a:endParaRPr lang="en-US" sz="1300" b="1" spc="-10" dirty="0">
              <a:latin typeface="Times New Roman"/>
              <a:cs typeface="Times New Roman"/>
            </a:endParaRPr>
          </a:p>
          <a:p>
            <a:pPr marL="12700">
              <a:lnSpc>
                <a:spcPct val="100000"/>
              </a:lnSpc>
              <a:spcBef>
                <a:spcPts val="1375"/>
              </a:spcBef>
            </a:pPr>
            <a:r>
              <a:rPr lang="en-IN" sz="1200" dirty="0">
                <a:latin typeface="Times New Roman" panose="02020603050405020304" pitchFamily="18" charset="0"/>
                <a:cs typeface="Times New Roman" panose="02020603050405020304" pitchFamily="18" charset="0"/>
              </a:rPr>
              <a:t>Two design decisions were made explicitly to keep the database structure clear and consistent with the implemented system:</a:t>
            </a:r>
            <a:endParaRPr lang="en-US" sz="1200" b="1" spc="-10" dirty="0">
              <a:latin typeface="Times New Roman" panose="02020603050405020304" pitchFamily="18" charset="0"/>
              <a:cs typeface="Times New Roman" panose="02020603050405020304" pitchFamily="18" charset="0"/>
            </a:endParaRPr>
          </a:p>
          <a:p>
            <a:pPr marL="12700">
              <a:lnSpc>
                <a:spcPct val="100000"/>
              </a:lnSpc>
              <a:spcBef>
                <a:spcPts val="1375"/>
              </a:spcBef>
            </a:pPr>
            <a:endParaRPr sz="1300" dirty="0">
              <a:latin typeface="Times New Roman"/>
              <a:cs typeface="Times New Roman"/>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2384">
              <a:lnSpc>
                <a:spcPts val="1150"/>
              </a:lnSpc>
            </a:pPr>
            <a:r>
              <a:rPr dirty="0">
                <a:solidFill>
                  <a:srgbClr val="000000"/>
                </a:solidFill>
                <a:latin typeface="Calibri Light"/>
                <a:cs typeface="Calibri Light"/>
              </a:rPr>
              <a:t>Page</a:t>
            </a:r>
            <a:r>
              <a:rPr spc="-45" dirty="0">
                <a:solidFill>
                  <a:srgbClr val="000000"/>
                </a:solidFill>
                <a:latin typeface="Calibri Light"/>
                <a:cs typeface="Calibri Light"/>
              </a:rPr>
              <a:t> </a:t>
            </a:r>
            <a:r>
              <a:rPr spc="-25" dirty="0">
                <a:solidFill>
                  <a:srgbClr val="000000"/>
                </a:solidFill>
                <a:latin typeface="Calibri Light"/>
                <a:cs typeface="Calibri Light"/>
              </a:rPr>
              <a:t>10</a:t>
            </a:r>
          </a:p>
        </p:txBody>
      </p:sp>
      <p:pic>
        <p:nvPicPr>
          <p:cNvPr id="7" name="Picture 6">
            <a:extLst>
              <a:ext uri="{FF2B5EF4-FFF2-40B4-BE49-F238E27FC236}">
                <a16:creationId xmlns:a16="http://schemas.microsoft.com/office/drawing/2014/main" id="{C2566E84-3188-A7BD-AEA3-1723A7C42835}"/>
              </a:ext>
            </a:extLst>
          </p:cNvPr>
          <p:cNvPicPr>
            <a:picLocks noChangeAspect="1"/>
          </p:cNvPicPr>
          <p:nvPr/>
        </p:nvPicPr>
        <p:blipFill>
          <a:blip r:embed="rId2"/>
          <a:stretch>
            <a:fillRect/>
          </a:stretch>
        </p:blipFill>
        <p:spPr>
          <a:xfrm>
            <a:off x="965200" y="4292416"/>
            <a:ext cx="4267200" cy="18288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23340" y="828903"/>
            <a:ext cx="5843270" cy="1671291"/>
          </a:xfrm>
          <a:prstGeom prst="rect">
            <a:avLst/>
          </a:prstGeom>
        </p:spPr>
        <p:txBody>
          <a:bodyPr vert="horz" wrap="square" lIns="0" tIns="12065" rIns="0" bIns="0" rtlCol="0">
            <a:spAutoFit/>
          </a:bodyPr>
          <a:lstStyle/>
          <a:p>
            <a:pPr marL="171450" lvl="0" indent="-171450">
              <a:buFont typeface="Arial" panose="020B0604020202020204" pitchFamily="34" charset="0"/>
              <a:buChar char="•"/>
            </a:pPr>
            <a:r>
              <a:rPr lang="en-IN" sz="1200" b="1" dirty="0">
                <a:latin typeface="Times New Roman" panose="02020603050405020304" pitchFamily="18" charset="0"/>
                <a:cs typeface="Times New Roman" panose="02020603050405020304" pitchFamily="18" charset="0"/>
              </a:rPr>
              <a:t>USERS vs. MEMBERS:</a:t>
            </a:r>
            <a:r>
              <a:rPr lang="en-IN" sz="1200" dirty="0">
                <a:latin typeface="Times New Roman" panose="02020603050405020304" pitchFamily="18" charset="0"/>
                <a:cs typeface="Times New Roman" panose="02020603050405020304" pitchFamily="18" charset="0"/>
              </a:rPr>
              <a:t> Since both tables contain information related to students, USERS is used for login, authentication, and role information, while MEMBERS stores library-specific member details. Where applicable, a user is linked to a member record through </a:t>
            </a:r>
            <a:r>
              <a:rPr lang="en-IN" sz="1200" dirty="0" err="1">
                <a:latin typeface="Times New Roman" panose="02020603050405020304" pitchFamily="18" charset="0"/>
                <a:cs typeface="Times New Roman" panose="02020603050405020304" pitchFamily="18" charset="0"/>
              </a:rPr>
              <a:t>member_id</a:t>
            </a:r>
            <a:r>
              <a:rPr lang="en-IN" sz="1200" dirty="0">
                <a:latin typeface="Times New Roman" panose="02020603050405020304" pitchFamily="18" charset="0"/>
                <a:cs typeface="Times New Roman" panose="02020603050405020304" pitchFamily="18" charset="0"/>
              </a:rPr>
              <a:t>, keeping authentication data separate from library information. </a:t>
            </a:r>
          </a:p>
          <a:p>
            <a:pPr marL="171450" lvl="0" indent="-171450">
              <a:buFont typeface="Arial" panose="020B0604020202020204" pitchFamily="34" charset="0"/>
              <a:buChar char="•"/>
            </a:pPr>
            <a:r>
              <a:rPr lang="en-IN" sz="1200" b="1" dirty="0">
                <a:latin typeface="Times New Roman" panose="02020603050405020304" pitchFamily="18" charset="0"/>
                <a:cs typeface="Times New Roman" panose="02020603050405020304" pitchFamily="18" charset="0"/>
              </a:rPr>
              <a:t>RFID Integration:</a:t>
            </a:r>
            <a:r>
              <a:rPr lang="en-IN" sz="1200" dirty="0">
                <a:latin typeface="Times New Roman" panose="02020603050405020304" pitchFamily="18" charset="0"/>
                <a:cs typeface="Times New Roman" panose="02020603050405020304" pitchFamily="18" charset="0"/>
              </a:rPr>
              <a:t> The RFID functionality is implemented as a </a:t>
            </a:r>
            <a:r>
              <a:rPr lang="en-IN" sz="1200" b="1" dirty="0">
                <a:latin typeface="Times New Roman" panose="02020603050405020304" pitchFamily="18" charset="0"/>
                <a:cs typeface="Times New Roman" panose="02020603050405020304" pitchFamily="18" charset="0"/>
              </a:rPr>
              <a:t>software RFID simulator</a:t>
            </a:r>
            <a:r>
              <a:rPr lang="en-IN" sz="1200" dirty="0">
                <a:latin typeface="Times New Roman" panose="02020603050405020304" pitchFamily="18" charset="0"/>
                <a:cs typeface="Times New Roman" panose="02020603050405020304" pitchFamily="18" charset="0"/>
              </a:rPr>
              <a:t> rather than physical RFID hardware. The RFID ID associated with a book is used during the circulation process to demonstrate book identification, while the actual issue and return records are maintained in the TRANSACTIONS table.</a:t>
            </a:r>
          </a:p>
          <a:p>
            <a:pPr marL="178435" marR="6985" indent="-166370" algn="just">
              <a:lnSpc>
                <a:spcPct val="106600"/>
              </a:lnSpc>
              <a:spcBef>
                <a:spcPts val="95"/>
              </a:spcBef>
              <a:buChar char="•"/>
              <a:tabLst>
                <a:tab pos="178435" algn="l"/>
              </a:tabLst>
            </a:pPr>
            <a:endParaRPr sz="1100" dirty="0">
              <a:latin typeface="Times New Roman"/>
              <a:cs typeface="Times New Roman"/>
            </a:endParaRPr>
          </a:p>
        </p:txBody>
      </p:sp>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32384">
              <a:lnSpc>
                <a:spcPts val="1150"/>
              </a:lnSpc>
            </a:pPr>
            <a:r>
              <a:rPr dirty="0">
                <a:solidFill>
                  <a:srgbClr val="000000"/>
                </a:solidFill>
                <a:latin typeface="Calibri Light"/>
                <a:cs typeface="Calibri Light"/>
              </a:rPr>
              <a:t>Page</a:t>
            </a:r>
            <a:r>
              <a:rPr spc="-45" dirty="0">
                <a:solidFill>
                  <a:srgbClr val="000000"/>
                </a:solidFill>
                <a:latin typeface="Calibri Light"/>
                <a:cs typeface="Calibri Light"/>
              </a:rPr>
              <a:t> </a:t>
            </a:r>
            <a:r>
              <a:rPr spc="-25" dirty="0">
                <a:solidFill>
                  <a:srgbClr val="000000"/>
                </a:solidFill>
                <a:latin typeface="Calibri Light"/>
                <a:cs typeface="Calibri Light"/>
              </a:rPr>
              <a:t>11</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98372" y="839469"/>
            <a:ext cx="5970270" cy="7630294"/>
          </a:xfrm>
          <a:prstGeom prst="rect">
            <a:avLst/>
          </a:prstGeom>
        </p:spPr>
        <p:txBody>
          <a:bodyPr vert="horz" wrap="square" lIns="0" tIns="12700" rIns="0" bIns="0" rtlCol="0">
            <a:spAutoFit/>
          </a:bodyPr>
          <a:lstStyle/>
          <a:p>
            <a:pPr algn="ctr">
              <a:lnSpc>
                <a:spcPct val="100000"/>
              </a:lnSpc>
              <a:spcBef>
                <a:spcPts val="100"/>
              </a:spcBef>
            </a:pPr>
            <a:r>
              <a:rPr sz="1500" b="1" dirty="0">
                <a:latin typeface="Times New Roman"/>
                <a:cs typeface="Times New Roman"/>
              </a:rPr>
              <a:t>CHAPTER</a:t>
            </a:r>
            <a:r>
              <a:rPr sz="1500" b="1" spc="-40" dirty="0">
                <a:latin typeface="Times New Roman"/>
                <a:cs typeface="Times New Roman"/>
              </a:rPr>
              <a:t> </a:t>
            </a:r>
            <a:r>
              <a:rPr sz="1500" b="1" dirty="0">
                <a:latin typeface="Times New Roman"/>
                <a:cs typeface="Times New Roman"/>
              </a:rPr>
              <a:t>6:</a:t>
            </a:r>
            <a:r>
              <a:rPr sz="1500" b="1" spc="-30" dirty="0">
                <a:latin typeface="Times New Roman"/>
                <a:cs typeface="Times New Roman"/>
              </a:rPr>
              <a:t> </a:t>
            </a:r>
            <a:r>
              <a:rPr sz="1500" b="1" spc="-10" dirty="0">
                <a:latin typeface="Times New Roman"/>
                <a:cs typeface="Times New Roman"/>
              </a:rPr>
              <a:t>IMPLEMENTATION</a:t>
            </a:r>
            <a:endParaRPr sz="1500" dirty="0">
              <a:latin typeface="Times New Roman"/>
              <a:cs typeface="Times New Roman"/>
            </a:endParaRPr>
          </a:p>
          <a:p>
            <a:pPr marL="259079" lvl="1" indent="-246379" algn="just">
              <a:lnSpc>
                <a:spcPct val="100000"/>
              </a:lnSpc>
              <a:spcBef>
                <a:spcPts val="1245"/>
              </a:spcBef>
              <a:buAutoNum type="arabicPeriod"/>
              <a:tabLst>
                <a:tab pos="259079" algn="l"/>
              </a:tabLst>
            </a:pPr>
            <a:r>
              <a:rPr sz="1300" b="1" spc="-10" dirty="0">
                <a:latin typeface="Times New Roman"/>
                <a:cs typeface="Times New Roman"/>
              </a:rPr>
              <a:t>Module-</a:t>
            </a:r>
            <a:r>
              <a:rPr sz="1300" b="1" dirty="0">
                <a:latin typeface="Times New Roman"/>
                <a:cs typeface="Times New Roman"/>
              </a:rPr>
              <a:t>wise</a:t>
            </a:r>
            <a:r>
              <a:rPr sz="1300" b="1" spc="30" dirty="0">
                <a:latin typeface="Times New Roman"/>
                <a:cs typeface="Times New Roman"/>
              </a:rPr>
              <a:t> </a:t>
            </a:r>
            <a:r>
              <a:rPr sz="1300" b="1" spc="-10" dirty="0">
                <a:latin typeface="Times New Roman"/>
                <a:cs typeface="Times New Roman"/>
              </a:rPr>
              <a:t>Implementation</a:t>
            </a:r>
            <a:endParaRPr lang="en-US" sz="1300" b="1" spc="-10" dirty="0">
              <a:latin typeface="Times New Roman"/>
              <a:cs typeface="Times New Roman"/>
            </a:endParaRPr>
          </a:p>
          <a:p>
            <a:pPr marL="12700" lvl="1" algn="just">
              <a:lnSpc>
                <a:spcPct val="100000"/>
              </a:lnSpc>
              <a:spcBef>
                <a:spcPts val="1245"/>
              </a:spcBef>
              <a:tabLst>
                <a:tab pos="259079" algn="l"/>
              </a:tabLst>
            </a:pPr>
            <a:r>
              <a:rPr lang="en-IN" sz="1200" dirty="0">
                <a:latin typeface="Times New Roman" panose="02020603050405020304" pitchFamily="18" charset="0"/>
                <a:cs typeface="Times New Roman" panose="02020603050405020304" pitchFamily="18" charset="0"/>
              </a:rPr>
              <a:t>The backend is organized into different modules for </a:t>
            </a:r>
            <a:r>
              <a:rPr lang="en-IN" sz="1200" b="1" dirty="0">
                <a:latin typeface="Times New Roman" panose="02020603050405020304" pitchFamily="18" charset="0"/>
                <a:cs typeface="Times New Roman" panose="02020603050405020304" pitchFamily="18" charset="0"/>
              </a:rPr>
              <a:t>Authentication, Books, Members, RFID, Transactions, Fines, Dashboard, Reports, and Inventory</a:t>
            </a:r>
            <a:r>
              <a:rPr lang="en-IN" sz="1200" dirty="0">
                <a:latin typeface="Times New Roman" panose="02020603050405020304" pitchFamily="18" charset="0"/>
                <a:cs typeface="Times New Roman" panose="02020603050405020304" pitchFamily="18" charset="0"/>
              </a:rPr>
              <a:t>. Each module contains the required routes and backend logic to handle its operations. The system processes requests such as adding books or members, issuing and returning books, identifying books through the RFID simulator, managing fines, and retrieving dashboard statistics. When a book is issued, the system creates a transaction and updates the book's status from </a:t>
            </a:r>
            <a:r>
              <a:rPr lang="en-IN" sz="1200" b="1" dirty="0">
                <a:latin typeface="Times New Roman" panose="02020603050405020304" pitchFamily="18" charset="0"/>
                <a:cs typeface="Times New Roman" panose="02020603050405020304" pitchFamily="18" charset="0"/>
              </a:rPr>
              <a:t>Available</a:t>
            </a:r>
            <a:r>
              <a:rPr lang="en-IN" sz="1200" dirty="0">
                <a:latin typeface="Times New Roman" panose="02020603050405020304" pitchFamily="18" charset="0"/>
                <a:cs typeface="Times New Roman" panose="02020603050405020304" pitchFamily="18" charset="0"/>
              </a:rPr>
              <a:t> to </a:t>
            </a:r>
            <a:r>
              <a:rPr lang="en-IN" sz="1200" b="1" dirty="0">
                <a:latin typeface="Times New Roman" panose="02020603050405020304" pitchFamily="18" charset="0"/>
                <a:cs typeface="Times New Roman" panose="02020603050405020304" pitchFamily="18" charset="0"/>
              </a:rPr>
              <a:t>Issued</a:t>
            </a:r>
            <a:r>
              <a:rPr lang="en-IN" sz="1200" dirty="0">
                <a:latin typeface="Times New Roman" panose="02020603050405020304" pitchFamily="18" charset="0"/>
                <a:cs typeface="Times New Roman" panose="02020603050405020304" pitchFamily="18" charset="0"/>
              </a:rPr>
              <a:t>. When the book is returned, the transaction is updated, the return date is recorded, the book status changes back to </a:t>
            </a:r>
            <a:r>
              <a:rPr lang="en-IN" sz="1200" b="1" dirty="0">
                <a:latin typeface="Times New Roman" panose="02020603050405020304" pitchFamily="18" charset="0"/>
                <a:cs typeface="Times New Roman" panose="02020603050405020304" pitchFamily="18" charset="0"/>
              </a:rPr>
              <a:t>Available</a:t>
            </a:r>
            <a:r>
              <a:rPr lang="en-IN" sz="1200" dirty="0">
                <a:latin typeface="Times New Roman" panose="02020603050405020304" pitchFamily="18" charset="0"/>
                <a:cs typeface="Times New Roman" panose="02020603050405020304" pitchFamily="18" charset="0"/>
              </a:rPr>
              <a:t>, and the applicable fine can be calculated or updated.</a:t>
            </a:r>
            <a:endParaRPr sz="1200" dirty="0">
              <a:latin typeface="Times New Roman" panose="02020603050405020304" pitchFamily="18" charset="0"/>
              <a:cs typeface="Times New Roman" panose="02020603050405020304" pitchFamily="18" charset="0"/>
            </a:endParaRPr>
          </a:p>
          <a:p>
            <a:pPr marL="259079" lvl="1" indent="-246379" algn="just">
              <a:lnSpc>
                <a:spcPct val="100000"/>
              </a:lnSpc>
              <a:spcBef>
                <a:spcPts val="1365"/>
              </a:spcBef>
              <a:buAutoNum type="arabicPeriod" startAt="2"/>
              <a:tabLst>
                <a:tab pos="259079" algn="l"/>
              </a:tabLst>
            </a:pPr>
            <a:r>
              <a:rPr sz="1300" b="1" spc="-10" dirty="0">
                <a:latin typeface="Times New Roman"/>
                <a:cs typeface="Times New Roman"/>
              </a:rPr>
              <a:t>Front-</a:t>
            </a:r>
            <a:r>
              <a:rPr sz="1300" b="1" dirty="0">
                <a:latin typeface="Times New Roman"/>
                <a:cs typeface="Times New Roman"/>
              </a:rPr>
              <a:t>end</a:t>
            </a:r>
            <a:r>
              <a:rPr sz="1300" b="1" spc="5" dirty="0">
                <a:latin typeface="Times New Roman"/>
                <a:cs typeface="Times New Roman"/>
              </a:rPr>
              <a:t> </a:t>
            </a:r>
            <a:r>
              <a:rPr sz="1300" b="1" spc="-20" dirty="0">
                <a:latin typeface="Times New Roman"/>
                <a:cs typeface="Times New Roman"/>
              </a:rPr>
              <a:t>Logic</a:t>
            </a:r>
            <a:endParaRPr lang="en-US" sz="1300" b="1" spc="-20" dirty="0">
              <a:latin typeface="Times New Roman"/>
              <a:cs typeface="Times New Roman"/>
            </a:endParaRPr>
          </a:p>
          <a:p>
            <a:pPr marL="12700" lvl="1" algn="just">
              <a:lnSpc>
                <a:spcPct val="100000"/>
              </a:lnSpc>
              <a:spcBef>
                <a:spcPts val="1365"/>
              </a:spcBef>
              <a:tabLst>
                <a:tab pos="259079" algn="l"/>
              </a:tabLst>
            </a:pPr>
            <a:r>
              <a:rPr lang="en-IN" sz="1200" dirty="0">
                <a:latin typeface="Times New Roman" panose="02020603050405020304" pitchFamily="18" charset="0"/>
                <a:cs typeface="Times New Roman" panose="02020603050405020304" pitchFamily="18" charset="0"/>
              </a:rPr>
              <a:t>The frontend is developed using </a:t>
            </a:r>
            <a:r>
              <a:rPr lang="en-IN" sz="1200" b="1" dirty="0">
                <a:latin typeface="Times New Roman" panose="02020603050405020304" pitchFamily="18" charset="0"/>
                <a:cs typeface="Times New Roman" panose="02020603050405020304" pitchFamily="18" charset="0"/>
              </a:rPr>
              <a:t>React.js</a:t>
            </a:r>
            <a:r>
              <a:rPr lang="en-IN" sz="1200" dirty="0">
                <a:latin typeface="Times New Roman" panose="02020603050405020304" pitchFamily="18" charset="0"/>
                <a:cs typeface="Times New Roman" panose="02020603050405020304" pitchFamily="18" charset="0"/>
              </a:rPr>
              <a:t> and contains separate pages and components for the different library operations. React state is used to manage data displayed on pages such as the dashboard, books, members, RFID scanner, issue/return, fines, inventory, and reports. The frontend communicates with the backend through REST API calls and receives data in JSON format. Reusable React components are used for common interface elements, while the application updates the displayed information dynamically when library operations are performed. This allows users to interact with the system without directly accessing the MySQL database</a:t>
            </a:r>
            <a:r>
              <a:rPr lang="en-IN" sz="1400" dirty="0">
                <a:latin typeface="Times New Roman" panose="02020603050405020304" pitchFamily="18" charset="0"/>
                <a:cs typeface="Times New Roman" panose="02020603050405020304" pitchFamily="18" charset="0"/>
              </a:rPr>
              <a:t>. </a:t>
            </a:r>
            <a:endParaRPr sz="1300" dirty="0">
              <a:latin typeface="Times New Roman" panose="02020603050405020304" pitchFamily="18" charset="0"/>
              <a:cs typeface="Times New Roman" panose="02020603050405020304" pitchFamily="18" charset="0"/>
            </a:endParaRPr>
          </a:p>
          <a:p>
            <a:pPr marL="259079" lvl="1" indent="-246379" algn="just">
              <a:lnSpc>
                <a:spcPct val="100000"/>
              </a:lnSpc>
              <a:spcBef>
                <a:spcPts val="1375"/>
              </a:spcBef>
              <a:buAutoNum type="arabicPeriod" startAt="3"/>
              <a:tabLst>
                <a:tab pos="259079" algn="l"/>
              </a:tabLst>
            </a:pPr>
            <a:r>
              <a:rPr sz="1300" b="1" dirty="0">
                <a:latin typeface="Times New Roman"/>
                <a:cs typeface="Times New Roman"/>
              </a:rPr>
              <a:t>API</a:t>
            </a:r>
            <a:r>
              <a:rPr sz="1300" b="1" spc="-30" dirty="0">
                <a:latin typeface="Times New Roman"/>
                <a:cs typeface="Times New Roman"/>
              </a:rPr>
              <a:t> </a:t>
            </a:r>
            <a:r>
              <a:rPr sz="1300" b="1" spc="-10" dirty="0">
                <a:latin typeface="Times New Roman"/>
                <a:cs typeface="Times New Roman"/>
              </a:rPr>
              <a:t>Integration</a:t>
            </a:r>
            <a:endParaRPr lang="en-US" sz="1300" b="1" spc="-10" dirty="0">
              <a:latin typeface="Times New Roman"/>
              <a:cs typeface="Times New Roman"/>
            </a:endParaRPr>
          </a:p>
          <a:p>
            <a:pPr marL="12700" lvl="1" algn="just">
              <a:lnSpc>
                <a:spcPct val="100000"/>
              </a:lnSpc>
              <a:spcBef>
                <a:spcPts val="1375"/>
              </a:spcBef>
              <a:tabLst>
                <a:tab pos="259079" algn="l"/>
              </a:tabLst>
            </a:pPr>
            <a:r>
              <a:rPr lang="en-IN" sz="1200" dirty="0">
                <a:latin typeface="Times New Roman" panose="02020603050405020304" pitchFamily="18" charset="0"/>
                <a:cs typeface="Times New Roman" panose="02020603050405020304" pitchFamily="18" charset="0"/>
              </a:rPr>
              <a:t>All HTTP requests from the React frontend are sent to the Node.js and Express.js backend through REST APIs. The APIs are used for operations such as managing books, members, RFID identification, transactions, fines, dashboard statistics, reports, and inventory. The backend processes each request, communicates with the MySQL database using mysql2, and returns the required data as a JSON response to the frontend. This keeps the API communication separate from the user interface and database operations. </a:t>
            </a:r>
            <a:endParaRPr sz="1200" dirty="0">
              <a:latin typeface="Times New Roman" panose="02020603050405020304" pitchFamily="18" charset="0"/>
              <a:cs typeface="Times New Roman" panose="02020603050405020304" pitchFamily="18" charset="0"/>
            </a:endParaRPr>
          </a:p>
          <a:p>
            <a:pPr marL="259079" lvl="1" indent="-246379" algn="just">
              <a:lnSpc>
                <a:spcPct val="100000"/>
              </a:lnSpc>
              <a:spcBef>
                <a:spcPts val="1365"/>
              </a:spcBef>
              <a:buAutoNum type="arabicPeriod" startAt="4"/>
              <a:tabLst>
                <a:tab pos="259079" algn="l"/>
              </a:tabLst>
            </a:pPr>
            <a:r>
              <a:rPr sz="1300" b="1" dirty="0">
                <a:latin typeface="Times New Roman"/>
                <a:cs typeface="Times New Roman"/>
              </a:rPr>
              <a:t>Authentication</a:t>
            </a:r>
            <a:r>
              <a:rPr sz="1300" b="1" spc="-45" dirty="0">
                <a:latin typeface="Times New Roman"/>
                <a:cs typeface="Times New Roman"/>
              </a:rPr>
              <a:t> </a:t>
            </a:r>
            <a:r>
              <a:rPr sz="1300" b="1" dirty="0">
                <a:latin typeface="Times New Roman"/>
                <a:cs typeface="Times New Roman"/>
              </a:rPr>
              <a:t>and</a:t>
            </a:r>
            <a:r>
              <a:rPr sz="1300" b="1" spc="-45" dirty="0">
                <a:latin typeface="Times New Roman"/>
                <a:cs typeface="Times New Roman"/>
              </a:rPr>
              <a:t> </a:t>
            </a:r>
            <a:r>
              <a:rPr sz="1300" b="1" spc="-10" dirty="0">
                <a:latin typeface="Times New Roman"/>
                <a:cs typeface="Times New Roman"/>
              </a:rPr>
              <a:t>Authorization</a:t>
            </a:r>
            <a:endParaRPr lang="en-US" sz="1300" b="1" spc="-10" dirty="0">
              <a:latin typeface="Times New Roman"/>
              <a:cs typeface="Times New Roman"/>
            </a:endParaRPr>
          </a:p>
          <a:p>
            <a:pPr marL="12700" lvl="1" algn="just">
              <a:lnSpc>
                <a:spcPct val="100000"/>
              </a:lnSpc>
              <a:spcBef>
                <a:spcPts val="1365"/>
              </a:spcBef>
              <a:tabLst>
                <a:tab pos="259079" algn="l"/>
              </a:tabLst>
            </a:pPr>
            <a:r>
              <a:rPr lang="en-IN" sz="1200" dirty="0">
                <a:latin typeface="Times New Roman" panose="02020603050405020304" pitchFamily="18" charset="0"/>
                <a:cs typeface="Times New Roman" panose="02020603050405020304" pitchFamily="18" charset="0"/>
              </a:rPr>
              <a:t>The system uses </a:t>
            </a:r>
            <a:r>
              <a:rPr lang="en-IN" sz="1200" b="1" dirty="0">
                <a:latin typeface="Times New Roman" panose="02020603050405020304" pitchFamily="18" charset="0"/>
                <a:cs typeface="Times New Roman" panose="02020603050405020304" pitchFamily="18" charset="0"/>
              </a:rPr>
              <a:t>JWT</a:t>
            </a:r>
            <a:r>
              <a:rPr lang="en-IN" sz="1200" dirty="0">
                <a:latin typeface="Times New Roman" panose="02020603050405020304" pitchFamily="18" charset="0"/>
                <a:cs typeface="Times New Roman" panose="02020603050405020304" pitchFamily="18" charset="0"/>
              </a:rPr>
              <a:t> for user authentication and </a:t>
            </a:r>
            <a:r>
              <a:rPr lang="en-IN" sz="1200" b="1" dirty="0" err="1">
                <a:latin typeface="Times New Roman" panose="02020603050405020304" pitchFamily="18" charset="0"/>
                <a:cs typeface="Times New Roman" panose="02020603050405020304" pitchFamily="18" charset="0"/>
              </a:rPr>
              <a:t>bcrypt</a:t>
            </a:r>
            <a:r>
              <a:rPr lang="en-IN" sz="1200" dirty="0">
                <a:latin typeface="Times New Roman" panose="02020603050405020304" pitchFamily="18" charset="0"/>
                <a:cs typeface="Times New Roman" panose="02020603050405020304" pitchFamily="18" charset="0"/>
              </a:rPr>
              <a:t> for password hashing. Users are assigned roles such as </a:t>
            </a:r>
            <a:r>
              <a:rPr lang="en-IN" sz="1200" b="1" dirty="0">
                <a:latin typeface="Times New Roman" panose="02020603050405020304" pitchFamily="18" charset="0"/>
                <a:cs typeface="Times New Roman" panose="02020603050405020304" pitchFamily="18" charset="0"/>
              </a:rPr>
              <a:t>Admin, Librarian, or Student</a:t>
            </a:r>
            <a:r>
              <a:rPr lang="en-IN" sz="1200" dirty="0">
                <a:latin typeface="Times New Roman" panose="02020603050405020304" pitchFamily="18" charset="0"/>
                <a:cs typeface="Times New Roman" panose="02020603050405020304" pitchFamily="18" charset="0"/>
              </a:rPr>
              <a:t>, and access to different operations is controlled according to these roles. Protected API routes verify the user's authentication information before allowing access, while authorization ensures that students cannot perform administrative operations. Passwords are stored as hashes rather than plain-text passwords, helping protect user credentials. </a:t>
            </a:r>
            <a:endParaRPr sz="1200" dirty="0">
              <a:latin typeface="Times New Roman" panose="02020603050405020304" pitchFamily="18" charset="0"/>
              <a:cs typeface="Times New Roman" panose="02020603050405020304" pitchFamily="18" charset="0"/>
            </a:endParaRPr>
          </a:p>
        </p:txBody>
      </p:sp>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32384">
              <a:lnSpc>
                <a:spcPts val="1150"/>
              </a:lnSpc>
            </a:pPr>
            <a:r>
              <a:rPr dirty="0">
                <a:solidFill>
                  <a:srgbClr val="000000"/>
                </a:solidFill>
                <a:latin typeface="Calibri Light"/>
                <a:cs typeface="Calibri Light"/>
              </a:rPr>
              <a:t>Page</a:t>
            </a:r>
            <a:r>
              <a:rPr spc="-45" dirty="0">
                <a:solidFill>
                  <a:srgbClr val="000000"/>
                </a:solidFill>
                <a:latin typeface="Calibri Light"/>
                <a:cs typeface="Calibri Light"/>
              </a:rPr>
              <a:t> </a:t>
            </a:r>
            <a:r>
              <a:rPr spc="-25" dirty="0">
                <a:solidFill>
                  <a:srgbClr val="000000"/>
                </a:solidFill>
                <a:latin typeface="Calibri Light"/>
                <a:cs typeface="Calibri Light"/>
              </a:rPr>
              <a:t>12</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19395" y="901040"/>
            <a:ext cx="5971540" cy="4488408"/>
          </a:xfrm>
          <a:prstGeom prst="rect">
            <a:avLst/>
          </a:prstGeom>
        </p:spPr>
        <p:txBody>
          <a:bodyPr vert="horz" wrap="square" lIns="0" tIns="12700" rIns="0" bIns="0" rtlCol="0">
            <a:spAutoFit/>
          </a:bodyPr>
          <a:lstStyle/>
          <a:p>
            <a:pPr algn="ctr">
              <a:lnSpc>
                <a:spcPct val="100000"/>
              </a:lnSpc>
              <a:spcBef>
                <a:spcPts val="100"/>
              </a:spcBef>
            </a:pPr>
            <a:r>
              <a:rPr sz="1500" b="1" dirty="0">
                <a:latin typeface="Times New Roman"/>
                <a:cs typeface="Times New Roman"/>
              </a:rPr>
              <a:t>CHAPTER</a:t>
            </a:r>
            <a:r>
              <a:rPr sz="1500" b="1" spc="-40" dirty="0">
                <a:latin typeface="Times New Roman"/>
                <a:cs typeface="Times New Roman"/>
              </a:rPr>
              <a:t> </a:t>
            </a:r>
            <a:r>
              <a:rPr sz="1500" b="1" dirty="0">
                <a:latin typeface="Times New Roman"/>
                <a:cs typeface="Times New Roman"/>
              </a:rPr>
              <a:t>7:</a:t>
            </a:r>
            <a:r>
              <a:rPr sz="1500" b="1" spc="-30" dirty="0">
                <a:latin typeface="Times New Roman"/>
                <a:cs typeface="Times New Roman"/>
              </a:rPr>
              <a:t> </a:t>
            </a:r>
            <a:r>
              <a:rPr sz="1500" b="1" spc="-10" dirty="0">
                <a:latin typeface="Times New Roman"/>
                <a:cs typeface="Times New Roman"/>
              </a:rPr>
              <a:t>FEATURES</a:t>
            </a:r>
            <a:endParaRPr sz="1500" dirty="0">
              <a:latin typeface="Times New Roman"/>
              <a:cs typeface="Times New Roman"/>
            </a:endParaRPr>
          </a:p>
          <a:p>
            <a:pPr marL="259079" lvl="1" indent="-246379" algn="just">
              <a:lnSpc>
                <a:spcPct val="100000"/>
              </a:lnSpc>
              <a:spcBef>
                <a:spcPts val="1245"/>
              </a:spcBef>
              <a:buAutoNum type="arabicPeriod"/>
              <a:tabLst>
                <a:tab pos="259079" algn="l"/>
              </a:tabLst>
            </a:pPr>
            <a:r>
              <a:rPr sz="1300" b="1" dirty="0">
                <a:latin typeface="Times New Roman"/>
                <a:cs typeface="Times New Roman"/>
              </a:rPr>
              <a:t>List</a:t>
            </a:r>
            <a:r>
              <a:rPr sz="1300" b="1" spc="-30" dirty="0">
                <a:latin typeface="Times New Roman"/>
                <a:cs typeface="Times New Roman"/>
              </a:rPr>
              <a:t> </a:t>
            </a:r>
            <a:r>
              <a:rPr sz="1300" b="1" dirty="0">
                <a:latin typeface="Times New Roman"/>
                <a:cs typeface="Times New Roman"/>
              </a:rPr>
              <a:t>of</a:t>
            </a:r>
            <a:r>
              <a:rPr sz="1300" b="1" spc="-15" dirty="0">
                <a:latin typeface="Times New Roman"/>
                <a:cs typeface="Times New Roman"/>
              </a:rPr>
              <a:t> </a:t>
            </a:r>
            <a:r>
              <a:rPr sz="1300" b="1" dirty="0">
                <a:latin typeface="Times New Roman"/>
                <a:cs typeface="Times New Roman"/>
              </a:rPr>
              <a:t>Main</a:t>
            </a:r>
            <a:r>
              <a:rPr sz="1300" b="1" spc="-15" dirty="0">
                <a:latin typeface="Times New Roman"/>
                <a:cs typeface="Times New Roman"/>
              </a:rPr>
              <a:t> </a:t>
            </a:r>
            <a:r>
              <a:rPr sz="1300" b="1" spc="-10" dirty="0">
                <a:latin typeface="Times New Roman"/>
                <a:cs typeface="Times New Roman"/>
              </a:rPr>
              <a:t>Features</a:t>
            </a:r>
            <a:endParaRPr sz="1300" dirty="0">
              <a:latin typeface="Times New Roman"/>
              <a:cs typeface="Times New Roman"/>
            </a:endParaRPr>
          </a:p>
          <a:p>
            <a:r>
              <a:rPr lang="en-IN" sz="1200" b="1" dirty="0">
                <a:latin typeface="Times New Roman" panose="02020603050405020304" pitchFamily="18" charset="0"/>
                <a:cs typeface="Times New Roman" panose="02020603050405020304" pitchFamily="18" charset="0"/>
              </a:rPr>
              <a:t>Student-facing features:</a:t>
            </a:r>
            <a:endParaRPr lang="en-IN" sz="1200" dirty="0">
              <a:latin typeface="Times New Roman" panose="02020603050405020304" pitchFamily="18" charset="0"/>
              <a:cs typeface="Times New Roman" panose="02020603050405020304" pitchFamily="18" charset="0"/>
            </a:endParaRPr>
          </a:p>
          <a:p>
            <a:pPr marL="171450" lvl="0" indent="-1714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Browse and search available books. </a:t>
            </a:r>
          </a:p>
          <a:p>
            <a:pPr marL="171450" lvl="0" indent="-1714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View book details and availability status. </a:t>
            </a:r>
          </a:p>
          <a:p>
            <a:pPr marL="171450" lvl="0" indent="-1714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View borrowed books and transaction history. </a:t>
            </a:r>
          </a:p>
          <a:p>
            <a:pPr marL="171450" lvl="0" indent="-1714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View personal fines and dues. </a:t>
            </a:r>
          </a:p>
          <a:p>
            <a:pPr marL="171450" lvl="0" indent="-1714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View personal profile information. </a:t>
            </a:r>
          </a:p>
          <a:p>
            <a:r>
              <a:rPr lang="en-IN" sz="1200" b="1" dirty="0">
                <a:latin typeface="Times New Roman" panose="02020603050405020304" pitchFamily="18" charset="0"/>
                <a:cs typeface="Times New Roman" panose="02020603050405020304" pitchFamily="18" charset="0"/>
              </a:rPr>
              <a:t>Librarian/Admin features:</a:t>
            </a:r>
            <a:endParaRPr lang="en-IN" sz="1200" dirty="0">
              <a:latin typeface="Times New Roman" panose="02020603050405020304" pitchFamily="18" charset="0"/>
              <a:cs typeface="Times New Roman" panose="02020603050405020304" pitchFamily="18" charset="0"/>
            </a:endParaRPr>
          </a:p>
          <a:p>
            <a:pPr marL="171450" lvl="0" indent="-1714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Add, edit, and manage books. </a:t>
            </a:r>
          </a:p>
          <a:p>
            <a:pPr marL="171450" lvl="0" indent="-1714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Add and manage library members. </a:t>
            </a:r>
          </a:p>
          <a:p>
            <a:pPr marL="171450" lvl="0" indent="-1714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Issue books and record transactions. </a:t>
            </a:r>
          </a:p>
          <a:p>
            <a:pPr marL="171450" lvl="0" indent="-1714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Return books and update their availability status. </a:t>
            </a:r>
          </a:p>
          <a:p>
            <a:pPr marL="171450" lvl="0" indent="-1714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Use the software RFID simulator for book identification. </a:t>
            </a:r>
          </a:p>
          <a:p>
            <a:pPr marL="171450" lvl="0" indent="-1714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Manage fines and dues. </a:t>
            </a:r>
          </a:p>
          <a:p>
            <a:pPr marL="171450" lvl="0" indent="-1714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Verify library inventory and stock. </a:t>
            </a:r>
          </a:p>
          <a:p>
            <a:pPr marL="171450" lvl="0" indent="-1714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View dashboard statistics and reports. </a:t>
            </a:r>
          </a:p>
          <a:p>
            <a:pPr marL="171450" lvl="0" indent="-1714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Manage user roles and access permissions</a:t>
            </a:r>
            <a:r>
              <a:rPr lang="en-IN" sz="1100" dirty="0"/>
              <a:t>.</a:t>
            </a:r>
          </a:p>
          <a:p>
            <a:pPr>
              <a:lnSpc>
                <a:spcPct val="100000"/>
              </a:lnSpc>
              <a:spcBef>
                <a:spcPts val="50"/>
              </a:spcBef>
            </a:pPr>
            <a:endParaRPr sz="1100" dirty="0">
              <a:latin typeface="Times New Roman"/>
              <a:cs typeface="Times New Roman"/>
            </a:endParaRPr>
          </a:p>
          <a:p>
            <a:pPr marL="12700" algn="just">
              <a:lnSpc>
                <a:spcPct val="100000"/>
              </a:lnSpc>
            </a:pPr>
            <a:r>
              <a:rPr sz="1300" b="1" dirty="0">
                <a:latin typeface="Times New Roman"/>
                <a:cs typeface="Times New Roman"/>
              </a:rPr>
              <a:t>7.2</a:t>
            </a:r>
            <a:r>
              <a:rPr sz="1300" b="1" spc="-30" dirty="0">
                <a:latin typeface="Times New Roman"/>
                <a:cs typeface="Times New Roman"/>
              </a:rPr>
              <a:t> </a:t>
            </a:r>
            <a:r>
              <a:rPr sz="1300" b="1" dirty="0">
                <a:latin typeface="Times New Roman"/>
                <a:cs typeface="Times New Roman"/>
              </a:rPr>
              <a:t>How</a:t>
            </a:r>
            <a:r>
              <a:rPr sz="1300" b="1" spc="-5" dirty="0">
                <a:latin typeface="Times New Roman"/>
                <a:cs typeface="Times New Roman"/>
              </a:rPr>
              <a:t> </a:t>
            </a:r>
            <a:r>
              <a:rPr sz="1300" b="1" dirty="0">
                <a:latin typeface="Times New Roman"/>
                <a:cs typeface="Times New Roman"/>
              </a:rPr>
              <a:t>Each</a:t>
            </a:r>
            <a:r>
              <a:rPr sz="1300" b="1" spc="-30" dirty="0">
                <a:latin typeface="Times New Roman"/>
                <a:cs typeface="Times New Roman"/>
              </a:rPr>
              <a:t> </a:t>
            </a:r>
            <a:r>
              <a:rPr sz="1300" b="1" dirty="0">
                <a:latin typeface="Times New Roman"/>
                <a:cs typeface="Times New Roman"/>
              </a:rPr>
              <a:t>Feature</a:t>
            </a:r>
            <a:r>
              <a:rPr sz="1300" b="1" spc="-30" dirty="0">
                <a:latin typeface="Times New Roman"/>
                <a:cs typeface="Times New Roman"/>
              </a:rPr>
              <a:t> </a:t>
            </a:r>
            <a:r>
              <a:rPr sz="1300" b="1" spc="-10" dirty="0">
                <a:latin typeface="Times New Roman"/>
                <a:cs typeface="Times New Roman"/>
              </a:rPr>
              <a:t>Works</a:t>
            </a:r>
            <a:endParaRPr lang="en-US" sz="1300" b="1" spc="-10" dirty="0">
              <a:latin typeface="Times New Roman"/>
              <a:cs typeface="Times New Roman"/>
            </a:endParaRPr>
          </a:p>
          <a:p>
            <a:pPr marL="12700" algn="just">
              <a:lnSpc>
                <a:spcPct val="100000"/>
              </a:lnSpc>
            </a:pPr>
            <a:r>
              <a:rPr lang="en-IN" sz="1200" b="1" dirty="0">
                <a:latin typeface="Times New Roman" panose="02020603050405020304" pitchFamily="18" charset="0"/>
                <a:cs typeface="Times New Roman" panose="02020603050405020304" pitchFamily="18" charset="0"/>
              </a:rPr>
              <a:t>Book availability checking:</a:t>
            </a:r>
            <a:r>
              <a:rPr lang="en-IN" sz="1200" dirty="0">
                <a:latin typeface="Times New Roman" panose="02020603050405020304" pitchFamily="18" charset="0"/>
                <a:cs typeface="Times New Roman" panose="02020603050405020304" pitchFamily="18" charset="0"/>
              </a:rPr>
              <a:t> The system checks the current status of each book in the database and determines whether it is </a:t>
            </a:r>
            <a:r>
              <a:rPr lang="en-IN" sz="1200" b="1" dirty="0">
                <a:latin typeface="Times New Roman" panose="02020603050405020304" pitchFamily="18" charset="0"/>
                <a:cs typeface="Times New Roman" panose="02020603050405020304" pitchFamily="18" charset="0"/>
              </a:rPr>
              <a:t>Available</a:t>
            </a:r>
            <a:r>
              <a:rPr lang="en-IN" sz="1200" dirty="0">
                <a:latin typeface="Times New Roman" panose="02020603050405020304" pitchFamily="18" charset="0"/>
                <a:cs typeface="Times New Roman" panose="02020603050405020304" pitchFamily="18" charset="0"/>
              </a:rPr>
              <a:t> or </a:t>
            </a:r>
            <a:r>
              <a:rPr lang="en-IN" sz="1200" b="1" dirty="0">
                <a:latin typeface="Times New Roman" panose="02020603050405020304" pitchFamily="18" charset="0"/>
                <a:cs typeface="Times New Roman" panose="02020603050405020304" pitchFamily="18" charset="0"/>
              </a:rPr>
              <a:t>Issued</a:t>
            </a:r>
            <a:r>
              <a:rPr lang="en-IN" sz="1200" dirty="0">
                <a:latin typeface="Times New Roman" panose="02020603050405020304" pitchFamily="18" charset="0"/>
                <a:cs typeface="Times New Roman" panose="02020603050405020304" pitchFamily="18" charset="0"/>
              </a:rPr>
              <a:t>. The availability information is retrieved from MySQL and displayed through the React frontend.</a:t>
            </a:r>
            <a:endParaRPr sz="1200" dirty="0">
              <a:latin typeface="Times New Roman" panose="02020603050405020304" pitchFamily="18" charset="0"/>
              <a:cs typeface="Times New Roman" panose="02020603050405020304" pitchFamily="18" charset="0"/>
            </a:endParaRPr>
          </a:p>
        </p:txBody>
      </p:sp>
      <p:sp>
        <p:nvSpPr>
          <p:cNvPr id="3" name="object 3"/>
          <p:cNvSpPr txBox="1"/>
          <p:nvPr/>
        </p:nvSpPr>
        <p:spPr>
          <a:xfrm>
            <a:off x="796848" y="9366910"/>
            <a:ext cx="5965825" cy="431800"/>
          </a:xfrm>
          <a:prstGeom prst="rect">
            <a:avLst/>
          </a:prstGeom>
        </p:spPr>
        <p:txBody>
          <a:bodyPr vert="horz" wrap="square" lIns="0" tIns="12700" rIns="0" bIns="0" rtlCol="0">
            <a:spAutoFit/>
          </a:bodyPr>
          <a:lstStyle/>
          <a:p>
            <a:pPr marL="12700" marR="5080">
              <a:lnSpc>
                <a:spcPct val="111000"/>
              </a:lnSpc>
              <a:spcBef>
                <a:spcPts val="100"/>
              </a:spcBef>
            </a:pPr>
            <a:r>
              <a:rPr sz="1200" dirty="0">
                <a:latin typeface="Times New Roman"/>
                <a:cs typeface="Times New Roman"/>
              </a:rPr>
              <a:t>Occupancy</a:t>
            </a:r>
            <a:r>
              <a:rPr sz="1200" spc="-10" dirty="0">
                <a:latin typeface="Times New Roman"/>
                <a:cs typeface="Times New Roman"/>
              </a:rPr>
              <a:t> </a:t>
            </a:r>
            <a:r>
              <a:rPr sz="1200" dirty="0">
                <a:latin typeface="Times New Roman"/>
                <a:cs typeface="Times New Roman"/>
              </a:rPr>
              <a:t>percentage</a:t>
            </a:r>
            <a:r>
              <a:rPr sz="1200" spc="5" dirty="0">
                <a:latin typeface="Times New Roman"/>
                <a:cs typeface="Times New Roman"/>
              </a:rPr>
              <a:t> </a:t>
            </a:r>
            <a:r>
              <a:rPr sz="1200" dirty="0">
                <a:latin typeface="Times New Roman"/>
                <a:cs typeface="Times New Roman"/>
              </a:rPr>
              <a:t>calculation:</a:t>
            </a:r>
            <a:r>
              <a:rPr sz="1200" spc="15" dirty="0">
                <a:latin typeface="Times New Roman"/>
                <a:cs typeface="Times New Roman"/>
              </a:rPr>
              <a:t> </a:t>
            </a:r>
            <a:r>
              <a:rPr sz="1200" dirty="0">
                <a:latin typeface="Times New Roman"/>
                <a:cs typeface="Times New Roman"/>
              </a:rPr>
              <a:t>once</a:t>
            </a:r>
            <a:r>
              <a:rPr sz="1200" spc="10" dirty="0">
                <a:latin typeface="Times New Roman"/>
                <a:cs typeface="Times New Roman"/>
              </a:rPr>
              <a:t> </a:t>
            </a:r>
            <a:r>
              <a:rPr sz="1200" dirty="0">
                <a:latin typeface="Times New Roman"/>
                <a:cs typeface="Times New Roman"/>
              </a:rPr>
              <a:t>an</a:t>
            </a:r>
            <a:r>
              <a:rPr sz="1200" spc="20" dirty="0">
                <a:latin typeface="Times New Roman"/>
                <a:cs typeface="Times New Roman"/>
              </a:rPr>
              <a:t> </a:t>
            </a:r>
            <a:r>
              <a:rPr sz="1200" dirty="0">
                <a:latin typeface="Times New Roman"/>
                <a:cs typeface="Times New Roman"/>
              </a:rPr>
              <a:t>admin</a:t>
            </a:r>
            <a:r>
              <a:rPr sz="1200" spc="15" dirty="0">
                <a:latin typeface="Times New Roman"/>
                <a:cs typeface="Times New Roman"/>
              </a:rPr>
              <a:t> </a:t>
            </a:r>
            <a:r>
              <a:rPr sz="1200" dirty="0">
                <a:latin typeface="Times New Roman"/>
                <a:cs typeface="Times New Roman"/>
              </a:rPr>
              <a:t>records</a:t>
            </a:r>
            <a:r>
              <a:rPr sz="1200" spc="1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actual</a:t>
            </a:r>
            <a:r>
              <a:rPr sz="1200" spc="15" dirty="0">
                <a:latin typeface="Times New Roman"/>
                <a:cs typeface="Times New Roman"/>
              </a:rPr>
              <a:t> </a:t>
            </a:r>
            <a:r>
              <a:rPr sz="1200" dirty="0">
                <a:latin typeface="Times New Roman"/>
                <a:cs typeface="Times New Roman"/>
              </a:rPr>
              <a:t>headcount</a:t>
            </a:r>
            <a:r>
              <a:rPr sz="1200" spc="15" dirty="0">
                <a:latin typeface="Times New Roman"/>
                <a:cs typeface="Times New Roman"/>
              </a:rPr>
              <a:t> </a:t>
            </a:r>
            <a:r>
              <a:rPr sz="1200" dirty="0">
                <a:latin typeface="Times New Roman"/>
                <a:cs typeface="Times New Roman"/>
              </a:rPr>
              <a:t>for</a:t>
            </a:r>
            <a:r>
              <a:rPr sz="1200" spc="5" dirty="0">
                <a:latin typeface="Times New Roman"/>
                <a:cs typeface="Times New Roman"/>
              </a:rPr>
              <a:t> </a:t>
            </a:r>
            <a:r>
              <a:rPr sz="1200" dirty="0">
                <a:latin typeface="Times New Roman"/>
                <a:cs typeface="Times New Roman"/>
              </a:rPr>
              <a:t>an</a:t>
            </a:r>
            <a:r>
              <a:rPr sz="1200" spc="20" dirty="0">
                <a:latin typeface="Times New Roman"/>
                <a:cs typeface="Times New Roman"/>
              </a:rPr>
              <a:t> </a:t>
            </a:r>
            <a:r>
              <a:rPr sz="1200" dirty="0">
                <a:latin typeface="Times New Roman"/>
                <a:cs typeface="Times New Roman"/>
              </a:rPr>
              <a:t>event,</a:t>
            </a:r>
            <a:r>
              <a:rPr sz="1200" spc="15" dirty="0">
                <a:latin typeface="Times New Roman"/>
                <a:cs typeface="Times New Roman"/>
              </a:rPr>
              <a:t> </a:t>
            </a:r>
            <a:r>
              <a:rPr sz="1200" spc="-25" dirty="0">
                <a:latin typeface="Times New Roman"/>
                <a:cs typeface="Times New Roman"/>
              </a:rPr>
              <a:t>the </a:t>
            </a:r>
            <a:r>
              <a:rPr sz="1200" dirty="0">
                <a:latin typeface="Times New Roman"/>
                <a:cs typeface="Times New Roman"/>
              </a:rPr>
              <a:t>system</a:t>
            </a:r>
            <a:r>
              <a:rPr sz="1200" spc="60" dirty="0">
                <a:latin typeface="Times New Roman"/>
                <a:cs typeface="Times New Roman"/>
              </a:rPr>
              <a:t> </a:t>
            </a:r>
            <a:r>
              <a:rPr sz="1200" dirty="0">
                <a:latin typeface="Times New Roman"/>
                <a:cs typeface="Times New Roman"/>
              </a:rPr>
              <a:t>computes</a:t>
            </a:r>
            <a:r>
              <a:rPr sz="1200" spc="65" dirty="0">
                <a:latin typeface="Times New Roman"/>
                <a:cs typeface="Times New Roman"/>
              </a:rPr>
              <a:t> </a:t>
            </a:r>
            <a:r>
              <a:rPr sz="1200" dirty="0">
                <a:latin typeface="Times New Roman"/>
                <a:cs typeface="Times New Roman"/>
              </a:rPr>
              <a:t>(actual_occupancy</a:t>
            </a:r>
            <a:r>
              <a:rPr sz="1200" spc="30" dirty="0">
                <a:latin typeface="Times New Roman"/>
                <a:cs typeface="Times New Roman"/>
              </a:rPr>
              <a:t> </a:t>
            </a:r>
            <a:r>
              <a:rPr sz="1200" dirty="0">
                <a:latin typeface="Times New Roman"/>
                <a:cs typeface="Times New Roman"/>
              </a:rPr>
              <a:t>÷</a:t>
            </a:r>
            <a:r>
              <a:rPr sz="1200" spc="60" dirty="0">
                <a:latin typeface="Times New Roman"/>
                <a:cs typeface="Times New Roman"/>
              </a:rPr>
              <a:t> </a:t>
            </a:r>
            <a:r>
              <a:rPr sz="1200" dirty="0">
                <a:latin typeface="Times New Roman"/>
                <a:cs typeface="Times New Roman"/>
              </a:rPr>
              <a:t>room_capacity)</a:t>
            </a:r>
            <a:r>
              <a:rPr sz="1200" spc="70" dirty="0">
                <a:latin typeface="Times New Roman"/>
                <a:cs typeface="Times New Roman"/>
              </a:rPr>
              <a:t> </a:t>
            </a:r>
            <a:r>
              <a:rPr sz="1200" dirty="0">
                <a:latin typeface="Times New Roman"/>
                <a:cs typeface="Times New Roman"/>
              </a:rPr>
              <a:t>×</a:t>
            </a:r>
            <a:r>
              <a:rPr sz="1200" spc="60" dirty="0">
                <a:latin typeface="Times New Roman"/>
                <a:cs typeface="Times New Roman"/>
              </a:rPr>
              <a:t> </a:t>
            </a:r>
            <a:r>
              <a:rPr sz="1200" dirty="0">
                <a:latin typeface="Times New Roman"/>
                <a:cs typeface="Times New Roman"/>
              </a:rPr>
              <a:t>100</a:t>
            </a:r>
            <a:r>
              <a:rPr sz="1200" spc="60" dirty="0">
                <a:latin typeface="Times New Roman"/>
                <a:cs typeface="Times New Roman"/>
              </a:rPr>
              <a:t> </a:t>
            </a:r>
            <a:r>
              <a:rPr sz="1200" dirty="0">
                <a:latin typeface="Times New Roman"/>
                <a:cs typeface="Times New Roman"/>
              </a:rPr>
              <a:t>and</a:t>
            </a:r>
            <a:r>
              <a:rPr sz="1200" spc="60" dirty="0">
                <a:latin typeface="Times New Roman"/>
                <a:cs typeface="Times New Roman"/>
              </a:rPr>
              <a:t> </a:t>
            </a:r>
            <a:r>
              <a:rPr sz="1200" dirty="0">
                <a:latin typeface="Times New Roman"/>
                <a:cs typeface="Times New Roman"/>
              </a:rPr>
              <a:t>buckets</a:t>
            </a:r>
            <a:r>
              <a:rPr sz="1200" spc="65" dirty="0">
                <a:latin typeface="Times New Roman"/>
                <a:cs typeface="Times New Roman"/>
              </a:rPr>
              <a:t> </a:t>
            </a:r>
            <a:r>
              <a:rPr sz="1200" dirty="0">
                <a:latin typeface="Times New Roman"/>
                <a:cs typeface="Times New Roman"/>
              </a:rPr>
              <a:t>the</a:t>
            </a:r>
            <a:r>
              <a:rPr sz="1200" spc="60" dirty="0">
                <a:latin typeface="Times New Roman"/>
                <a:cs typeface="Times New Roman"/>
              </a:rPr>
              <a:t> </a:t>
            </a:r>
            <a:r>
              <a:rPr sz="1200" dirty="0">
                <a:latin typeface="Times New Roman"/>
                <a:cs typeface="Times New Roman"/>
              </a:rPr>
              <a:t>result</a:t>
            </a:r>
            <a:r>
              <a:rPr sz="1200" spc="60" dirty="0">
                <a:latin typeface="Times New Roman"/>
                <a:cs typeface="Times New Roman"/>
              </a:rPr>
              <a:t> </a:t>
            </a:r>
            <a:r>
              <a:rPr sz="1200" dirty="0">
                <a:latin typeface="Times New Roman"/>
                <a:cs typeface="Times New Roman"/>
              </a:rPr>
              <a:t>into</a:t>
            </a:r>
            <a:r>
              <a:rPr sz="1200" spc="55" dirty="0">
                <a:latin typeface="Times New Roman"/>
                <a:cs typeface="Times New Roman"/>
              </a:rPr>
              <a:t> </a:t>
            </a:r>
            <a:r>
              <a:rPr sz="1200" dirty="0">
                <a:latin typeface="Times New Roman"/>
                <a:cs typeface="Times New Roman"/>
              </a:rPr>
              <a:t>one</a:t>
            </a:r>
            <a:r>
              <a:rPr sz="1200" spc="55" dirty="0">
                <a:latin typeface="Times New Roman"/>
                <a:cs typeface="Times New Roman"/>
              </a:rPr>
              <a:t> </a:t>
            </a:r>
            <a:r>
              <a:rPr sz="1200" spc="-25" dirty="0">
                <a:latin typeface="Times New Roman"/>
                <a:cs typeface="Times New Roman"/>
              </a:rPr>
              <a:t>of</a:t>
            </a:r>
            <a:endParaRPr sz="1200">
              <a:latin typeface="Times New Roman"/>
              <a:cs typeface="Times New Roman"/>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2384">
              <a:lnSpc>
                <a:spcPts val="1150"/>
              </a:lnSpc>
            </a:pPr>
            <a:r>
              <a:rPr dirty="0">
                <a:solidFill>
                  <a:srgbClr val="000000"/>
                </a:solidFill>
                <a:latin typeface="Calibri Light"/>
                <a:cs typeface="Calibri Light"/>
              </a:rPr>
              <a:t>Page</a:t>
            </a:r>
            <a:r>
              <a:rPr spc="-45" dirty="0">
                <a:solidFill>
                  <a:srgbClr val="000000"/>
                </a:solidFill>
                <a:latin typeface="Calibri Light"/>
                <a:cs typeface="Calibri Light"/>
              </a:rPr>
              <a:t> </a:t>
            </a:r>
            <a:r>
              <a:rPr spc="-25" dirty="0">
                <a:solidFill>
                  <a:srgbClr val="000000"/>
                </a:solidFill>
                <a:latin typeface="Calibri Light"/>
                <a:cs typeface="Calibri Light"/>
              </a:rPr>
              <a:t>13</a:t>
            </a:r>
          </a:p>
        </p:txBody>
      </p:sp>
      <p:pic>
        <p:nvPicPr>
          <p:cNvPr id="7" name="Picture 6">
            <a:extLst>
              <a:ext uri="{FF2B5EF4-FFF2-40B4-BE49-F238E27FC236}">
                <a16:creationId xmlns:a16="http://schemas.microsoft.com/office/drawing/2014/main" id="{E5136797-29C4-83D5-4454-D90327D804BD}"/>
              </a:ext>
            </a:extLst>
          </p:cNvPr>
          <p:cNvPicPr>
            <a:picLocks noChangeAspect="1"/>
          </p:cNvPicPr>
          <p:nvPr/>
        </p:nvPicPr>
        <p:blipFill>
          <a:blip r:embed="rId2"/>
          <a:stretch>
            <a:fillRect/>
          </a:stretch>
        </p:blipFill>
        <p:spPr>
          <a:xfrm>
            <a:off x="736600" y="5578475"/>
            <a:ext cx="5880657" cy="2590801"/>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96848" y="294433"/>
            <a:ext cx="5969000" cy="751488"/>
          </a:xfrm>
          <a:prstGeom prst="rect">
            <a:avLst/>
          </a:prstGeom>
        </p:spPr>
        <p:txBody>
          <a:bodyPr vert="horz" wrap="square" lIns="0" tIns="12700" rIns="0" bIns="0" rtlCol="0">
            <a:spAutoFit/>
          </a:bodyPr>
          <a:lstStyle/>
          <a:p>
            <a:pPr marL="12700" marR="5080">
              <a:lnSpc>
                <a:spcPct val="100000"/>
              </a:lnSpc>
              <a:spcBef>
                <a:spcPts val="100"/>
              </a:spcBef>
            </a:pPr>
            <a:r>
              <a:rPr lang="en-IN" sz="1200" b="1" dirty="0">
                <a:latin typeface="Times New Roman" panose="02020603050405020304" pitchFamily="18" charset="0"/>
                <a:cs typeface="Times New Roman" panose="02020603050405020304" pitchFamily="18" charset="0"/>
              </a:rPr>
              <a:t>Fine calculation:</a:t>
            </a:r>
            <a:r>
              <a:rPr lang="en-IN" sz="1200" dirty="0">
                <a:latin typeface="Times New Roman" panose="02020603050405020304" pitchFamily="18" charset="0"/>
                <a:cs typeface="Times New Roman" panose="02020603050405020304" pitchFamily="18" charset="0"/>
              </a:rPr>
              <a:t> The system checks the due date and return date of a transaction to determine whether a book is overdue. If the book is returned after the due date, the applicable fine amount is calculated and recorded in the fines table. The fine status and amount can then be displayed to the authorized user.</a:t>
            </a:r>
            <a:r>
              <a:rPr sz="1200" spc="-20" dirty="0">
                <a:latin typeface="Times New Roman" panose="02020603050405020304" pitchFamily="18" charset="0"/>
                <a:cs typeface="Times New Roman" panose="02020603050405020304" pitchFamily="18" charset="0"/>
              </a:rPr>
              <a:t>.</a:t>
            </a:r>
            <a:endParaRPr sz="1200" dirty="0">
              <a:latin typeface="Times New Roman" panose="02020603050405020304" pitchFamily="18" charset="0"/>
              <a:cs typeface="Times New Roman" panose="02020603050405020304" pitchFamily="18" charset="0"/>
            </a:endParaRPr>
          </a:p>
        </p:txBody>
      </p:sp>
      <p:sp>
        <p:nvSpPr>
          <p:cNvPr id="3" name="object 3"/>
          <p:cNvSpPr txBox="1"/>
          <p:nvPr/>
        </p:nvSpPr>
        <p:spPr>
          <a:xfrm>
            <a:off x="584200" y="3926125"/>
            <a:ext cx="5970270" cy="568104"/>
          </a:xfrm>
          <a:prstGeom prst="rect">
            <a:avLst/>
          </a:prstGeom>
        </p:spPr>
        <p:txBody>
          <a:bodyPr vert="horz" wrap="square" lIns="0" tIns="13970" rIns="0" bIns="0" rtlCol="0">
            <a:spAutoFit/>
          </a:bodyPr>
          <a:lstStyle/>
          <a:p>
            <a:pPr marL="12700" marR="5080" algn="just">
              <a:lnSpc>
                <a:spcPct val="100000"/>
              </a:lnSpc>
              <a:spcBef>
                <a:spcPts val="110"/>
              </a:spcBef>
            </a:pPr>
            <a:r>
              <a:rPr lang="en-IN" sz="1200" b="1" dirty="0">
                <a:latin typeface="Times New Roman" panose="02020603050405020304" pitchFamily="18" charset="0"/>
                <a:cs typeface="Times New Roman" panose="02020603050405020304" pitchFamily="18" charset="0"/>
              </a:rPr>
              <a:t>Dashboard statistics:</a:t>
            </a:r>
            <a:r>
              <a:rPr lang="en-IN" sz="1200" dirty="0">
                <a:latin typeface="Times New Roman" panose="02020603050405020304" pitchFamily="18" charset="0"/>
                <a:cs typeface="Times New Roman" panose="02020603050405020304" pitchFamily="18" charset="0"/>
              </a:rPr>
              <a:t> The dashboard dynamically retrieves library statistics from MySQL, such as total books, available books, issued books, total members, overdue books, and total fine dues. These values are updated based on the current database records rather than being hardcoded. </a:t>
            </a:r>
            <a:endParaRPr sz="1200" dirty="0">
              <a:latin typeface="Times New Roman" panose="02020603050405020304" pitchFamily="18" charset="0"/>
              <a:cs typeface="Times New Roman" panose="02020603050405020304" pitchFamily="18" charset="0"/>
            </a:endParaRP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2384">
              <a:lnSpc>
                <a:spcPts val="1150"/>
              </a:lnSpc>
            </a:pPr>
            <a:r>
              <a:rPr dirty="0">
                <a:solidFill>
                  <a:srgbClr val="000000"/>
                </a:solidFill>
                <a:latin typeface="Calibri Light"/>
                <a:cs typeface="Calibri Light"/>
              </a:rPr>
              <a:t>Page</a:t>
            </a:r>
            <a:r>
              <a:rPr spc="-45" dirty="0">
                <a:solidFill>
                  <a:srgbClr val="000000"/>
                </a:solidFill>
                <a:latin typeface="Calibri Light"/>
                <a:cs typeface="Calibri Light"/>
              </a:rPr>
              <a:t> </a:t>
            </a:r>
            <a:r>
              <a:rPr spc="-25" dirty="0">
                <a:solidFill>
                  <a:srgbClr val="000000"/>
                </a:solidFill>
                <a:latin typeface="Calibri Light"/>
                <a:cs typeface="Calibri Light"/>
              </a:rPr>
              <a:t>14</a:t>
            </a:r>
          </a:p>
        </p:txBody>
      </p:sp>
      <p:pic>
        <p:nvPicPr>
          <p:cNvPr id="8" name="Picture 7">
            <a:extLst>
              <a:ext uri="{FF2B5EF4-FFF2-40B4-BE49-F238E27FC236}">
                <a16:creationId xmlns:a16="http://schemas.microsoft.com/office/drawing/2014/main" id="{6BB77491-45C4-92A2-6C5D-410AAF2A99BA}"/>
              </a:ext>
            </a:extLst>
          </p:cNvPr>
          <p:cNvPicPr>
            <a:picLocks noChangeAspect="1"/>
          </p:cNvPicPr>
          <p:nvPr/>
        </p:nvPicPr>
        <p:blipFill>
          <a:blip r:embed="rId2"/>
          <a:stretch>
            <a:fillRect/>
          </a:stretch>
        </p:blipFill>
        <p:spPr>
          <a:xfrm>
            <a:off x="424047" y="1172594"/>
            <a:ext cx="6781800" cy="2506555"/>
          </a:xfrm>
          <a:prstGeom prst="rect">
            <a:avLst/>
          </a:prstGeom>
        </p:spPr>
      </p:pic>
      <p:pic>
        <p:nvPicPr>
          <p:cNvPr id="10" name="Picture 9">
            <a:extLst>
              <a:ext uri="{FF2B5EF4-FFF2-40B4-BE49-F238E27FC236}">
                <a16:creationId xmlns:a16="http://schemas.microsoft.com/office/drawing/2014/main" id="{8F10ECF9-34C7-CE8A-653F-8B0B185C9814}"/>
              </a:ext>
            </a:extLst>
          </p:cNvPr>
          <p:cNvPicPr>
            <a:picLocks noChangeAspect="1"/>
          </p:cNvPicPr>
          <p:nvPr/>
        </p:nvPicPr>
        <p:blipFill>
          <a:blip r:embed="rId3"/>
          <a:stretch>
            <a:fillRect/>
          </a:stretch>
        </p:blipFill>
        <p:spPr>
          <a:xfrm>
            <a:off x="424047" y="4892675"/>
            <a:ext cx="6484753" cy="3407337"/>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97892" y="956821"/>
            <a:ext cx="5969000" cy="4978286"/>
          </a:xfrm>
          <a:prstGeom prst="rect">
            <a:avLst/>
          </a:prstGeom>
        </p:spPr>
        <p:txBody>
          <a:bodyPr vert="horz" wrap="square" lIns="0" tIns="12700" rIns="0" bIns="0" rtlCol="0">
            <a:spAutoFit/>
          </a:bodyPr>
          <a:lstStyle/>
          <a:p>
            <a:pPr algn="ctr">
              <a:lnSpc>
                <a:spcPct val="100000"/>
              </a:lnSpc>
              <a:spcBef>
                <a:spcPts val="100"/>
              </a:spcBef>
            </a:pPr>
            <a:r>
              <a:rPr sz="1500" b="1" dirty="0">
                <a:latin typeface="Times New Roman"/>
                <a:cs typeface="Times New Roman"/>
              </a:rPr>
              <a:t>CHAPTER</a:t>
            </a:r>
            <a:r>
              <a:rPr sz="1500" b="1" spc="-40" dirty="0">
                <a:latin typeface="Times New Roman"/>
                <a:cs typeface="Times New Roman"/>
              </a:rPr>
              <a:t> </a:t>
            </a:r>
            <a:r>
              <a:rPr sz="1500" b="1" dirty="0">
                <a:latin typeface="Times New Roman"/>
                <a:cs typeface="Times New Roman"/>
              </a:rPr>
              <a:t>8:</a:t>
            </a:r>
            <a:r>
              <a:rPr sz="1500" b="1" spc="-30" dirty="0">
                <a:latin typeface="Times New Roman"/>
                <a:cs typeface="Times New Roman"/>
              </a:rPr>
              <a:t> </a:t>
            </a:r>
            <a:r>
              <a:rPr sz="1500" b="1" spc="-10" dirty="0">
                <a:latin typeface="Times New Roman"/>
                <a:cs typeface="Times New Roman"/>
              </a:rPr>
              <a:t>TESTING</a:t>
            </a:r>
            <a:endParaRPr sz="1500" dirty="0">
              <a:latin typeface="Times New Roman"/>
              <a:cs typeface="Times New Roman"/>
            </a:endParaRPr>
          </a:p>
          <a:p>
            <a:pPr marL="259079" lvl="1" indent="-246379" algn="just">
              <a:lnSpc>
                <a:spcPct val="100000"/>
              </a:lnSpc>
              <a:spcBef>
                <a:spcPts val="1245"/>
              </a:spcBef>
              <a:buAutoNum type="arabicPeriod"/>
              <a:tabLst>
                <a:tab pos="259079" algn="l"/>
              </a:tabLst>
            </a:pPr>
            <a:r>
              <a:rPr sz="1300" b="1" dirty="0">
                <a:latin typeface="Times New Roman"/>
                <a:cs typeface="Times New Roman"/>
              </a:rPr>
              <a:t>Postman</a:t>
            </a:r>
            <a:r>
              <a:rPr sz="1300" b="1" spc="-35" dirty="0">
                <a:latin typeface="Times New Roman"/>
                <a:cs typeface="Times New Roman"/>
              </a:rPr>
              <a:t> </a:t>
            </a:r>
            <a:r>
              <a:rPr sz="1300" b="1" dirty="0">
                <a:latin typeface="Times New Roman"/>
                <a:cs typeface="Times New Roman"/>
              </a:rPr>
              <a:t>API</a:t>
            </a:r>
            <a:r>
              <a:rPr sz="1300" b="1" spc="-30" dirty="0">
                <a:latin typeface="Times New Roman"/>
                <a:cs typeface="Times New Roman"/>
              </a:rPr>
              <a:t> </a:t>
            </a:r>
            <a:r>
              <a:rPr sz="1300" b="1" spc="-10" dirty="0">
                <a:latin typeface="Times New Roman"/>
                <a:cs typeface="Times New Roman"/>
              </a:rPr>
              <a:t>Testing</a:t>
            </a:r>
            <a:endParaRPr lang="en-US" sz="1300" b="1" spc="-10" dirty="0">
              <a:latin typeface="Times New Roman"/>
              <a:cs typeface="Times New Roman"/>
            </a:endParaRPr>
          </a:p>
          <a:p>
            <a:pPr marL="12700" lvl="1" algn="just">
              <a:lnSpc>
                <a:spcPct val="100000"/>
              </a:lnSpc>
              <a:spcBef>
                <a:spcPts val="1245"/>
              </a:spcBef>
              <a:tabLst>
                <a:tab pos="259079" algn="l"/>
              </a:tabLst>
            </a:pPr>
            <a:r>
              <a:rPr lang="en-IN" sz="1200" dirty="0">
                <a:latin typeface="Times New Roman" panose="02020603050405020304" pitchFamily="18" charset="0"/>
                <a:cs typeface="Times New Roman" panose="02020603050405020304" pitchFamily="18" charset="0"/>
              </a:rPr>
              <a:t>A Postman collection was used to test the REST APIs of the </a:t>
            </a:r>
            <a:r>
              <a:rPr lang="en-IN" sz="1200" b="1" dirty="0">
                <a:latin typeface="Times New Roman" panose="02020603050405020304" pitchFamily="18" charset="0"/>
                <a:cs typeface="Times New Roman" panose="02020603050405020304" pitchFamily="18" charset="0"/>
              </a:rPr>
              <a:t>Library Management System with RFID Integration</a:t>
            </a:r>
            <a:r>
              <a:rPr lang="en-IN" sz="1200" dirty="0">
                <a:latin typeface="Times New Roman" panose="02020603050405020304" pitchFamily="18" charset="0"/>
                <a:cs typeface="Times New Roman" panose="02020603050405020304" pitchFamily="18" charset="0"/>
              </a:rPr>
              <a:t>. The APIs for authentication, books, members, RFID, transactions, fines, dashboard, reports, and inventory were tested to verify that requests are processed correctly and the expected responses are returned.</a:t>
            </a:r>
            <a:endParaRPr sz="1200" dirty="0">
              <a:latin typeface="Times New Roman" panose="02020603050405020304" pitchFamily="18" charset="0"/>
              <a:cs typeface="Times New Roman" panose="02020603050405020304" pitchFamily="18" charset="0"/>
            </a:endParaRPr>
          </a:p>
          <a:p>
            <a:pPr marL="259079" lvl="1" indent="-246379" algn="just">
              <a:lnSpc>
                <a:spcPct val="100000"/>
              </a:lnSpc>
              <a:spcBef>
                <a:spcPts val="1375"/>
              </a:spcBef>
              <a:buAutoNum type="arabicPeriod" startAt="2"/>
              <a:tabLst>
                <a:tab pos="259079" algn="l"/>
              </a:tabLst>
            </a:pPr>
            <a:r>
              <a:rPr sz="1300" b="1" dirty="0">
                <a:latin typeface="Times New Roman"/>
                <a:cs typeface="Times New Roman"/>
              </a:rPr>
              <a:t>Integration</a:t>
            </a:r>
            <a:r>
              <a:rPr sz="1300" b="1" spc="-60" dirty="0">
                <a:latin typeface="Times New Roman"/>
                <a:cs typeface="Times New Roman"/>
              </a:rPr>
              <a:t> </a:t>
            </a:r>
            <a:r>
              <a:rPr sz="1300" b="1" spc="-10" dirty="0">
                <a:latin typeface="Times New Roman"/>
                <a:cs typeface="Times New Roman"/>
              </a:rPr>
              <a:t>Testing</a:t>
            </a:r>
            <a:endParaRPr sz="1300" dirty="0">
              <a:latin typeface="Times New Roman"/>
              <a:cs typeface="Times New Roman"/>
            </a:endParaRPr>
          </a:p>
          <a:p>
            <a:pPr marL="12700" marR="5715" algn="just">
              <a:lnSpc>
                <a:spcPct val="100000"/>
              </a:lnSpc>
              <a:spcBef>
                <a:spcPts val="459"/>
              </a:spcBef>
            </a:pPr>
            <a:r>
              <a:rPr lang="en-IN" sz="1200" dirty="0">
                <a:latin typeface="Times New Roman" panose="02020603050405020304" pitchFamily="18" charset="0"/>
                <a:cs typeface="Times New Roman" panose="02020603050405020304" pitchFamily="18" charset="0"/>
              </a:rPr>
              <a:t>The system was tested end-to-end using the React frontend, Node.js and Express.js backend, and a running MySQL database. Each major module was verified to ensure that data entered through the frontend is correctly processed by the backend and stored or retrieved from MySQL. Operations such as adding books and members, issuing and returning books, managing fines, and retrieving dashboard information were checked to ensure that the complete </a:t>
            </a:r>
            <a:r>
              <a:rPr lang="en-IN" sz="1200" b="1" dirty="0">
                <a:latin typeface="Times New Roman" panose="02020603050405020304" pitchFamily="18" charset="0"/>
                <a:cs typeface="Times New Roman" panose="02020603050405020304" pitchFamily="18" charset="0"/>
              </a:rPr>
              <a:t>React → Express/Node.js → MySQL</a:t>
            </a:r>
            <a:r>
              <a:rPr lang="en-IN" sz="1200" dirty="0">
                <a:latin typeface="Times New Roman" panose="02020603050405020304" pitchFamily="18" charset="0"/>
                <a:cs typeface="Times New Roman" panose="02020603050405020304" pitchFamily="18" charset="0"/>
              </a:rPr>
              <a:t> workflow functions correctly.</a:t>
            </a:r>
            <a:endParaRPr sz="1200" dirty="0">
              <a:latin typeface="Times New Roman" panose="02020603050405020304" pitchFamily="18" charset="0"/>
              <a:cs typeface="Times New Roman" panose="02020603050405020304" pitchFamily="18" charset="0"/>
            </a:endParaRPr>
          </a:p>
          <a:p>
            <a:pPr marL="259079" lvl="1" indent="-246379">
              <a:lnSpc>
                <a:spcPct val="100000"/>
              </a:lnSpc>
              <a:spcBef>
                <a:spcPts val="1375"/>
              </a:spcBef>
              <a:buAutoNum type="arabicPeriod" startAt="3"/>
              <a:tabLst>
                <a:tab pos="259079" algn="l"/>
              </a:tabLst>
            </a:pPr>
            <a:r>
              <a:rPr sz="1300" b="1" dirty="0">
                <a:latin typeface="Times New Roman"/>
                <a:cs typeface="Times New Roman"/>
              </a:rPr>
              <a:t>Tools</a:t>
            </a:r>
            <a:r>
              <a:rPr sz="1300" b="1" spc="-10" dirty="0">
                <a:latin typeface="Times New Roman"/>
                <a:cs typeface="Times New Roman"/>
              </a:rPr>
              <a:t> </a:t>
            </a:r>
            <a:r>
              <a:rPr sz="1300" b="1" dirty="0">
                <a:latin typeface="Times New Roman"/>
                <a:cs typeface="Times New Roman"/>
              </a:rPr>
              <a:t>Used</a:t>
            </a:r>
            <a:r>
              <a:rPr sz="1300" b="1" spc="-20" dirty="0">
                <a:latin typeface="Times New Roman"/>
                <a:cs typeface="Times New Roman"/>
              </a:rPr>
              <a:t> </a:t>
            </a:r>
            <a:r>
              <a:rPr sz="1300" b="1" dirty="0">
                <a:latin typeface="Times New Roman"/>
                <a:cs typeface="Times New Roman"/>
              </a:rPr>
              <a:t>for</a:t>
            </a:r>
            <a:r>
              <a:rPr sz="1300" b="1" spc="-15" dirty="0">
                <a:latin typeface="Times New Roman"/>
                <a:cs typeface="Times New Roman"/>
              </a:rPr>
              <a:t> </a:t>
            </a:r>
            <a:r>
              <a:rPr sz="1300" b="1" spc="-10" dirty="0">
                <a:latin typeface="Times New Roman"/>
                <a:cs typeface="Times New Roman"/>
              </a:rPr>
              <a:t>Testing</a:t>
            </a:r>
            <a:endParaRPr sz="1300" dirty="0">
              <a:latin typeface="Times New Roman"/>
              <a:cs typeface="Times New Roman"/>
            </a:endParaRPr>
          </a:p>
          <a:p>
            <a:pPr marL="171450" lvl="0" indent="-171450">
              <a:buFont typeface="Arial" panose="020B0604020202020204" pitchFamily="34" charset="0"/>
              <a:buChar char="•"/>
            </a:pPr>
            <a:r>
              <a:rPr lang="en-IN" sz="1200" b="1" dirty="0">
                <a:latin typeface="Times New Roman" panose="02020603050405020304" pitchFamily="18" charset="0"/>
                <a:cs typeface="Times New Roman" panose="02020603050405020304" pitchFamily="18" charset="0"/>
              </a:rPr>
              <a:t>Postman</a:t>
            </a:r>
            <a:r>
              <a:rPr lang="en-IN" sz="1200" dirty="0">
                <a:latin typeface="Times New Roman" panose="02020603050405020304" pitchFamily="18" charset="0"/>
                <a:cs typeface="Times New Roman" panose="02020603050405020304" pitchFamily="18" charset="0"/>
              </a:rPr>
              <a:t> — manual and API testing of the backend REST APIs. </a:t>
            </a:r>
          </a:p>
          <a:p>
            <a:pPr marL="171450" lvl="0" indent="-171450">
              <a:buFont typeface="Arial" panose="020B0604020202020204" pitchFamily="34" charset="0"/>
              <a:buChar char="•"/>
            </a:pPr>
            <a:r>
              <a:rPr lang="en-IN" sz="1200" b="1" dirty="0">
                <a:latin typeface="Times New Roman" panose="02020603050405020304" pitchFamily="18" charset="0"/>
                <a:cs typeface="Times New Roman" panose="02020603050405020304" pitchFamily="18" charset="0"/>
              </a:rPr>
              <a:t>MySQL Workbench</a:t>
            </a:r>
            <a:r>
              <a:rPr lang="en-IN" sz="1200" dirty="0">
                <a:latin typeface="Times New Roman" panose="02020603050405020304" pitchFamily="18" charset="0"/>
                <a:cs typeface="Times New Roman" panose="02020603050405020304" pitchFamily="18" charset="0"/>
              </a:rPr>
              <a:t> — direct verification of database tables, records, and queries. </a:t>
            </a:r>
          </a:p>
          <a:p>
            <a:pPr marL="171450" lvl="0" indent="-171450">
              <a:buFont typeface="Arial" panose="020B0604020202020204" pitchFamily="34" charset="0"/>
              <a:buChar char="•"/>
            </a:pPr>
            <a:r>
              <a:rPr lang="en-IN" sz="1200" b="1" dirty="0">
                <a:latin typeface="Times New Roman" panose="02020603050405020304" pitchFamily="18" charset="0"/>
                <a:cs typeface="Times New Roman" panose="02020603050405020304" pitchFamily="18" charset="0"/>
              </a:rPr>
              <a:t>Browser Developer Tools</a:t>
            </a:r>
            <a:r>
              <a:rPr lang="en-IN" sz="1200" dirty="0">
                <a:latin typeface="Times New Roman" panose="02020603050405020304" pitchFamily="18" charset="0"/>
                <a:cs typeface="Times New Roman" panose="02020603050405020304" pitchFamily="18" charset="0"/>
              </a:rPr>
              <a:t> — checking frontend </a:t>
            </a:r>
            <a:r>
              <a:rPr lang="en-IN" sz="1200" dirty="0" err="1">
                <a:latin typeface="Times New Roman" panose="02020603050405020304" pitchFamily="18" charset="0"/>
                <a:cs typeface="Times New Roman" panose="02020603050405020304" pitchFamily="18" charset="0"/>
              </a:rPr>
              <a:t>behavior</a:t>
            </a:r>
            <a:r>
              <a:rPr lang="en-IN" sz="1200" dirty="0">
                <a:latin typeface="Times New Roman" panose="02020603050405020304" pitchFamily="18" charset="0"/>
                <a:cs typeface="Times New Roman" panose="02020603050405020304" pitchFamily="18" charset="0"/>
              </a:rPr>
              <a:t>, API requests, and responses. </a:t>
            </a:r>
          </a:p>
          <a:p>
            <a:pPr marL="171450" lvl="0" indent="-171450">
              <a:buFont typeface="Arial" panose="020B0604020202020204" pitchFamily="34" charset="0"/>
              <a:buChar char="•"/>
            </a:pPr>
            <a:r>
              <a:rPr lang="en-IN" sz="1200" b="1" dirty="0">
                <a:latin typeface="Times New Roman" panose="02020603050405020304" pitchFamily="18" charset="0"/>
                <a:cs typeface="Times New Roman" panose="02020603050405020304" pitchFamily="18" charset="0"/>
              </a:rPr>
              <a:t>Manual Browser Testing</a:t>
            </a:r>
            <a:r>
              <a:rPr lang="en-IN" sz="1200" dirty="0">
                <a:latin typeface="Times New Roman" panose="02020603050405020304" pitchFamily="18" charset="0"/>
                <a:cs typeface="Times New Roman" panose="02020603050405020304" pitchFamily="18" charset="0"/>
              </a:rPr>
              <a:t> — verifying the React frontend's functionality and appearance.</a:t>
            </a:r>
          </a:p>
          <a:p>
            <a:pPr>
              <a:lnSpc>
                <a:spcPct val="100000"/>
              </a:lnSpc>
              <a:spcBef>
                <a:spcPts val="45"/>
              </a:spcBef>
            </a:pPr>
            <a:endParaRPr sz="1200" dirty="0">
              <a:latin typeface="Times New Roman" panose="02020603050405020304" pitchFamily="18" charset="0"/>
              <a:cs typeface="Times New Roman" panose="02020603050405020304" pitchFamily="18" charset="0"/>
            </a:endParaRPr>
          </a:p>
          <a:p>
            <a:pPr marL="12700">
              <a:lnSpc>
                <a:spcPct val="100000"/>
              </a:lnSpc>
            </a:pPr>
            <a:r>
              <a:rPr sz="1300" b="1" dirty="0">
                <a:latin typeface="Times New Roman"/>
                <a:cs typeface="Times New Roman"/>
              </a:rPr>
              <a:t>8.4</a:t>
            </a:r>
            <a:r>
              <a:rPr sz="1300" b="1" spc="-15" dirty="0">
                <a:latin typeface="Times New Roman"/>
                <a:cs typeface="Times New Roman"/>
              </a:rPr>
              <a:t> </a:t>
            </a:r>
            <a:r>
              <a:rPr sz="1300" b="1" dirty="0">
                <a:latin typeface="Times New Roman"/>
                <a:cs typeface="Times New Roman"/>
              </a:rPr>
              <a:t>Test</a:t>
            </a:r>
            <a:r>
              <a:rPr sz="1300" b="1" spc="-10" dirty="0">
                <a:latin typeface="Times New Roman"/>
                <a:cs typeface="Times New Roman"/>
              </a:rPr>
              <a:t> </a:t>
            </a:r>
            <a:r>
              <a:rPr sz="1300" b="1" dirty="0">
                <a:latin typeface="Times New Roman"/>
                <a:cs typeface="Times New Roman"/>
              </a:rPr>
              <a:t>Cases</a:t>
            </a:r>
            <a:r>
              <a:rPr sz="1300" b="1" spc="-10" dirty="0">
                <a:latin typeface="Times New Roman"/>
                <a:cs typeface="Times New Roman"/>
              </a:rPr>
              <a:t> </a:t>
            </a:r>
            <a:r>
              <a:rPr sz="1300" b="1" dirty="0">
                <a:latin typeface="Times New Roman"/>
                <a:cs typeface="Times New Roman"/>
              </a:rPr>
              <a:t>and</a:t>
            </a:r>
            <a:r>
              <a:rPr sz="1300" b="1" spc="-15" dirty="0">
                <a:latin typeface="Times New Roman"/>
                <a:cs typeface="Times New Roman"/>
              </a:rPr>
              <a:t> </a:t>
            </a:r>
            <a:r>
              <a:rPr sz="1300" b="1" spc="-10" dirty="0">
                <a:latin typeface="Times New Roman"/>
                <a:cs typeface="Times New Roman"/>
              </a:rPr>
              <a:t>Results</a:t>
            </a:r>
            <a:endParaRPr sz="1300" dirty="0">
              <a:latin typeface="Times New Roman"/>
              <a:cs typeface="Times New Roman"/>
            </a:endParaRPr>
          </a:p>
          <a:p>
            <a:pPr marL="12700" marR="5080" algn="just">
              <a:lnSpc>
                <a:spcPct val="100000"/>
              </a:lnSpc>
              <a:spcBef>
                <a:spcPts val="475"/>
              </a:spcBef>
            </a:pPr>
            <a:r>
              <a:rPr lang="en-IN" sz="1200" dirty="0">
                <a:latin typeface="Times New Roman" panose="02020603050405020304" pitchFamily="18" charset="0"/>
                <a:cs typeface="Times New Roman" panose="02020603050405020304" pitchFamily="18" charset="0"/>
              </a:rPr>
              <a:t>A representative sample of the test cases executed for the </a:t>
            </a:r>
            <a:r>
              <a:rPr lang="en-IN" sz="1200" b="1" dirty="0">
                <a:latin typeface="Times New Roman" panose="02020603050405020304" pitchFamily="18" charset="0"/>
                <a:cs typeface="Times New Roman" panose="02020603050405020304" pitchFamily="18" charset="0"/>
              </a:rPr>
              <a:t>Library Management System with RFID Integration</a:t>
            </a:r>
            <a:r>
              <a:rPr lang="en-IN" sz="1200" dirty="0">
                <a:latin typeface="Times New Roman" panose="02020603050405020304" pitchFamily="18" charset="0"/>
                <a:cs typeface="Times New Roman" panose="02020603050405020304" pitchFamily="18" charset="0"/>
              </a:rPr>
              <a:t> is summarized below.</a:t>
            </a:r>
            <a:r>
              <a:rPr sz="1200" spc="-10" dirty="0">
                <a:latin typeface="Times New Roman" panose="02020603050405020304" pitchFamily="18" charset="0"/>
                <a:cs typeface="Times New Roman" panose="02020603050405020304" pitchFamily="18" charset="0"/>
              </a:rPr>
              <a:t>.</a:t>
            </a:r>
            <a:endParaRPr sz="1200" dirty="0">
              <a:latin typeface="Times New Roman" panose="02020603050405020304" pitchFamily="18" charset="0"/>
              <a:cs typeface="Times New Roman" panose="02020603050405020304" pitchFamily="18" charset="0"/>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2384">
              <a:lnSpc>
                <a:spcPts val="1150"/>
              </a:lnSpc>
            </a:pPr>
            <a:r>
              <a:rPr dirty="0">
                <a:solidFill>
                  <a:srgbClr val="000000"/>
                </a:solidFill>
                <a:latin typeface="Calibri Light"/>
                <a:cs typeface="Calibri Light"/>
              </a:rPr>
              <a:t>Page</a:t>
            </a:r>
            <a:r>
              <a:rPr spc="-45" dirty="0">
                <a:solidFill>
                  <a:srgbClr val="000000"/>
                </a:solidFill>
                <a:latin typeface="Calibri Light"/>
                <a:cs typeface="Calibri Light"/>
              </a:rPr>
              <a:t> </a:t>
            </a:r>
            <a:r>
              <a:rPr spc="-25" dirty="0">
                <a:solidFill>
                  <a:srgbClr val="000000"/>
                </a:solidFill>
                <a:latin typeface="Calibri Light"/>
                <a:cs typeface="Calibri Light"/>
              </a:rPr>
              <a:t>15</a:t>
            </a:r>
          </a:p>
        </p:txBody>
      </p:sp>
      <p:pic>
        <p:nvPicPr>
          <p:cNvPr id="8" name="Picture 7">
            <a:extLst>
              <a:ext uri="{FF2B5EF4-FFF2-40B4-BE49-F238E27FC236}">
                <a16:creationId xmlns:a16="http://schemas.microsoft.com/office/drawing/2014/main" id="{A963FF88-FAB7-BFB9-6455-5F2258BC21FC}"/>
              </a:ext>
            </a:extLst>
          </p:cNvPr>
          <p:cNvPicPr>
            <a:picLocks noChangeAspect="1"/>
          </p:cNvPicPr>
          <p:nvPr/>
        </p:nvPicPr>
        <p:blipFill>
          <a:blip r:embed="rId3"/>
          <a:stretch>
            <a:fillRect/>
          </a:stretch>
        </p:blipFill>
        <p:spPr>
          <a:xfrm>
            <a:off x="693117" y="5972202"/>
            <a:ext cx="6178550" cy="3460206"/>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796848" y="4259706"/>
            <a:ext cx="5970905" cy="1034415"/>
          </a:xfrm>
          <a:prstGeom prst="rect">
            <a:avLst/>
          </a:prstGeom>
        </p:spPr>
        <p:txBody>
          <a:bodyPr vert="horz" wrap="square" lIns="0" tIns="12065" rIns="0" bIns="0" rtlCol="0">
            <a:spAutoFit/>
          </a:bodyPr>
          <a:lstStyle/>
          <a:p>
            <a:pPr marL="12700" marR="5080" algn="just">
              <a:lnSpc>
                <a:spcPct val="110400"/>
              </a:lnSpc>
              <a:spcBef>
                <a:spcPts val="95"/>
              </a:spcBef>
            </a:pPr>
            <a:r>
              <a:rPr sz="1200" dirty="0">
                <a:latin typeface="Times New Roman"/>
                <a:cs typeface="Times New Roman"/>
              </a:rPr>
              <a:t>One</a:t>
            </a:r>
            <a:r>
              <a:rPr sz="1200" spc="-15" dirty="0">
                <a:latin typeface="Times New Roman"/>
                <a:cs typeface="Times New Roman"/>
              </a:rPr>
              <a:t> </a:t>
            </a:r>
            <a:r>
              <a:rPr sz="1200" dirty="0">
                <a:latin typeface="Times New Roman"/>
                <a:cs typeface="Times New Roman"/>
              </a:rPr>
              <a:t>test</a:t>
            </a:r>
            <a:r>
              <a:rPr sz="1200" spc="-5" dirty="0">
                <a:latin typeface="Times New Roman"/>
                <a:cs typeface="Times New Roman"/>
              </a:rPr>
              <a:t> </a:t>
            </a:r>
            <a:r>
              <a:rPr sz="1200" dirty="0">
                <a:latin typeface="Times New Roman"/>
                <a:cs typeface="Times New Roman"/>
              </a:rPr>
              <a:t>also uncovered a</a:t>
            </a:r>
            <a:r>
              <a:rPr sz="1200" spc="-10" dirty="0">
                <a:latin typeface="Times New Roman"/>
                <a:cs typeface="Times New Roman"/>
              </a:rPr>
              <a:t> </a:t>
            </a:r>
            <a:r>
              <a:rPr sz="1200" dirty="0">
                <a:latin typeface="Times New Roman"/>
                <a:cs typeface="Times New Roman"/>
              </a:rPr>
              <a:t>real defect</a:t>
            </a:r>
            <a:r>
              <a:rPr sz="1200" spc="-5" dirty="0">
                <a:latin typeface="Times New Roman"/>
                <a:cs typeface="Times New Roman"/>
              </a:rPr>
              <a:t> </a:t>
            </a:r>
            <a:r>
              <a:rPr sz="1200" dirty="0">
                <a:latin typeface="Times New Roman"/>
                <a:cs typeface="Times New Roman"/>
              </a:rPr>
              <a:t>rather</a:t>
            </a:r>
            <a:r>
              <a:rPr sz="1200" spc="-10" dirty="0">
                <a:latin typeface="Times New Roman"/>
                <a:cs typeface="Times New Roman"/>
              </a:rPr>
              <a:t> </a:t>
            </a:r>
            <a:r>
              <a:rPr sz="1200" dirty="0">
                <a:latin typeface="Times New Roman"/>
                <a:cs typeface="Times New Roman"/>
              </a:rPr>
              <a:t>than</a:t>
            </a:r>
            <a:r>
              <a:rPr sz="1200" spc="5" dirty="0">
                <a:latin typeface="Times New Roman"/>
                <a:cs typeface="Times New Roman"/>
              </a:rPr>
              <a:t> </a:t>
            </a:r>
            <a:r>
              <a:rPr sz="1200" dirty="0">
                <a:latin typeface="Times New Roman"/>
                <a:cs typeface="Times New Roman"/>
              </a:rPr>
              <a:t>confirming</a:t>
            </a:r>
            <a:r>
              <a:rPr sz="1200" spc="-10" dirty="0">
                <a:latin typeface="Times New Roman"/>
                <a:cs typeface="Times New Roman"/>
              </a:rPr>
              <a:t> </a:t>
            </a:r>
            <a:r>
              <a:rPr sz="1200" dirty="0">
                <a:latin typeface="Times New Roman"/>
                <a:cs typeface="Times New Roman"/>
              </a:rPr>
              <a:t>correct behavior:</a:t>
            </a:r>
            <a:r>
              <a:rPr sz="1200" spc="-5" dirty="0">
                <a:latin typeface="Times New Roman"/>
                <a:cs typeface="Times New Roman"/>
              </a:rPr>
              <a:t> </a:t>
            </a:r>
            <a:r>
              <a:rPr sz="1200" dirty="0">
                <a:latin typeface="Times New Roman"/>
                <a:cs typeface="Times New Roman"/>
              </a:rPr>
              <a:t>pre-filling</a:t>
            </a:r>
            <a:r>
              <a:rPr sz="1200" spc="-5" dirty="0">
                <a:latin typeface="Times New Roman"/>
                <a:cs typeface="Times New Roman"/>
              </a:rPr>
              <a:t> </a:t>
            </a:r>
            <a:r>
              <a:rPr sz="1200" dirty="0">
                <a:latin typeface="Times New Roman"/>
                <a:cs typeface="Times New Roman"/>
              </a:rPr>
              <a:t>the</a:t>
            </a:r>
            <a:r>
              <a:rPr sz="1200" spc="-10" dirty="0">
                <a:latin typeface="Times New Roman"/>
                <a:cs typeface="Times New Roman"/>
              </a:rPr>
              <a:t> </a:t>
            </a:r>
            <a:r>
              <a:rPr sz="1200" spc="-20" dirty="0">
                <a:latin typeface="Times New Roman"/>
                <a:cs typeface="Times New Roman"/>
              </a:rPr>
              <a:t>Edit </a:t>
            </a:r>
            <a:r>
              <a:rPr sz="1200" dirty="0">
                <a:latin typeface="Times New Roman"/>
                <a:cs typeface="Times New Roman"/>
              </a:rPr>
              <a:t>Event</a:t>
            </a:r>
            <a:r>
              <a:rPr sz="1200" spc="155" dirty="0">
                <a:latin typeface="Times New Roman"/>
                <a:cs typeface="Times New Roman"/>
              </a:rPr>
              <a:t> </a:t>
            </a:r>
            <a:r>
              <a:rPr sz="1200" dirty="0">
                <a:latin typeface="Times New Roman"/>
                <a:cs typeface="Times New Roman"/>
              </a:rPr>
              <a:t>form's</a:t>
            </a:r>
            <a:r>
              <a:rPr sz="1200" spc="160" dirty="0">
                <a:latin typeface="Times New Roman"/>
                <a:cs typeface="Times New Roman"/>
              </a:rPr>
              <a:t> </a:t>
            </a:r>
            <a:r>
              <a:rPr sz="1200" dirty="0">
                <a:latin typeface="Times New Roman"/>
                <a:cs typeface="Times New Roman"/>
              </a:rPr>
              <a:t>date/time</a:t>
            </a:r>
            <a:r>
              <a:rPr sz="1200" spc="150" dirty="0">
                <a:latin typeface="Times New Roman"/>
                <a:cs typeface="Times New Roman"/>
              </a:rPr>
              <a:t> </a:t>
            </a:r>
            <a:r>
              <a:rPr sz="1200" dirty="0">
                <a:latin typeface="Times New Roman"/>
                <a:cs typeface="Times New Roman"/>
              </a:rPr>
              <a:t>fields</a:t>
            </a:r>
            <a:r>
              <a:rPr sz="1200" spc="170" dirty="0">
                <a:latin typeface="Times New Roman"/>
                <a:cs typeface="Times New Roman"/>
              </a:rPr>
              <a:t> </a:t>
            </a:r>
            <a:r>
              <a:rPr sz="1200" dirty="0">
                <a:latin typeface="Times New Roman"/>
                <a:cs typeface="Times New Roman"/>
              </a:rPr>
              <a:t>initially</a:t>
            </a:r>
            <a:r>
              <a:rPr sz="1200" spc="120" dirty="0">
                <a:latin typeface="Times New Roman"/>
                <a:cs typeface="Times New Roman"/>
              </a:rPr>
              <a:t> </a:t>
            </a:r>
            <a:r>
              <a:rPr sz="1200" dirty="0">
                <a:latin typeface="Times New Roman"/>
                <a:cs typeface="Times New Roman"/>
              </a:rPr>
              <a:t>used</a:t>
            </a:r>
            <a:r>
              <a:rPr sz="1200" spc="160" dirty="0">
                <a:latin typeface="Times New Roman"/>
                <a:cs typeface="Times New Roman"/>
              </a:rPr>
              <a:t> </a:t>
            </a:r>
            <a:r>
              <a:rPr sz="1200" dirty="0">
                <a:latin typeface="Times New Roman"/>
                <a:cs typeface="Times New Roman"/>
              </a:rPr>
              <a:t>the</a:t>
            </a:r>
            <a:r>
              <a:rPr sz="1200" spc="150" dirty="0">
                <a:latin typeface="Times New Roman"/>
                <a:cs typeface="Times New Roman"/>
              </a:rPr>
              <a:t> </a:t>
            </a:r>
            <a:r>
              <a:rPr sz="1200" dirty="0">
                <a:latin typeface="Times New Roman"/>
                <a:cs typeface="Times New Roman"/>
              </a:rPr>
              <a:t>API's</a:t>
            </a:r>
            <a:r>
              <a:rPr sz="1200" spc="160" dirty="0">
                <a:latin typeface="Times New Roman"/>
                <a:cs typeface="Times New Roman"/>
              </a:rPr>
              <a:t> </a:t>
            </a:r>
            <a:r>
              <a:rPr sz="1200" dirty="0">
                <a:latin typeface="Times New Roman"/>
                <a:cs typeface="Times New Roman"/>
              </a:rPr>
              <a:t>raw</a:t>
            </a:r>
            <a:r>
              <a:rPr sz="1200" spc="155" dirty="0">
                <a:latin typeface="Times New Roman"/>
                <a:cs typeface="Times New Roman"/>
              </a:rPr>
              <a:t> </a:t>
            </a:r>
            <a:r>
              <a:rPr sz="1200" spc="-10" dirty="0">
                <a:latin typeface="Times New Roman"/>
                <a:cs typeface="Times New Roman"/>
              </a:rPr>
              <a:t>UTC-</a:t>
            </a:r>
            <a:r>
              <a:rPr sz="1200" dirty="0">
                <a:latin typeface="Times New Roman"/>
                <a:cs typeface="Times New Roman"/>
              </a:rPr>
              <a:t>encoded</a:t>
            </a:r>
            <a:r>
              <a:rPr sz="1200" spc="165" dirty="0">
                <a:latin typeface="Times New Roman"/>
                <a:cs typeface="Times New Roman"/>
              </a:rPr>
              <a:t> </a:t>
            </a:r>
            <a:r>
              <a:rPr sz="1200" dirty="0">
                <a:latin typeface="Times New Roman"/>
                <a:cs typeface="Times New Roman"/>
              </a:rPr>
              <a:t>timestamp</a:t>
            </a:r>
            <a:r>
              <a:rPr sz="1200" spc="160" dirty="0">
                <a:latin typeface="Times New Roman"/>
                <a:cs typeface="Times New Roman"/>
              </a:rPr>
              <a:t> </a:t>
            </a:r>
            <a:r>
              <a:rPr sz="1200" dirty="0">
                <a:latin typeface="Times New Roman"/>
                <a:cs typeface="Times New Roman"/>
              </a:rPr>
              <a:t>instead</a:t>
            </a:r>
            <a:r>
              <a:rPr sz="1200" spc="160" dirty="0">
                <a:latin typeface="Times New Roman"/>
                <a:cs typeface="Times New Roman"/>
              </a:rPr>
              <a:t> </a:t>
            </a:r>
            <a:r>
              <a:rPr sz="1200" spc="-25" dirty="0">
                <a:latin typeface="Times New Roman"/>
                <a:cs typeface="Times New Roman"/>
              </a:rPr>
              <a:t>of </a:t>
            </a:r>
            <a:r>
              <a:rPr sz="1200" dirty="0">
                <a:latin typeface="Times New Roman"/>
                <a:cs typeface="Times New Roman"/>
              </a:rPr>
              <a:t>converting</a:t>
            </a:r>
            <a:r>
              <a:rPr sz="1200" spc="-50" dirty="0">
                <a:latin typeface="Times New Roman"/>
                <a:cs typeface="Times New Roman"/>
              </a:rPr>
              <a:t> </a:t>
            </a:r>
            <a:r>
              <a:rPr sz="1200" dirty="0">
                <a:latin typeface="Times New Roman"/>
                <a:cs typeface="Times New Roman"/>
              </a:rPr>
              <a:t>it</a:t>
            </a:r>
            <a:r>
              <a:rPr sz="1200" spc="-40" dirty="0">
                <a:latin typeface="Times New Roman"/>
                <a:cs typeface="Times New Roman"/>
              </a:rPr>
              <a:t> </a:t>
            </a:r>
            <a:r>
              <a:rPr sz="1200" dirty="0">
                <a:latin typeface="Times New Roman"/>
                <a:cs typeface="Times New Roman"/>
              </a:rPr>
              <a:t>to</a:t>
            </a:r>
            <a:r>
              <a:rPr sz="1200" spc="-35" dirty="0">
                <a:latin typeface="Times New Roman"/>
                <a:cs typeface="Times New Roman"/>
              </a:rPr>
              <a:t> </a:t>
            </a:r>
            <a:r>
              <a:rPr sz="1200" dirty="0">
                <a:latin typeface="Times New Roman"/>
                <a:cs typeface="Times New Roman"/>
              </a:rPr>
              <a:t>the</a:t>
            </a:r>
            <a:r>
              <a:rPr sz="1200" spc="-40" dirty="0">
                <a:latin typeface="Times New Roman"/>
                <a:cs typeface="Times New Roman"/>
              </a:rPr>
              <a:t> </a:t>
            </a:r>
            <a:r>
              <a:rPr sz="1200" dirty="0">
                <a:latin typeface="Times New Roman"/>
                <a:cs typeface="Times New Roman"/>
              </a:rPr>
              <a:t>browser's</a:t>
            </a:r>
            <a:r>
              <a:rPr sz="1200" spc="-40" dirty="0">
                <a:latin typeface="Times New Roman"/>
                <a:cs typeface="Times New Roman"/>
              </a:rPr>
              <a:t> </a:t>
            </a:r>
            <a:r>
              <a:rPr sz="1200" dirty="0">
                <a:latin typeface="Times New Roman"/>
                <a:cs typeface="Times New Roman"/>
              </a:rPr>
              <a:t>local</a:t>
            </a:r>
            <a:r>
              <a:rPr sz="1200" spc="-35" dirty="0">
                <a:latin typeface="Times New Roman"/>
                <a:cs typeface="Times New Roman"/>
              </a:rPr>
              <a:t> </a:t>
            </a:r>
            <a:r>
              <a:rPr sz="1200" dirty="0">
                <a:latin typeface="Times New Roman"/>
                <a:cs typeface="Times New Roman"/>
              </a:rPr>
              <a:t>time,</a:t>
            </a:r>
            <a:r>
              <a:rPr sz="1200" spc="-40" dirty="0">
                <a:latin typeface="Times New Roman"/>
                <a:cs typeface="Times New Roman"/>
              </a:rPr>
              <a:t> </a:t>
            </a:r>
            <a:r>
              <a:rPr sz="1200" dirty="0">
                <a:latin typeface="Times New Roman"/>
                <a:cs typeface="Times New Roman"/>
              </a:rPr>
              <a:t>which</a:t>
            </a:r>
            <a:r>
              <a:rPr sz="1200" spc="-40" dirty="0">
                <a:latin typeface="Times New Roman"/>
                <a:cs typeface="Times New Roman"/>
              </a:rPr>
              <a:t> </a:t>
            </a:r>
            <a:r>
              <a:rPr sz="1200" dirty="0">
                <a:latin typeface="Times New Roman"/>
                <a:cs typeface="Times New Roman"/>
              </a:rPr>
              <a:t>would</a:t>
            </a:r>
            <a:r>
              <a:rPr sz="1200" spc="-40" dirty="0">
                <a:latin typeface="Times New Roman"/>
                <a:cs typeface="Times New Roman"/>
              </a:rPr>
              <a:t> </a:t>
            </a:r>
            <a:r>
              <a:rPr sz="1200" dirty="0">
                <a:latin typeface="Times New Roman"/>
                <a:cs typeface="Times New Roman"/>
              </a:rPr>
              <a:t>have</a:t>
            </a:r>
            <a:r>
              <a:rPr sz="1200" spc="-45" dirty="0">
                <a:latin typeface="Times New Roman"/>
                <a:cs typeface="Times New Roman"/>
              </a:rPr>
              <a:t> </a:t>
            </a:r>
            <a:r>
              <a:rPr sz="1200" dirty="0">
                <a:latin typeface="Times New Roman"/>
                <a:cs typeface="Times New Roman"/>
              </a:rPr>
              <a:t>shown</a:t>
            </a:r>
            <a:r>
              <a:rPr sz="1200" spc="-45" dirty="0">
                <a:latin typeface="Times New Roman"/>
                <a:cs typeface="Times New Roman"/>
              </a:rPr>
              <a:t> </a:t>
            </a:r>
            <a:r>
              <a:rPr sz="1200" dirty="0">
                <a:latin typeface="Times New Roman"/>
                <a:cs typeface="Times New Roman"/>
              </a:rPr>
              <a:t>an</a:t>
            </a:r>
            <a:r>
              <a:rPr sz="1200" spc="-40" dirty="0">
                <a:latin typeface="Times New Roman"/>
                <a:cs typeface="Times New Roman"/>
              </a:rPr>
              <a:t> </a:t>
            </a:r>
            <a:r>
              <a:rPr sz="1200" dirty="0">
                <a:latin typeface="Times New Roman"/>
                <a:cs typeface="Times New Roman"/>
              </a:rPr>
              <a:t>incorrect</a:t>
            </a:r>
            <a:r>
              <a:rPr sz="1200" spc="-35" dirty="0">
                <a:latin typeface="Times New Roman"/>
                <a:cs typeface="Times New Roman"/>
              </a:rPr>
              <a:t> </a:t>
            </a:r>
            <a:r>
              <a:rPr sz="1200" dirty="0">
                <a:latin typeface="Times New Roman"/>
                <a:cs typeface="Times New Roman"/>
              </a:rPr>
              <a:t>time</a:t>
            </a:r>
            <a:r>
              <a:rPr sz="1200" spc="-40" dirty="0">
                <a:latin typeface="Times New Roman"/>
                <a:cs typeface="Times New Roman"/>
              </a:rPr>
              <a:t> </a:t>
            </a:r>
            <a:r>
              <a:rPr sz="1200" dirty="0">
                <a:latin typeface="Times New Roman"/>
                <a:cs typeface="Times New Roman"/>
              </a:rPr>
              <a:t>(for</a:t>
            </a:r>
            <a:r>
              <a:rPr sz="1200" spc="-45" dirty="0">
                <a:latin typeface="Times New Roman"/>
                <a:cs typeface="Times New Roman"/>
              </a:rPr>
              <a:t> </a:t>
            </a:r>
            <a:r>
              <a:rPr sz="1200" spc="-10" dirty="0">
                <a:latin typeface="Times New Roman"/>
                <a:cs typeface="Times New Roman"/>
              </a:rPr>
              <a:t>example, 4:30</a:t>
            </a:r>
            <a:r>
              <a:rPr sz="1200" spc="-60" dirty="0">
                <a:latin typeface="Times New Roman"/>
                <a:cs typeface="Times New Roman"/>
              </a:rPr>
              <a:t> </a:t>
            </a:r>
            <a:r>
              <a:rPr sz="1200" dirty="0">
                <a:latin typeface="Times New Roman"/>
                <a:cs typeface="Times New Roman"/>
              </a:rPr>
              <a:t>AM</a:t>
            </a:r>
            <a:r>
              <a:rPr sz="1200" spc="-55" dirty="0">
                <a:latin typeface="Times New Roman"/>
                <a:cs typeface="Times New Roman"/>
              </a:rPr>
              <a:t> </a:t>
            </a:r>
            <a:r>
              <a:rPr sz="1200" spc="-10" dirty="0">
                <a:latin typeface="Times New Roman"/>
                <a:cs typeface="Times New Roman"/>
              </a:rPr>
              <a:t>instead</a:t>
            </a:r>
            <a:r>
              <a:rPr sz="1200" spc="-45" dirty="0">
                <a:latin typeface="Times New Roman"/>
                <a:cs typeface="Times New Roman"/>
              </a:rPr>
              <a:t> </a:t>
            </a:r>
            <a:r>
              <a:rPr sz="1200" spc="-20" dirty="0">
                <a:latin typeface="Times New Roman"/>
                <a:cs typeface="Times New Roman"/>
              </a:rPr>
              <a:t>of</a:t>
            </a:r>
            <a:r>
              <a:rPr sz="1200" spc="-55" dirty="0">
                <a:latin typeface="Times New Roman"/>
                <a:cs typeface="Times New Roman"/>
              </a:rPr>
              <a:t> </a:t>
            </a:r>
            <a:r>
              <a:rPr sz="1200" spc="-10" dirty="0">
                <a:latin typeface="Times New Roman"/>
                <a:cs typeface="Times New Roman"/>
              </a:rPr>
              <a:t>10:00</a:t>
            </a:r>
            <a:r>
              <a:rPr sz="1200" spc="-40" dirty="0">
                <a:latin typeface="Times New Roman"/>
                <a:cs typeface="Times New Roman"/>
              </a:rPr>
              <a:t> </a:t>
            </a:r>
            <a:r>
              <a:rPr sz="1200" spc="-10" dirty="0">
                <a:latin typeface="Times New Roman"/>
                <a:cs typeface="Times New Roman"/>
              </a:rPr>
              <a:t>AM)</a:t>
            </a:r>
            <a:r>
              <a:rPr sz="1200" spc="-60" dirty="0">
                <a:latin typeface="Times New Roman"/>
                <a:cs typeface="Times New Roman"/>
              </a:rPr>
              <a:t> </a:t>
            </a:r>
            <a:r>
              <a:rPr sz="1200" dirty="0">
                <a:latin typeface="Times New Roman"/>
                <a:cs typeface="Times New Roman"/>
              </a:rPr>
              <a:t>on</a:t>
            </a:r>
            <a:r>
              <a:rPr sz="1200" spc="-45" dirty="0">
                <a:latin typeface="Times New Roman"/>
                <a:cs typeface="Times New Roman"/>
              </a:rPr>
              <a:t> </a:t>
            </a:r>
            <a:r>
              <a:rPr sz="1200" spc="-10" dirty="0">
                <a:latin typeface="Times New Roman"/>
                <a:cs typeface="Times New Roman"/>
              </a:rPr>
              <a:t>any</a:t>
            </a:r>
            <a:r>
              <a:rPr sz="1200" spc="-65" dirty="0">
                <a:latin typeface="Times New Roman"/>
                <a:cs typeface="Times New Roman"/>
              </a:rPr>
              <a:t> </a:t>
            </a:r>
            <a:r>
              <a:rPr sz="1200" spc="-10" dirty="0">
                <a:latin typeface="Times New Roman"/>
                <a:cs typeface="Times New Roman"/>
              </a:rPr>
              <a:t>machine</a:t>
            </a:r>
            <a:r>
              <a:rPr sz="1200" spc="-60" dirty="0">
                <a:latin typeface="Times New Roman"/>
                <a:cs typeface="Times New Roman"/>
              </a:rPr>
              <a:t> </a:t>
            </a:r>
            <a:r>
              <a:rPr sz="1200" spc="-10" dirty="0">
                <a:latin typeface="Times New Roman"/>
                <a:cs typeface="Times New Roman"/>
              </a:rPr>
              <a:t>not</a:t>
            </a:r>
            <a:r>
              <a:rPr sz="1200" spc="-40" dirty="0">
                <a:latin typeface="Times New Roman"/>
                <a:cs typeface="Times New Roman"/>
              </a:rPr>
              <a:t> </a:t>
            </a:r>
            <a:r>
              <a:rPr sz="1200" spc="-10" dirty="0">
                <a:latin typeface="Times New Roman"/>
                <a:cs typeface="Times New Roman"/>
              </a:rPr>
              <a:t>running</a:t>
            </a:r>
            <a:r>
              <a:rPr sz="1200" spc="-55" dirty="0">
                <a:latin typeface="Times New Roman"/>
                <a:cs typeface="Times New Roman"/>
              </a:rPr>
              <a:t> </a:t>
            </a:r>
            <a:r>
              <a:rPr sz="1200" spc="-10" dirty="0">
                <a:latin typeface="Times New Roman"/>
                <a:cs typeface="Times New Roman"/>
              </a:rPr>
              <a:t>in</a:t>
            </a:r>
            <a:r>
              <a:rPr sz="1200" spc="-50" dirty="0">
                <a:latin typeface="Times New Roman"/>
                <a:cs typeface="Times New Roman"/>
              </a:rPr>
              <a:t> </a:t>
            </a:r>
            <a:r>
              <a:rPr sz="1200" spc="-10" dirty="0">
                <a:latin typeface="Times New Roman"/>
                <a:cs typeface="Times New Roman"/>
              </a:rPr>
              <a:t>the</a:t>
            </a:r>
            <a:r>
              <a:rPr sz="1200" spc="-45" dirty="0">
                <a:latin typeface="Times New Roman"/>
                <a:cs typeface="Times New Roman"/>
              </a:rPr>
              <a:t> </a:t>
            </a:r>
            <a:r>
              <a:rPr sz="1200" spc="-10" dirty="0">
                <a:latin typeface="Times New Roman"/>
                <a:cs typeface="Times New Roman"/>
              </a:rPr>
              <a:t>UTC</a:t>
            </a:r>
            <a:r>
              <a:rPr sz="1200" spc="-50" dirty="0">
                <a:latin typeface="Times New Roman"/>
                <a:cs typeface="Times New Roman"/>
              </a:rPr>
              <a:t> </a:t>
            </a:r>
            <a:r>
              <a:rPr sz="1200" spc="-10" dirty="0">
                <a:latin typeface="Times New Roman"/>
                <a:cs typeface="Times New Roman"/>
              </a:rPr>
              <a:t>timezone.</a:t>
            </a:r>
            <a:r>
              <a:rPr sz="1200" spc="-55" dirty="0">
                <a:latin typeface="Times New Roman"/>
                <a:cs typeface="Times New Roman"/>
              </a:rPr>
              <a:t> </a:t>
            </a:r>
            <a:r>
              <a:rPr sz="1200" spc="-10" dirty="0">
                <a:latin typeface="Times New Roman"/>
                <a:cs typeface="Times New Roman"/>
              </a:rPr>
              <a:t>This</a:t>
            </a:r>
            <a:r>
              <a:rPr sz="1200" spc="-50" dirty="0">
                <a:latin typeface="Times New Roman"/>
                <a:cs typeface="Times New Roman"/>
              </a:rPr>
              <a:t> </a:t>
            </a:r>
            <a:r>
              <a:rPr sz="1200" dirty="0">
                <a:latin typeface="Times New Roman"/>
                <a:cs typeface="Times New Roman"/>
              </a:rPr>
              <a:t>is</a:t>
            </a:r>
            <a:r>
              <a:rPr sz="1200" spc="-50" dirty="0">
                <a:latin typeface="Times New Roman"/>
                <a:cs typeface="Times New Roman"/>
              </a:rPr>
              <a:t> </a:t>
            </a:r>
            <a:r>
              <a:rPr sz="1200" spc="-10" dirty="0">
                <a:latin typeface="Times New Roman"/>
                <a:cs typeface="Times New Roman"/>
              </a:rPr>
              <a:t>discussed </a:t>
            </a:r>
            <a:r>
              <a:rPr sz="1200" dirty="0">
                <a:latin typeface="Times New Roman"/>
                <a:cs typeface="Times New Roman"/>
              </a:rPr>
              <a:t>further</a:t>
            </a:r>
            <a:r>
              <a:rPr sz="1200" spc="-40" dirty="0">
                <a:latin typeface="Times New Roman"/>
                <a:cs typeface="Times New Roman"/>
              </a:rPr>
              <a:t> </a:t>
            </a:r>
            <a:r>
              <a:rPr sz="1200" dirty="0">
                <a:latin typeface="Times New Roman"/>
                <a:cs typeface="Times New Roman"/>
              </a:rPr>
              <a:t>in</a:t>
            </a:r>
            <a:r>
              <a:rPr sz="1200" spc="-30" dirty="0">
                <a:latin typeface="Times New Roman"/>
                <a:cs typeface="Times New Roman"/>
              </a:rPr>
              <a:t> </a:t>
            </a:r>
            <a:r>
              <a:rPr sz="1200" dirty="0">
                <a:latin typeface="Times New Roman"/>
                <a:cs typeface="Times New Roman"/>
              </a:rPr>
              <a:t>Chapter</a:t>
            </a:r>
            <a:r>
              <a:rPr sz="1200" spc="-40" dirty="0">
                <a:latin typeface="Times New Roman"/>
                <a:cs typeface="Times New Roman"/>
              </a:rPr>
              <a:t> </a:t>
            </a:r>
            <a:r>
              <a:rPr sz="1200" spc="-25" dirty="0">
                <a:latin typeface="Times New Roman"/>
                <a:cs typeface="Times New Roman"/>
              </a:rPr>
              <a:t>10.</a:t>
            </a:r>
            <a:endParaRPr sz="1200">
              <a:latin typeface="Times New Roman"/>
              <a:cs typeface="Times New Roman"/>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2384">
              <a:lnSpc>
                <a:spcPts val="1150"/>
              </a:lnSpc>
            </a:pPr>
            <a:r>
              <a:rPr dirty="0">
                <a:solidFill>
                  <a:srgbClr val="000000"/>
                </a:solidFill>
                <a:latin typeface="Calibri Light"/>
                <a:cs typeface="Calibri Light"/>
              </a:rPr>
              <a:t>Page</a:t>
            </a:r>
            <a:r>
              <a:rPr spc="-45" dirty="0">
                <a:solidFill>
                  <a:srgbClr val="000000"/>
                </a:solidFill>
                <a:latin typeface="Calibri Light"/>
                <a:cs typeface="Calibri Light"/>
              </a:rPr>
              <a:t> </a:t>
            </a:r>
            <a:r>
              <a:rPr spc="-25" dirty="0">
                <a:solidFill>
                  <a:srgbClr val="000000"/>
                </a:solidFill>
                <a:latin typeface="Calibri Light"/>
                <a:cs typeface="Calibri Light"/>
              </a:rPr>
              <a:t>16</a:t>
            </a:r>
          </a:p>
        </p:txBody>
      </p:sp>
      <p:pic>
        <p:nvPicPr>
          <p:cNvPr id="6" name="Picture 5">
            <a:extLst>
              <a:ext uri="{FF2B5EF4-FFF2-40B4-BE49-F238E27FC236}">
                <a16:creationId xmlns:a16="http://schemas.microsoft.com/office/drawing/2014/main" id="{74460576-90B0-FE52-2B8D-D4FCB45098C1}"/>
              </a:ext>
            </a:extLst>
          </p:cNvPr>
          <p:cNvPicPr>
            <a:picLocks noChangeAspect="1"/>
          </p:cNvPicPr>
          <p:nvPr/>
        </p:nvPicPr>
        <p:blipFill>
          <a:blip r:embed="rId2"/>
          <a:stretch>
            <a:fillRect/>
          </a:stretch>
        </p:blipFill>
        <p:spPr>
          <a:xfrm>
            <a:off x="279400" y="320675"/>
            <a:ext cx="6705600" cy="351721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98372" y="839469"/>
            <a:ext cx="5969635" cy="4408899"/>
          </a:xfrm>
          <a:prstGeom prst="rect">
            <a:avLst/>
          </a:prstGeom>
        </p:spPr>
        <p:txBody>
          <a:bodyPr vert="horz" wrap="square" lIns="0" tIns="12700" rIns="0" bIns="0" rtlCol="0">
            <a:spAutoFit/>
          </a:bodyPr>
          <a:lstStyle/>
          <a:p>
            <a:pPr algn="ctr">
              <a:lnSpc>
                <a:spcPct val="100000"/>
              </a:lnSpc>
              <a:spcBef>
                <a:spcPts val="100"/>
              </a:spcBef>
            </a:pPr>
            <a:r>
              <a:rPr sz="1500" b="1" dirty="0">
                <a:latin typeface="Times New Roman"/>
                <a:cs typeface="Times New Roman"/>
              </a:rPr>
              <a:t>CHAPTER</a:t>
            </a:r>
            <a:r>
              <a:rPr sz="1500" b="1" spc="-40" dirty="0">
                <a:latin typeface="Times New Roman"/>
                <a:cs typeface="Times New Roman"/>
              </a:rPr>
              <a:t> </a:t>
            </a:r>
            <a:r>
              <a:rPr sz="1500" b="1" dirty="0">
                <a:latin typeface="Times New Roman"/>
                <a:cs typeface="Times New Roman"/>
              </a:rPr>
              <a:t>9:</a:t>
            </a:r>
            <a:r>
              <a:rPr sz="1500" b="1" spc="-30" dirty="0">
                <a:latin typeface="Times New Roman"/>
                <a:cs typeface="Times New Roman"/>
              </a:rPr>
              <a:t> </a:t>
            </a:r>
            <a:r>
              <a:rPr sz="1500" b="1" spc="-10" dirty="0">
                <a:latin typeface="Times New Roman"/>
                <a:cs typeface="Times New Roman"/>
              </a:rPr>
              <a:t>DEPLOYMENT</a:t>
            </a:r>
            <a:endParaRPr sz="1500" dirty="0">
              <a:latin typeface="Times New Roman"/>
              <a:cs typeface="Times New Roman"/>
            </a:endParaRPr>
          </a:p>
          <a:p>
            <a:pPr marL="259079" lvl="1" indent="-246379" algn="just">
              <a:lnSpc>
                <a:spcPct val="100000"/>
              </a:lnSpc>
              <a:spcBef>
                <a:spcPts val="1245"/>
              </a:spcBef>
              <a:buAutoNum type="arabicPeriod"/>
              <a:tabLst>
                <a:tab pos="259079" algn="l"/>
              </a:tabLst>
            </a:pPr>
            <a:r>
              <a:rPr sz="1300" b="1" dirty="0">
                <a:latin typeface="Times New Roman"/>
                <a:cs typeface="Times New Roman"/>
              </a:rPr>
              <a:t>Steps</a:t>
            </a:r>
            <a:r>
              <a:rPr sz="1300" b="1" spc="-20" dirty="0">
                <a:latin typeface="Times New Roman"/>
                <a:cs typeface="Times New Roman"/>
              </a:rPr>
              <a:t> </a:t>
            </a:r>
            <a:r>
              <a:rPr sz="1300" b="1" dirty="0">
                <a:latin typeface="Times New Roman"/>
                <a:cs typeface="Times New Roman"/>
              </a:rPr>
              <a:t>to</a:t>
            </a:r>
            <a:r>
              <a:rPr sz="1300" b="1" spc="-25" dirty="0">
                <a:latin typeface="Times New Roman"/>
                <a:cs typeface="Times New Roman"/>
              </a:rPr>
              <a:t> </a:t>
            </a:r>
            <a:r>
              <a:rPr sz="1300" b="1" spc="-10" dirty="0">
                <a:latin typeface="Times New Roman"/>
                <a:cs typeface="Times New Roman"/>
              </a:rPr>
              <a:t>Deploy</a:t>
            </a:r>
            <a:endParaRPr sz="1300" dirty="0">
              <a:latin typeface="Times New Roman"/>
              <a:cs typeface="Times New Roman"/>
            </a:endParaRPr>
          </a:p>
          <a:p>
            <a:pPr marL="12700" algn="just">
              <a:lnSpc>
                <a:spcPct val="100000"/>
              </a:lnSpc>
              <a:spcBef>
                <a:spcPts val="600"/>
              </a:spcBef>
            </a:pPr>
            <a:r>
              <a:rPr sz="1200" dirty="0">
                <a:latin typeface="Times New Roman"/>
                <a:cs typeface="Times New Roman"/>
              </a:rPr>
              <a:t>The</a:t>
            </a:r>
            <a:r>
              <a:rPr sz="1200" spc="-40" dirty="0">
                <a:latin typeface="Times New Roman"/>
                <a:cs typeface="Times New Roman"/>
              </a:rPr>
              <a:t> </a:t>
            </a:r>
            <a:r>
              <a:rPr sz="1200" dirty="0">
                <a:latin typeface="Times New Roman"/>
                <a:cs typeface="Times New Roman"/>
              </a:rPr>
              <a:t>application</a:t>
            </a:r>
            <a:r>
              <a:rPr sz="1200" spc="-30" dirty="0">
                <a:latin typeface="Times New Roman"/>
                <a:cs typeface="Times New Roman"/>
              </a:rPr>
              <a:t> </a:t>
            </a:r>
            <a:r>
              <a:rPr sz="1200" dirty="0">
                <a:latin typeface="Times New Roman"/>
                <a:cs typeface="Times New Roman"/>
              </a:rPr>
              <a:t>is</a:t>
            </a:r>
            <a:r>
              <a:rPr sz="1200" spc="-30" dirty="0">
                <a:latin typeface="Times New Roman"/>
                <a:cs typeface="Times New Roman"/>
              </a:rPr>
              <a:t> </a:t>
            </a:r>
            <a:r>
              <a:rPr sz="1200" dirty="0">
                <a:latin typeface="Times New Roman"/>
                <a:cs typeface="Times New Roman"/>
              </a:rPr>
              <a:t>deployed</a:t>
            </a:r>
            <a:r>
              <a:rPr sz="1200" spc="-25" dirty="0">
                <a:latin typeface="Times New Roman"/>
                <a:cs typeface="Times New Roman"/>
              </a:rPr>
              <a:t> </a:t>
            </a:r>
            <a:r>
              <a:rPr sz="1200" dirty="0">
                <a:latin typeface="Times New Roman"/>
                <a:cs typeface="Times New Roman"/>
              </a:rPr>
              <a:t>locally</a:t>
            </a:r>
            <a:r>
              <a:rPr sz="1200" spc="-55" dirty="0">
                <a:latin typeface="Times New Roman"/>
                <a:cs typeface="Times New Roman"/>
              </a:rPr>
              <a:t> </a:t>
            </a:r>
            <a:r>
              <a:rPr sz="1200" dirty="0">
                <a:latin typeface="Times New Roman"/>
                <a:cs typeface="Times New Roman"/>
              </a:rPr>
              <a:t>for</a:t>
            </a:r>
            <a:r>
              <a:rPr sz="1200" spc="-35" dirty="0">
                <a:latin typeface="Times New Roman"/>
                <a:cs typeface="Times New Roman"/>
              </a:rPr>
              <a:t> </a:t>
            </a:r>
            <a:r>
              <a:rPr sz="1200" dirty="0">
                <a:latin typeface="Times New Roman"/>
                <a:cs typeface="Times New Roman"/>
              </a:rPr>
              <a:t>development</a:t>
            </a:r>
            <a:r>
              <a:rPr sz="1200" spc="-30"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demonstration</a:t>
            </a:r>
            <a:r>
              <a:rPr sz="1200" spc="-25" dirty="0">
                <a:latin typeface="Times New Roman"/>
                <a:cs typeface="Times New Roman"/>
              </a:rPr>
              <a:t> </a:t>
            </a:r>
            <a:r>
              <a:rPr sz="1200" dirty="0">
                <a:latin typeface="Times New Roman"/>
                <a:cs typeface="Times New Roman"/>
              </a:rPr>
              <a:t>as</a:t>
            </a:r>
            <a:r>
              <a:rPr sz="1200" spc="-30" dirty="0">
                <a:latin typeface="Times New Roman"/>
                <a:cs typeface="Times New Roman"/>
              </a:rPr>
              <a:t> </a:t>
            </a:r>
            <a:r>
              <a:rPr sz="1200" spc="-10" dirty="0">
                <a:latin typeface="Times New Roman"/>
                <a:cs typeface="Times New Roman"/>
              </a:rPr>
              <a:t>follows:</a:t>
            </a:r>
            <a:endParaRPr sz="1200" dirty="0">
              <a:latin typeface="Times New Roman"/>
              <a:cs typeface="Times New Roman"/>
            </a:endParaRPr>
          </a:p>
          <a:p>
            <a:pPr marL="304800" lvl="2" indent="-165735">
              <a:lnSpc>
                <a:spcPct val="100000"/>
              </a:lnSpc>
              <a:spcBef>
                <a:spcPts val="955"/>
              </a:spcBef>
              <a:buChar char="•"/>
              <a:tabLst>
                <a:tab pos="304800" algn="l"/>
              </a:tabLst>
            </a:pPr>
            <a:r>
              <a:rPr sz="1100" dirty="0">
                <a:latin typeface="Times New Roman"/>
                <a:cs typeface="Times New Roman"/>
              </a:rPr>
              <a:t>Load</a:t>
            </a:r>
            <a:r>
              <a:rPr sz="1100" spc="-5" dirty="0">
                <a:latin typeface="Times New Roman"/>
                <a:cs typeface="Times New Roman"/>
              </a:rPr>
              <a:t> </a:t>
            </a:r>
            <a:r>
              <a:rPr sz="1100" dirty="0">
                <a:latin typeface="Times New Roman"/>
                <a:cs typeface="Times New Roman"/>
              </a:rPr>
              <a:t>the</a:t>
            </a:r>
            <a:r>
              <a:rPr sz="1100" spc="-5" dirty="0">
                <a:latin typeface="Times New Roman"/>
                <a:cs typeface="Times New Roman"/>
              </a:rPr>
              <a:t> </a:t>
            </a:r>
            <a:r>
              <a:rPr sz="1100" dirty="0">
                <a:latin typeface="Times New Roman"/>
                <a:cs typeface="Times New Roman"/>
              </a:rPr>
              <a:t>schema</a:t>
            </a:r>
            <a:r>
              <a:rPr sz="1100" spc="-5" dirty="0">
                <a:latin typeface="Times New Roman"/>
                <a:cs typeface="Times New Roman"/>
              </a:rPr>
              <a:t> </a:t>
            </a:r>
            <a:r>
              <a:rPr sz="1100" dirty="0">
                <a:latin typeface="Times New Roman"/>
                <a:cs typeface="Times New Roman"/>
              </a:rPr>
              <a:t>and</a:t>
            </a:r>
            <a:r>
              <a:rPr sz="1100" spc="-5" dirty="0">
                <a:latin typeface="Times New Roman"/>
                <a:cs typeface="Times New Roman"/>
              </a:rPr>
              <a:t> </a:t>
            </a:r>
            <a:r>
              <a:rPr sz="1100" dirty="0">
                <a:latin typeface="Times New Roman"/>
                <a:cs typeface="Times New Roman"/>
              </a:rPr>
              <a:t>seed</a:t>
            </a:r>
            <a:r>
              <a:rPr sz="1100" spc="-15" dirty="0">
                <a:latin typeface="Times New Roman"/>
                <a:cs typeface="Times New Roman"/>
              </a:rPr>
              <a:t> </a:t>
            </a:r>
            <a:r>
              <a:rPr sz="1100" dirty="0">
                <a:latin typeface="Times New Roman"/>
                <a:cs typeface="Times New Roman"/>
              </a:rPr>
              <a:t>data:</a:t>
            </a:r>
            <a:r>
              <a:rPr sz="1100" spc="5" dirty="0">
                <a:latin typeface="Times New Roman"/>
                <a:cs typeface="Times New Roman"/>
              </a:rPr>
              <a:t> </a:t>
            </a:r>
            <a:r>
              <a:rPr sz="1100" dirty="0">
                <a:latin typeface="Times New Roman"/>
                <a:cs typeface="Times New Roman"/>
              </a:rPr>
              <a:t>mysql</a:t>
            </a:r>
            <a:r>
              <a:rPr sz="1100" spc="25" dirty="0">
                <a:latin typeface="Times New Roman"/>
                <a:cs typeface="Times New Roman"/>
              </a:rPr>
              <a:t> </a:t>
            </a:r>
            <a:r>
              <a:rPr sz="1100" spc="-25" dirty="0">
                <a:latin typeface="Times New Roman"/>
                <a:cs typeface="Times New Roman"/>
              </a:rPr>
              <a:t>-</a:t>
            </a:r>
            <a:r>
              <a:rPr sz="1100" dirty="0">
                <a:latin typeface="Times New Roman"/>
                <a:cs typeface="Times New Roman"/>
              </a:rPr>
              <a:t>u</a:t>
            </a:r>
            <a:r>
              <a:rPr sz="1100" spc="-5" dirty="0">
                <a:latin typeface="Times New Roman"/>
                <a:cs typeface="Times New Roman"/>
              </a:rPr>
              <a:t> </a:t>
            </a:r>
            <a:r>
              <a:rPr sz="1100" dirty="0">
                <a:latin typeface="Times New Roman"/>
                <a:cs typeface="Times New Roman"/>
              </a:rPr>
              <a:t>root </a:t>
            </a:r>
            <a:r>
              <a:rPr sz="1100" spc="-25" dirty="0">
                <a:latin typeface="Times New Roman"/>
                <a:cs typeface="Times New Roman"/>
              </a:rPr>
              <a:t>-</a:t>
            </a:r>
            <a:r>
              <a:rPr sz="1100" dirty="0">
                <a:latin typeface="Times New Roman"/>
                <a:cs typeface="Times New Roman"/>
              </a:rPr>
              <a:t>p</a:t>
            </a:r>
            <a:r>
              <a:rPr sz="1100" spc="-5" dirty="0">
                <a:latin typeface="Times New Roman"/>
                <a:cs typeface="Times New Roman"/>
              </a:rPr>
              <a:t> </a:t>
            </a:r>
            <a:r>
              <a:rPr sz="1100" dirty="0">
                <a:latin typeface="Times New Roman"/>
                <a:cs typeface="Times New Roman"/>
              </a:rPr>
              <a:t>&lt; database/schema.sql,</a:t>
            </a:r>
            <a:r>
              <a:rPr sz="1100" spc="-20" dirty="0">
                <a:latin typeface="Times New Roman"/>
                <a:cs typeface="Times New Roman"/>
              </a:rPr>
              <a:t> </a:t>
            </a:r>
            <a:r>
              <a:rPr sz="1100" dirty="0">
                <a:latin typeface="Times New Roman"/>
                <a:cs typeface="Times New Roman"/>
              </a:rPr>
              <a:t>then</a:t>
            </a:r>
            <a:r>
              <a:rPr sz="1100" spc="-15" dirty="0">
                <a:latin typeface="Times New Roman"/>
                <a:cs typeface="Times New Roman"/>
              </a:rPr>
              <a:t> </a:t>
            </a:r>
            <a:r>
              <a:rPr sz="1100" dirty="0">
                <a:latin typeface="Times New Roman"/>
                <a:cs typeface="Times New Roman"/>
              </a:rPr>
              <a:t>...</a:t>
            </a:r>
            <a:r>
              <a:rPr sz="1100" spc="-5" dirty="0">
                <a:latin typeface="Times New Roman"/>
                <a:cs typeface="Times New Roman"/>
              </a:rPr>
              <a:t> </a:t>
            </a:r>
            <a:r>
              <a:rPr sz="1100" dirty="0">
                <a:latin typeface="Times New Roman"/>
                <a:cs typeface="Times New Roman"/>
              </a:rPr>
              <a:t>&lt;</a:t>
            </a:r>
            <a:r>
              <a:rPr sz="1100" spc="-5" dirty="0">
                <a:latin typeface="Times New Roman"/>
                <a:cs typeface="Times New Roman"/>
              </a:rPr>
              <a:t> </a:t>
            </a:r>
            <a:r>
              <a:rPr sz="1100" spc="-10" dirty="0">
                <a:latin typeface="Times New Roman"/>
                <a:cs typeface="Times New Roman"/>
              </a:rPr>
              <a:t>database/seed.sql</a:t>
            </a:r>
            <a:endParaRPr sz="1100" dirty="0">
              <a:latin typeface="Times New Roman"/>
              <a:cs typeface="Times New Roman"/>
            </a:endParaRPr>
          </a:p>
          <a:p>
            <a:pPr marL="304800" lvl="2" indent="-165735">
              <a:lnSpc>
                <a:spcPct val="100000"/>
              </a:lnSpc>
              <a:spcBef>
                <a:spcPts val="540"/>
              </a:spcBef>
              <a:buChar char="•"/>
              <a:tabLst>
                <a:tab pos="304800" algn="l"/>
              </a:tabLst>
            </a:pPr>
            <a:r>
              <a:rPr sz="1100" dirty="0">
                <a:latin typeface="Times New Roman"/>
                <a:cs typeface="Times New Roman"/>
              </a:rPr>
              <a:t>Start the</a:t>
            </a:r>
            <a:r>
              <a:rPr sz="1100" spc="-5" dirty="0">
                <a:latin typeface="Times New Roman"/>
                <a:cs typeface="Times New Roman"/>
              </a:rPr>
              <a:t> </a:t>
            </a:r>
            <a:r>
              <a:rPr sz="1100" dirty="0">
                <a:latin typeface="Times New Roman"/>
                <a:cs typeface="Times New Roman"/>
              </a:rPr>
              <a:t>backend:</a:t>
            </a:r>
            <a:r>
              <a:rPr sz="1100" spc="-10" dirty="0">
                <a:latin typeface="Times New Roman"/>
                <a:cs typeface="Times New Roman"/>
              </a:rPr>
              <a:t> </a:t>
            </a:r>
            <a:r>
              <a:rPr sz="1100" dirty="0">
                <a:latin typeface="Times New Roman"/>
                <a:cs typeface="Times New Roman"/>
              </a:rPr>
              <a:t>cd</a:t>
            </a:r>
            <a:r>
              <a:rPr sz="1100" spc="-5" dirty="0">
                <a:latin typeface="Times New Roman"/>
                <a:cs typeface="Times New Roman"/>
              </a:rPr>
              <a:t> </a:t>
            </a:r>
            <a:r>
              <a:rPr sz="1100" dirty="0">
                <a:latin typeface="Times New Roman"/>
                <a:cs typeface="Times New Roman"/>
              </a:rPr>
              <a:t>server, npm</a:t>
            </a:r>
            <a:r>
              <a:rPr sz="1100" spc="-25" dirty="0">
                <a:latin typeface="Times New Roman"/>
                <a:cs typeface="Times New Roman"/>
              </a:rPr>
              <a:t> </a:t>
            </a:r>
            <a:r>
              <a:rPr sz="1100" dirty="0">
                <a:latin typeface="Times New Roman"/>
                <a:cs typeface="Times New Roman"/>
              </a:rPr>
              <a:t>install,</a:t>
            </a:r>
            <a:r>
              <a:rPr sz="1100" spc="-15" dirty="0">
                <a:latin typeface="Times New Roman"/>
                <a:cs typeface="Times New Roman"/>
              </a:rPr>
              <a:t> </a:t>
            </a:r>
            <a:r>
              <a:rPr sz="1100" dirty="0">
                <a:latin typeface="Times New Roman"/>
                <a:cs typeface="Times New Roman"/>
              </a:rPr>
              <a:t>npm</a:t>
            </a:r>
            <a:r>
              <a:rPr sz="1100" spc="-25" dirty="0">
                <a:latin typeface="Times New Roman"/>
                <a:cs typeface="Times New Roman"/>
              </a:rPr>
              <a:t> </a:t>
            </a:r>
            <a:r>
              <a:rPr sz="1100" dirty="0">
                <a:latin typeface="Times New Roman"/>
                <a:cs typeface="Times New Roman"/>
              </a:rPr>
              <a:t>run dev</a:t>
            </a:r>
            <a:r>
              <a:rPr sz="1100" spc="-15" dirty="0">
                <a:latin typeface="Times New Roman"/>
                <a:cs typeface="Times New Roman"/>
              </a:rPr>
              <a:t> </a:t>
            </a:r>
            <a:r>
              <a:rPr sz="1100" dirty="0">
                <a:latin typeface="Times New Roman"/>
                <a:cs typeface="Times New Roman"/>
              </a:rPr>
              <a:t>(listens</a:t>
            </a:r>
            <a:r>
              <a:rPr sz="1100" spc="-5" dirty="0">
                <a:latin typeface="Times New Roman"/>
                <a:cs typeface="Times New Roman"/>
              </a:rPr>
              <a:t> </a:t>
            </a:r>
            <a:r>
              <a:rPr sz="1100" dirty="0">
                <a:latin typeface="Times New Roman"/>
                <a:cs typeface="Times New Roman"/>
              </a:rPr>
              <a:t>on port </a:t>
            </a:r>
            <a:r>
              <a:rPr sz="1100" spc="-10" dirty="0">
                <a:latin typeface="Times New Roman"/>
                <a:cs typeface="Times New Roman"/>
              </a:rPr>
              <a:t>5000)</a:t>
            </a:r>
            <a:endParaRPr sz="1100" dirty="0">
              <a:latin typeface="Times New Roman"/>
              <a:cs typeface="Times New Roman"/>
            </a:endParaRPr>
          </a:p>
          <a:p>
            <a:pPr marL="304800" lvl="2" indent="-165735">
              <a:lnSpc>
                <a:spcPct val="100000"/>
              </a:lnSpc>
              <a:spcBef>
                <a:spcPts val="540"/>
              </a:spcBef>
              <a:buChar char="•"/>
              <a:tabLst>
                <a:tab pos="304800" algn="l"/>
              </a:tabLst>
            </a:pPr>
            <a:r>
              <a:rPr sz="1100" dirty="0">
                <a:latin typeface="Times New Roman"/>
                <a:cs typeface="Times New Roman"/>
              </a:rPr>
              <a:t>Start the frontend: cd client, npm</a:t>
            </a:r>
            <a:r>
              <a:rPr sz="1100" spc="-25" dirty="0">
                <a:latin typeface="Times New Roman"/>
                <a:cs typeface="Times New Roman"/>
              </a:rPr>
              <a:t> </a:t>
            </a:r>
            <a:r>
              <a:rPr sz="1100" dirty="0">
                <a:latin typeface="Times New Roman"/>
                <a:cs typeface="Times New Roman"/>
              </a:rPr>
              <a:t>install,</a:t>
            </a:r>
            <a:r>
              <a:rPr sz="1100" spc="-15" dirty="0">
                <a:latin typeface="Times New Roman"/>
                <a:cs typeface="Times New Roman"/>
              </a:rPr>
              <a:t> </a:t>
            </a:r>
            <a:r>
              <a:rPr sz="1100" dirty="0">
                <a:latin typeface="Times New Roman"/>
                <a:cs typeface="Times New Roman"/>
              </a:rPr>
              <a:t>npm</a:t>
            </a:r>
            <a:r>
              <a:rPr sz="1100" spc="-25" dirty="0">
                <a:latin typeface="Times New Roman"/>
                <a:cs typeface="Times New Roman"/>
              </a:rPr>
              <a:t> </a:t>
            </a:r>
            <a:r>
              <a:rPr sz="1100" dirty="0">
                <a:latin typeface="Times New Roman"/>
                <a:cs typeface="Times New Roman"/>
              </a:rPr>
              <a:t>run dev</a:t>
            </a:r>
            <a:r>
              <a:rPr sz="1100" spc="-10" dirty="0">
                <a:latin typeface="Times New Roman"/>
                <a:cs typeface="Times New Roman"/>
              </a:rPr>
              <a:t> </a:t>
            </a:r>
            <a:r>
              <a:rPr sz="1100" dirty="0">
                <a:latin typeface="Times New Roman"/>
                <a:cs typeface="Times New Roman"/>
              </a:rPr>
              <a:t>(listens</a:t>
            </a:r>
            <a:r>
              <a:rPr sz="1100" spc="-5" dirty="0">
                <a:latin typeface="Times New Roman"/>
                <a:cs typeface="Times New Roman"/>
              </a:rPr>
              <a:t> </a:t>
            </a:r>
            <a:r>
              <a:rPr sz="1100" dirty="0">
                <a:latin typeface="Times New Roman"/>
                <a:cs typeface="Times New Roman"/>
              </a:rPr>
              <a:t>on port</a:t>
            </a:r>
            <a:r>
              <a:rPr sz="1100" spc="5" dirty="0">
                <a:latin typeface="Times New Roman"/>
                <a:cs typeface="Times New Roman"/>
              </a:rPr>
              <a:t> </a:t>
            </a:r>
            <a:r>
              <a:rPr sz="1100" spc="-10" dirty="0">
                <a:latin typeface="Times New Roman"/>
                <a:cs typeface="Times New Roman"/>
              </a:rPr>
              <a:t>5173)</a:t>
            </a:r>
            <a:endParaRPr sz="1100" dirty="0">
              <a:latin typeface="Times New Roman"/>
              <a:cs typeface="Times New Roman"/>
            </a:endParaRPr>
          </a:p>
          <a:p>
            <a:pPr marL="304800" lvl="2" indent="-165735">
              <a:lnSpc>
                <a:spcPct val="100000"/>
              </a:lnSpc>
              <a:spcBef>
                <a:spcPts val="550"/>
              </a:spcBef>
              <a:buChar char="•"/>
              <a:tabLst>
                <a:tab pos="304800" algn="l"/>
              </a:tabLst>
            </a:pPr>
            <a:r>
              <a:rPr sz="1100" dirty="0">
                <a:latin typeface="Times New Roman"/>
                <a:cs typeface="Times New Roman"/>
              </a:rPr>
              <a:t>Open</a:t>
            </a:r>
            <a:r>
              <a:rPr sz="1100" spc="-10" dirty="0">
                <a:latin typeface="Times New Roman"/>
                <a:cs typeface="Times New Roman"/>
              </a:rPr>
              <a:t> </a:t>
            </a:r>
            <a:r>
              <a:rPr sz="1100" dirty="0">
                <a:latin typeface="Times New Roman"/>
                <a:cs typeface="Times New Roman"/>
                <a:hlinkClick r:id="rId2"/>
              </a:rPr>
              <a:t>http://localhost:5173</a:t>
            </a:r>
            <a:r>
              <a:rPr sz="1100" spc="-25" dirty="0">
                <a:latin typeface="Times New Roman"/>
                <a:cs typeface="Times New Roman"/>
              </a:rPr>
              <a:t> </a:t>
            </a:r>
            <a:r>
              <a:rPr sz="1100" dirty="0">
                <a:latin typeface="Times New Roman"/>
                <a:cs typeface="Times New Roman"/>
              </a:rPr>
              <a:t>in</a:t>
            </a:r>
            <a:r>
              <a:rPr sz="1100" spc="-5" dirty="0">
                <a:latin typeface="Times New Roman"/>
                <a:cs typeface="Times New Roman"/>
              </a:rPr>
              <a:t> </a:t>
            </a:r>
            <a:r>
              <a:rPr sz="1100" dirty="0">
                <a:latin typeface="Times New Roman"/>
                <a:cs typeface="Times New Roman"/>
              </a:rPr>
              <a:t>a</a:t>
            </a:r>
            <a:r>
              <a:rPr sz="1100" spc="-10" dirty="0">
                <a:latin typeface="Times New Roman"/>
                <a:cs typeface="Times New Roman"/>
              </a:rPr>
              <a:t> </a:t>
            </a:r>
            <a:r>
              <a:rPr sz="1100" dirty="0">
                <a:latin typeface="Times New Roman"/>
                <a:cs typeface="Times New Roman"/>
              </a:rPr>
              <a:t>browser</a:t>
            </a:r>
            <a:r>
              <a:rPr sz="1100" spc="-10" dirty="0">
                <a:latin typeface="Times New Roman"/>
                <a:cs typeface="Times New Roman"/>
              </a:rPr>
              <a:t> </a:t>
            </a:r>
            <a:r>
              <a:rPr sz="1100" dirty="0">
                <a:latin typeface="Times New Roman"/>
                <a:cs typeface="Times New Roman"/>
              </a:rPr>
              <a:t>and</a:t>
            </a:r>
            <a:r>
              <a:rPr sz="1100" spc="-10" dirty="0">
                <a:latin typeface="Times New Roman"/>
                <a:cs typeface="Times New Roman"/>
              </a:rPr>
              <a:t> </a:t>
            </a:r>
            <a:r>
              <a:rPr sz="1100" dirty="0">
                <a:latin typeface="Times New Roman"/>
                <a:cs typeface="Times New Roman"/>
              </a:rPr>
              <a:t>log</a:t>
            </a:r>
            <a:r>
              <a:rPr sz="1100" spc="-20" dirty="0">
                <a:latin typeface="Times New Roman"/>
                <a:cs typeface="Times New Roman"/>
              </a:rPr>
              <a:t> </a:t>
            </a:r>
            <a:r>
              <a:rPr sz="1100" dirty="0">
                <a:latin typeface="Times New Roman"/>
                <a:cs typeface="Times New Roman"/>
              </a:rPr>
              <a:t>in</a:t>
            </a:r>
            <a:r>
              <a:rPr sz="1100" spc="-10" dirty="0">
                <a:latin typeface="Times New Roman"/>
                <a:cs typeface="Times New Roman"/>
              </a:rPr>
              <a:t> </a:t>
            </a:r>
            <a:r>
              <a:rPr sz="1100" dirty="0">
                <a:latin typeface="Times New Roman"/>
                <a:cs typeface="Times New Roman"/>
              </a:rPr>
              <a:t>with</a:t>
            </a:r>
            <a:r>
              <a:rPr sz="1100" spc="-10" dirty="0">
                <a:latin typeface="Times New Roman"/>
                <a:cs typeface="Times New Roman"/>
              </a:rPr>
              <a:t> </a:t>
            </a:r>
            <a:r>
              <a:rPr sz="1100" dirty="0">
                <a:latin typeface="Times New Roman"/>
                <a:cs typeface="Times New Roman"/>
              </a:rPr>
              <a:t>a</a:t>
            </a:r>
            <a:r>
              <a:rPr sz="1100" spc="-5" dirty="0">
                <a:latin typeface="Times New Roman"/>
                <a:cs typeface="Times New Roman"/>
              </a:rPr>
              <a:t> </a:t>
            </a:r>
            <a:r>
              <a:rPr sz="1100" dirty="0">
                <a:latin typeface="Times New Roman"/>
                <a:cs typeface="Times New Roman"/>
              </a:rPr>
              <a:t>seeded</a:t>
            </a:r>
            <a:r>
              <a:rPr sz="1100" spc="-25" dirty="0">
                <a:latin typeface="Times New Roman"/>
                <a:cs typeface="Times New Roman"/>
              </a:rPr>
              <a:t> </a:t>
            </a:r>
            <a:r>
              <a:rPr sz="1100" spc="-10" dirty="0">
                <a:latin typeface="Times New Roman"/>
                <a:cs typeface="Times New Roman"/>
              </a:rPr>
              <a:t>account</a:t>
            </a:r>
            <a:endParaRPr sz="1100" dirty="0">
              <a:latin typeface="Times New Roman"/>
              <a:cs typeface="Times New Roman"/>
            </a:endParaRPr>
          </a:p>
          <a:p>
            <a:pPr>
              <a:lnSpc>
                <a:spcPct val="100000"/>
              </a:lnSpc>
              <a:spcBef>
                <a:spcPts val="45"/>
              </a:spcBef>
            </a:pPr>
            <a:endParaRPr sz="1100" dirty="0">
              <a:latin typeface="Times New Roman"/>
              <a:cs typeface="Times New Roman"/>
            </a:endParaRPr>
          </a:p>
          <a:p>
            <a:pPr marL="12700" algn="just">
              <a:lnSpc>
                <a:spcPct val="100000"/>
              </a:lnSpc>
              <a:spcBef>
                <a:spcPts val="5"/>
              </a:spcBef>
            </a:pPr>
            <a:r>
              <a:rPr sz="1300" b="1" dirty="0">
                <a:latin typeface="Times New Roman"/>
                <a:cs typeface="Times New Roman"/>
              </a:rPr>
              <a:t>9.2</a:t>
            </a:r>
            <a:r>
              <a:rPr sz="1300" b="1" spc="-50" dirty="0">
                <a:latin typeface="Times New Roman"/>
                <a:cs typeface="Times New Roman"/>
              </a:rPr>
              <a:t> </a:t>
            </a:r>
            <a:r>
              <a:rPr sz="1300" b="1" dirty="0">
                <a:latin typeface="Times New Roman"/>
                <a:cs typeface="Times New Roman"/>
              </a:rPr>
              <a:t>Environment</a:t>
            </a:r>
            <a:r>
              <a:rPr sz="1300" b="1" spc="-30" dirty="0">
                <a:latin typeface="Times New Roman"/>
                <a:cs typeface="Times New Roman"/>
              </a:rPr>
              <a:t> </a:t>
            </a:r>
            <a:r>
              <a:rPr sz="1300" b="1" spc="-10" dirty="0">
                <a:latin typeface="Times New Roman"/>
                <a:cs typeface="Times New Roman"/>
              </a:rPr>
              <a:t>Configuration</a:t>
            </a:r>
            <a:endParaRPr sz="1300" dirty="0">
              <a:latin typeface="Times New Roman"/>
              <a:cs typeface="Times New Roman"/>
            </a:endParaRPr>
          </a:p>
          <a:p>
            <a:pPr marL="12700" marR="6985" algn="just">
              <a:lnSpc>
                <a:spcPct val="100000"/>
              </a:lnSpc>
              <a:spcBef>
                <a:spcPts val="459"/>
              </a:spcBef>
            </a:pPr>
            <a:r>
              <a:rPr lang="en-IN" sz="1200" dirty="0">
                <a:latin typeface="Times New Roman" panose="02020603050405020304" pitchFamily="18" charset="0"/>
                <a:cs typeface="Times New Roman" panose="02020603050405020304" pitchFamily="18" charset="0"/>
              </a:rPr>
              <a:t>The backend configuration is maintained using a .env file. It contains configuration values such as the MySQL database host, username, password, database name, backend port, JWT secret, fine-per-day value, and frontend URL. Sensitive credentials and secret keys should not be exposed or committed to the project repository.</a:t>
            </a:r>
            <a:endParaRPr sz="1200" dirty="0">
              <a:latin typeface="Times New Roman" panose="02020603050405020304" pitchFamily="18" charset="0"/>
              <a:cs typeface="Times New Roman" panose="02020603050405020304" pitchFamily="18" charset="0"/>
            </a:endParaRPr>
          </a:p>
          <a:p>
            <a:pPr marL="12700" algn="just">
              <a:lnSpc>
                <a:spcPct val="100000"/>
              </a:lnSpc>
              <a:spcBef>
                <a:spcPts val="1375"/>
              </a:spcBef>
            </a:pPr>
            <a:r>
              <a:rPr sz="1300" b="1" dirty="0">
                <a:latin typeface="Times New Roman"/>
                <a:cs typeface="Times New Roman"/>
              </a:rPr>
              <a:t>9.3</a:t>
            </a:r>
            <a:r>
              <a:rPr sz="1300" b="1" spc="-30" dirty="0">
                <a:latin typeface="Times New Roman"/>
                <a:cs typeface="Times New Roman"/>
              </a:rPr>
              <a:t> </a:t>
            </a:r>
            <a:r>
              <a:rPr sz="1300" b="1" dirty="0">
                <a:latin typeface="Times New Roman"/>
                <a:cs typeface="Times New Roman"/>
              </a:rPr>
              <a:t>Hosting</a:t>
            </a:r>
            <a:r>
              <a:rPr sz="1300" b="1" spc="-30" dirty="0">
                <a:latin typeface="Times New Roman"/>
                <a:cs typeface="Times New Roman"/>
              </a:rPr>
              <a:t> </a:t>
            </a:r>
            <a:r>
              <a:rPr sz="1300" b="1" dirty="0">
                <a:latin typeface="Times New Roman"/>
                <a:cs typeface="Times New Roman"/>
              </a:rPr>
              <a:t>of</a:t>
            </a:r>
            <a:r>
              <a:rPr sz="1300" b="1" spc="-25" dirty="0">
                <a:latin typeface="Times New Roman"/>
                <a:cs typeface="Times New Roman"/>
              </a:rPr>
              <a:t> </a:t>
            </a:r>
            <a:r>
              <a:rPr sz="1300" b="1" dirty="0">
                <a:latin typeface="Times New Roman"/>
                <a:cs typeface="Times New Roman"/>
              </a:rPr>
              <a:t>Frontend</a:t>
            </a:r>
            <a:r>
              <a:rPr sz="1300" b="1" spc="-30" dirty="0">
                <a:latin typeface="Times New Roman"/>
                <a:cs typeface="Times New Roman"/>
              </a:rPr>
              <a:t> </a:t>
            </a:r>
            <a:r>
              <a:rPr sz="1300" b="1" dirty="0">
                <a:latin typeface="Times New Roman"/>
                <a:cs typeface="Times New Roman"/>
              </a:rPr>
              <a:t>and</a:t>
            </a:r>
            <a:r>
              <a:rPr sz="1300" b="1" spc="-15" dirty="0">
                <a:latin typeface="Times New Roman"/>
                <a:cs typeface="Times New Roman"/>
              </a:rPr>
              <a:t> </a:t>
            </a:r>
            <a:r>
              <a:rPr sz="1300" b="1" spc="-10" dirty="0">
                <a:latin typeface="Times New Roman"/>
                <a:cs typeface="Times New Roman"/>
              </a:rPr>
              <a:t>Backend</a:t>
            </a:r>
            <a:endParaRPr sz="1300" dirty="0">
              <a:latin typeface="Times New Roman"/>
              <a:cs typeface="Times New Roman"/>
            </a:endParaRPr>
          </a:p>
          <a:p>
            <a:pPr marL="12700" marR="5080" algn="just">
              <a:lnSpc>
                <a:spcPct val="100000"/>
              </a:lnSpc>
              <a:spcBef>
                <a:spcPts val="455"/>
              </a:spcBef>
            </a:pPr>
            <a:r>
              <a:rPr lang="en-IN" sz="1200" dirty="0">
                <a:latin typeface="Times New Roman" panose="02020603050405020304" pitchFamily="18" charset="0"/>
                <a:cs typeface="Times New Roman" panose="02020603050405020304" pitchFamily="18" charset="0"/>
              </a:rPr>
              <a:t>For this project, the </a:t>
            </a:r>
            <a:r>
              <a:rPr lang="en-IN" sz="1200" b="1" dirty="0">
                <a:latin typeface="Times New Roman" panose="02020603050405020304" pitchFamily="18" charset="0"/>
                <a:cs typeface="Times New Roman" panose="02020603050405020304" pitchFamily="18" charset="0"/>
              </a:rPr>
              <a:t>React frontend</a:t>
            </a:r>
            <a:r>
              <a:rPr lang="en-IN" sz="1200" dirty="0">
                <a:latin typeface="Times New Roman" panose="02020603050405020304" pitchFamily="18" charset="0"/>
                <a:cs typeface="Times New Roman" panose="02020603050405020304" pitchFamily="18" charset="0"/>
              </a:rPr>
              <a:t>, </a:t>
            </a:r>
            <a:r>
              <a:rPr lang="en-IN" sz="1200" b="1" dirty="0">
                <a:latin typeface="Times New Roman" panose="02020603050405020304" pitchFamily="18" charset="0"/>
                <a:cs typeface="Times New Roman" panose="02020603050405020304" pitchFamily="18" charset="0"/>
              </a:rPr>
              <a:t>Node.js and Express.js backend</a:t>
            </a:r>
            <a:r>
              <a:rPr lang="en-IN" sz="1200" dirty="0">
                <a:latin typeface="Times New Roman" panose="02020603050405020304" pitchFamily="18" charset="0"/>
                <a:cs typeface="Times New Roman" panose="02020603050405020304" pitchFamily="18" charset="0"/>
              </a:rPr>
              <a:t>, and </a:t>
            </a:r>
            <a:r>
              <a:rPr lang="en-IN" sz="1200" b="1" dirty="0">
                <a:latin typeface="Times New Roman" panose="02020603050405020304" pitchFamily="18" charset="0"/>
                <a:cs typeface="Times New Roman" panose="02020603050405020304" pitchFamily="18" charset="0"/>
              </a:rPr>
              <a:t>MySQL database</a:t>
            </a:r>
            <a:r>
              <a:rPr lang="en-IN" sz="1200" dirty="0">
                <a:latin typeface="Times New Roman" panose="02020603050405020304" pitchFamily="18" charset="0"/>
                <a:cs typeface="Times New Roman" panose="02020603050405020304" pitchFamily="18" charset="0"/>
              </a:rPr>
              <a:t> run locally for development and demonstration. The frontend communicates with the backend through REST APIs, while the backend connects to the MySQL database using mysql2. A production or cloud deployment is outside the current implementation and can be considered as a future enhancement. </a:t>
            </a:r>
            <a:r>
              <a:rPr sz="1200" spc="-10" dirty="0">
                <a:latin typeface="Times New Roman" panose="02020603050405020304" pitchFamily="18" charset="0"/>
                <a:cs typeface="Times New Roman" panose="02020603050405020304" pitchFamily="18" charset="0"/>
              </a:rPr>
              <a:t>.</a:t>
            </a:r>
            <a:endParaRPr sz="1200" dirty="0">
              <a:latin typeface="Times New Roman" panose="02020603050405020304" pitchFamily="18" charset="0"/>
              <a:cs typeface="Times New Roman" panose="02020603050405020304" pitchFamily="18" charset="0"/>
            </a:endParaRPr>
          </a:p>
        </p:txBody>
      </p:sp>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32384">
              <a:lnSpc>
                <a:spcPts val="1150"/>
              </a:lnSpc>
            </a:pPr>
            <a:r>
              <a:rPr dirty="0">
                <a:solidFill>
                  <a:srgbClr val="000000"/>
                </a:solidFill>
                <a:latin typeface="Calibri Light"/>
                <a:cs typeface="Calibri Light"/>
              </a:rPr>
              <a:t>Page</a:t>
            </a:r>
            <a:r>
              <a:rPr spc="-45" dirty="0">
                <a:solidFill>
                  <a:srgbClr val="000000"/>
                </a:solidFill>
                <a:latin typeface="Calibri Light"/>
                <a:cs typeface="Calibri Light"/>
              </a:rPr>
              <a:t> </a:t>
            </a:r>
            <a:r>
              <a:rPr spc="-25" dirty="0">
                <a:solidFill>
                  <a:srgbClr val="000000"/>
                </a:solidFill>
                <a:latin typeface="Calibri Light"/>
                <a:cs typeface="Calibri Light"/>
              </a:rPr>
              <a:t>17</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96848" y="839469"/>
            <a:ext cx="5972810" cy="6019597"/>
          </a:xfrm>
          <a:prstGeom prst="rect">
            <a:avLst/>
          </a:prstGeom>
        </p:spPr>
        <p:txBody>
          <a:bodyPr vert="horz" wrap="square" lIns="0" tIns="12700" rIns="0" bIns="0" rtlCol="0">
            <a:spAutoFit/>
          </a:bodyPr>
          <a:lstStyle/>
          <a:p>
            <a:pPr algn="ctr">
              <a:lnSpc>
                <a:spcPct val="100000"/>
              </a:lnSpc>
              <a:spcBef>
                <a:spcPts val="100"/>
              </a:spcBef>
            </a:pPr>
            <a:r>
              <a:rPr sz="1500" b="1" dirty="0">
                <a:latin typeface="Times New Roman"/>
                <a:cs typeface="Times New Roman"/>
              </a:rPr>
              <a:t>CHAPTER</a:t>
            </a:r>
            <a:r>
              <a:rPr sz="1500" b="1" spc="-40" dirty="0">
                <a:latin typeface="Times New Roman"/>
                <a:cs typeface="Times New Roman"/>
              </a:rPr>
              <a:t> </a:t>
            </a:r>
            <a:r>
              <a:rPr sz="1500" b="1" dirty="0">
                <a:latin typeface="Times New Roman"/>
                <a:cs typeface="Times New Roman"/>
              </a:rPr>
              <a:t>10:</a:t>
            </a:r>
            <a:r>
              <a:rPr sz="1500" b="1" spc="-25" dirty="0">
                <a:latin typeface="Times New Roman"/>
                <a:cs typeface="Times New Roman"/>
              </a:rPr>
              <a:t> </a:t>
            </a:r>
            <a:r>
              <a:rPr sz="1500" b="1" dirty="0">
                <a:latin typeface="Times New Roman"/>
                <a:cs typeface="Times New Roman"/>
              </a:rPr>
              <a:t>CHALLENGES</a:t>
            </a:r>
            <a:r>
              <a:rPr sz="1500" b="1" spc="-25" dirty="0">
                <a:latin typeface="Times New Roman"/>
                <a:cs typeface="Times New Roman"/>
              </a:rPr>
              <a:t> </a:t>
            </a:r>
            <a:r>
              <a:rPr sz="1500" b="1" dirty="0">
                <a:latin typeface="Times New Roman"/>
                <a:cs typeface="Times New Roman"/>
              </a:rPr>
              <a:t>&amp;</a:t>
            </a:r>
            <a:r>
              <a:rPr sz="1500" b="1" spc="-25" dirty="0">
                <a:latin typeface="Times New Roman"/>
                <a:cs typeface="Times New Roman"/>
              </a:rPr>
              <a:t> </a:t>
            </a:r>
            <a:r>
              <a:rPr sz="1500" b="1" spc="-10" dirty="0">
                <a:latin typeface="Times New Roman"/>
                <a:cs typeface="Times New Roman"/>
              </a:rPr>
              <a:t>LIMITATIONS</a:t>
            </a:r>
            <a:endParaRPr sz="1500" dirty="0">
              <a:latin typeface="Times New Roman"/>
              <a:cs typeface="Times New Roman"/>
            </a:endParaRPr>
          </a:p>
          <a:p>
            <a:pPr marL="340995" lvl="1" indent="-328295" algn="just">
              <a:lnSpc>
                <a:spcPct val="100000"/>
              </a:lnSpc>
              <a:spcBef>
                <a:spcPts val="1245"/>
              </a:spcBef>
              <a:buAutoNum type="arabicPeriod"/>
              <a:tabLst>
                <a:tab pos="340995" algn="l"/>
              </a:tabLst>
            </a:pPr>
            <a:r>
              <a:rPr sz="1300" b="1" dirty="0">
                <a:latin typeface="Times New Roman"/>
                <a:cs typeface="Times New Roman"/>
              </a:rPr>
              <a:t>Issues</a:t>
            </a:r>
            <a:r>
              <a:rPr sz="1300" b="1" spc="-25" dirty="0">
                <a:latin typeface="Times New Roman"/>
                <a:cs typeface="Times New Roman"/>
              </a:rPr>
              <a:t> </a:t>
            </a:r>
            <a:r>
              <a:rPr sz="1300" b="1" dirty="0">
                <a:latin typeface="Times New Roman"/>
                <a:cs typeface="Times New Roman"/>
              </a:rPr>
              <a:t>Faced</a:t>
            </a:r>
            <a:r>
              <a:rPr sz="1300" b="1" spc="-20" dirty="0">
                <a:latin typeface="Times New Roman"/>
                <a:cs typeface="Times New Roman"/>
              </a:rPr>
              <a:t> </a:t>
            </a:r>
            <a:r>
              <a:rPr sz="1300" b="1" dirty="0">
                <a:latin typeface="Times New Roman"/>
                <a:cs typeface="Times New Roman"/>
              </a:rPr>
              <a:t>During</a:t>
            </a:r>
            <a:r>
              <a:rPr sz="1300" b="1" spc="-20" dirty="0">
                <a:latin typeface="Times New Roman"/>
                <a:cs typeface="Times New Roman"/>
              </a:rPr>
              <a:t> </a:t>
            </a:r>
            <a:r>
              <a:rPr sz="1300" b="1" spc="-10" dirty="0">
                <a:latin typeface="Times New Roman"/>
                <a:cs typeface="Times New Roman"/>
              </a:rPr>
              <a:t>Development</a:t>
            </a:r>
            <a:endParaRPr sz="1300" dirty="0">
              <a:latin typeface="Times New Roman"/>
              <a:cs typeface="Times New Roman"/>
            </a:endParaRPr>
          </a:p>
          <a:p>
            <a:pPr marL="171450" lvl="0" indent="-1714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Managing the connection between the React frontend, Node.js/Express backend, and MySQL database. </a:t>
            </a:r>
          </a:p>
          <a:p>
            <a:pPr marL="171450" lvl="0" indent="-1714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Maintaining consistency between book status and transaction records during issue and return operations. </a:t>
            </a:r>
          </a:p>
          <a:p>
            <a:pPr marL="171450" lvl="0" indent="-1714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Handling authentication and role-based access for Admin, Librarian, and Student users. </a:t>
            </a:r>
          </a:p>
          <a:p>
            <a:pPr marL="171450" lvl="0" indent="-1714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Implementing the RFID functionality as a software simulator instead of physical RFID hardware. </a:t>
            </a:r>
          </a:p>
          <a:p>
            <a:pPr marL="171450" lvl="0" indent="-1714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Ensuring dashboard statistics are retrieved dynamically from the database rather than using fixed values.</a:t>
            </a:r>
          </a:p>
          <a:p>
            <a:pPr lvl="2">
              <a:lnSpc>
                <a:spcPct val="100000"/>
              </a:lnSpc>
              <a:spcBef>
                <a:spcPts val="45"/>
              </a:spcBef>
              <a:buFont typeface="Times New Roman"/>
              <a:buChar char="•"/>
            </a:pPr>
            <a:endParaRPr sz="1200" dirty="0">
              <a:latin typeface="Times New Roman" panose="02020603050405020304" pitchFamily="18" charset="0"/>
              <a:cs typeface="Times New Roman" panose="02020603050405020304" pitchFamily="18" charset="0"/>
            </a:endParaRPr>
          </a:p>
          <a:p>
            <a:pPr marL="340995" lvl="1" indent="-328295" algn="just">
              <a:lnSpc>
                <a:spcPct val="100000"/>
              </a:lnSpc>
              <a:spcBef>
                <a:spcPts val="5"/>
              </a:spcBef>
              <a:buAutoNum type="arabicPeriod"/>
              <a:tabLst>
                <a:tab pos="340995" algn="l"/>
              </a:tabLst>
            </a:pPr>
            <a:r>
              <a:rPr sz="1300" b="1" dirty="0">
                <a:latin typeface="Times New Roman"/>
                <a:cs typeface="Times New Roman"/>
              </a:rPr>
              <a:t>Solutions</a:t>
            </a:r>
            <a:r>
              <a:rPr sz="1300" b="1" spc="-45" dirty="0">
                <a:latin typeface="Times New Roman"/>
                <a:cs typeface="Times New Roman"/>
              </a:rPr>
              <a:t> </a:t>
            </a:r>
            <a:r>
              <a:rPr sz="1300" b="1" spc="-10" dirty="0">
                <a:latin typeface="Times New Roman"/>
                <a:cs typeface="Times New Roman"/>
              </a:rPr>
              <a:t>Applied</a:t>
            </a:r>
            <a:endParaRPr lang="en-US" sz="1300" b="1" spc="-10" dirty="0">
              <a:latin typeface="Times New Roman"/>
              <a:cs typeface="Times New Roman"/>
            </a:endParaRPr>
          </a:p>
          <a:p>
            <a:pPr marL="12700" lvl="1" algn="just">
              <a:lnSpc>
                <a:spcPct val="100000"/>
              </a:lnSpc>
              <a:spcBef>
                <a:spcPts val="5"/>
              </a:spcBef>
              <a:tabLst>
                <a:tab pos="340995" algn="l"/>
              </a:tabLst>
            </a:pPr>
            <a:r>
              <a:rPr lang="en-IN" sz="1200" dirty="0">
                <a:latin typeface="Times New Roman" panose="02020603050405020304" pitchFamily="18" charset="0"/>
                <a:cs typeface="Times New Roman" panose="02020603050405020304" pitchFamily="18" charset="0"/>
              </a:rPr>
              <a:t>The frontend-backend communication was organized through REST APIs, with the Express backend handling business logic and database operations through mysql2. Book issue and return operations update both the transaction records and book availability status so that the information remains consistent. JWT was implemented for authentication, while </a:t>
            </a:r>
            <a:r>
              <a:rPr lang="en-IN" sz="1200" dirty="0" err="1">
                <a:latin typeface="Times New Roman" panose="02020603050405020304" pitchFamily="18" charset="0"/>
                <a:cs typeface="Times New Roman" panose="02020603050405020304" pitchFamily="18" charset="0"/>
              </a:rPr>
              <a:t>bcrypt</a:t>
            </a:r>
            <a:r>
              <a:rPr lang="en-IN" sz="1200" dirty="0">
                <a:latin typeface="Times New Roman" panose="02020603050405020304" pitchFamily="18" charset="0"/>
                <a:cs typeface="Times New Roman" panose="02020603050405020304" pitchFamily="18" charset="0"/>
              </a:rPr>
              <a:t> is used for password hashing and role-based authorization controls access to protected operations. The RFID functionality was implemented as a software simulator to demonstrate RFID-based book identification. Dashboard statistics are calculated dynamically from the MySQL database</a:t>
            </a:r>
            <a:r>
              <a:rPr lang="en-IN" sz="1400" dirty="0">
                <a:latin typeface="Times New Roman" panose="02020603050405020304" pitchFamily="18" charset="0"/>
                <a:cs typeface="Times New Roman" panose="02020603050405020304" pitchFamily="18" charset="0"/>
              </a:rPr>
              <a:t>.</a:t>
            </a:r>
            <a:endParaRPr sz="1300" dirty="0">
              <a:latin typeface="Times New Roman" panose="02020603050405020304" pitchFamily="18" charset="0"/>
              <a:cs typeface="Times New Roman" panose="02020603050405020304" pitchFamily="18" charset="0"/>
            </a:endParaRPr>
          </a:p>
          <a:p>
            <a:pPr marL="340995" lvl="1" indent="-328295">
              <a:lnSpc>
                <a:spcPct val="100000"/>
              </a:lnSpc>
              <a:spcBef>
                <a:spcPts val="1375"/>
              </a:spcBef>
              <a:buAutoNum type="arabicPeriod" startAt="3"/>
              <a:tabLst>
                <a:tab pos="340995" algn="l"/>
              </a:tabLst>
            </a:pPr>
            <a:r>
              <a:rPr sz="1300" b="1" dirty="0">
                <a:latin typeface="Times New Roman"/>
                <a:cs typeface="Times New Roman"/>
              </a:rPr>
              <a:t>Current</a:t>
            </a:r>
            <a:r>
              <a:rPr sz="1300" b="1" spc="-35" dirty="0">
                <a:latin typeface="Times New Roman"/>
                <a:cs typeface="Times New Roman"/>
              </a:rPr>
              <a:t> </a:t>
            </a:r>
            <a:r>
              <a:rPr sz="1300" b="1" dirty="0">
                <a:latin typeface="Times New Roman"/>
                <a:cs typeface="Times New Roman"/>
              </a:rPr>
              <a:t>Limitations</a:t>
            </a:r>
            <a:r>
              <a:rPr sz="1300" b="1" spc="-30" dirty="0">
                <a:latin typeface="Times New Roman"/>
                <a:cs typeface="Times New Roman"/>
              </a:rPr>
              <a:t> </a:t>
            </a:r>
            <a:r>
              <a:rPr sz="1300" b="1" dirty="0">
                <a:latin typeface="Times New Roman"/>
                <a:cs typeface="Times New Roman"/>
              </a:rPr>
              <a:t>or</a:t>
            </a:r>
            <a:r>
              <a:rPr sz="1300" b="1" spc="-30" dirty="0">
                <a:latin typeface="Times New Roman"/>
                <a:cs typeface="Times New Roman"/>
              </a:rPr>
              <a:t> </a:t>
            </a:r>
            <a:r>
              <a:rPr sz="1300" b="1" dirty="0">
                <a:latin typeface="Times New Roman"/>
                <a:cs typeface="Times New Roman"/>
              </a:rPr>
              <a:t>Known</a:t>
            </a:r>
            <a:r>
              <a:rPr sz="1300" b="1" spc="-30" dirty="0">
                <a:latin typeface="Times New Roman"/>
                <a:cs typeface="Times New Roman"/>
              </a:rPr>
              <a:t> </a:t>
            </a:r>
            <a:r>
              <a:rPr sz="1300" b="1" spc="-20" dirty="0">
                <a:latin typeface="Times New Roman"/>
                <a:cs typeface="Times New Roman"/>
              </a:rPr>
              <a:t>Bugs</a:t>
            </a:r>
            <a:endParaRPr lang="en-US" sz="1300" b="1" spc="-20" dirty="0">
              <a:latin typeface="Times New Roman"/>
              <a:cs typeface="Times New Roman"/>
            </a:endParaRPr>
          </a:p>
          <a:p>
            <a:pPr marL="171450" lvl="0" indent="-1714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The project currently uses a </a:t>
            </a:r>
            <a:r>
              <a:rPr lang="en-IN" sz="1200" b="1" dirty="0">
                <a:latin typeface="Times New Roman" panose="02020603050405020304" pitchFamily="18" charset="0"/>
                <a:cs typeface="Times New Roman" panose="02020603050405020304" pitchFamily="18" charset="0"/>
              </a:rPr>
              <a:t>software RFID simulator</a:t>
            </a:r>
            <a:r>
              <a:rPr lang="en-IN" sz="1200" dirty="0">
                <a:latin typeface="Times New Roman" panose="02020603050405020304" pitchFamily="18" charset="0"/>
                <a:cs typeface="Times New Roman" panose="02020603050405020304" pitchFamily="18" charset="0"/>
              </a:rPr>
              <a:t>; physical RFID hardware is not connected. </a:t>
            </a:r>
          </a:p>
          <a:p>
            <a:pPr marL="171450" lvl="0" indent="-1714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The system is currently designed for local development and demonstration. </a:t>
            </a:r>
          </a:p>
          <a:p>
            <a:pPr marL="171450" lvl="0" indent="-1714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Some advanced library features may require further development and testing. </a:t>
            </a:r>
          </a:p>
          <a:p>
            <a:pPr marL="171450" lvl="0" indent="-1714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Production/cloud deployment has not been implemented. </a:t>
            </a:r>
          </a:p>
          <a:p>
            <a:pPr marL="171450" lvl="0" indent="-1714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Additional security features such as advanced account recovery can be considered for future development.</a:t>
            </a:r>
          </a:p>
          <a:p>
            <a:pPr marL="340995" lvl="1" indent="-328295">
              <a:lnSpc>
                <a:spcPct val="100000"/>
              </a:lnSpc>
              <a:spcBef>
                <a:spcPts val="1375"/>
              </a:spcBef>
              <a:buAutoNum type="arabicPeriod" startAt="3"/>
              <a:tabLst>
                <a:tab pos="340995" algn="l"/>
              </a:tabLst>
            </a:pPr>
            <a:endParaRPr sz="1300" dirty="0">
              <a:latin typeface="Times New Roman"/>
              <a:cs typeface="Times New Roman"/>
            </a:endParaRPr>
          </a:p>
        </p:txBody>
      </p:sp>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32384">
              <a:lnSpc>
                <a:spcPts val="1150"/>
              </a:lnSpc>
            </a:pPr>
            <a:r>
              <a:rPr dirty="0">
                <a:solidFill>
                  <a:srgbClr val="000000"/>
                </a:solidFill>
                <a:latin typeface="Calibri Light"/>
                <a:cs typeface="Calibri Light"/>
              </a:rPr>
              <a:t>Page</a:t>
            </a:r>
            <a:r>
              <a:rPr spc="-45" dirty="0">
                <a:solidFill>
                  <a:srgbClr val="000000"/>
                </a:solidFill>
                <a:latin typeface="Calibri Light"/>
                <a:cs typeface="Calibri Light"/>
              </a:rPr>
              <a:t> </a:t>
            </a:r>
            <a:r>
              <a:rPr spc="-25" dirty="0">
                <a:solidFill>
                  <a:srgbClr val="000000"/>
                </a:solidFill>
                <a:latin typeface="Calibri Light"/>
                <a:cs typeface="Calibri Light"/>
              </a:rPr>
              <a:t>18</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98372" y="839469"/>
            <a:ext cx="5972810" cy="3382977"/>
          </a:xfrm>
          <a:prstGeom prst="rect">
            <a:avLst/>
          </a:prstGeom>
        </p:spPr>
        <p:txBody>
          <a:bodyPr vert="horz" wrap="square" lIns="0" tIns="12700" rIns="0" bIns="0" rtlCol="0">
            <a:spAutoFit/>
          </a:bodyPr>
          <a:lstStyle/>
          <a:p>
            <a:pPr marR="2540" algn="ctr">
              <a:lnSpc>
                <a:spcPct val="100000"/>
              </a:lnSpc>
              <a:spcBef>
                <a:spcPts val="100"/>
              </a:spcBef>
            </a:pPr>
            <a:r>
              <a:rPr sz="1500" b="1" dirty="0">
                <a:latin typeface="Times New Roman"/>
                <a:cs typeface="Times New Roman"/>
              </a:rPr>
              <a:t>CHAPTER</a:t>
            </a:r>
            <a:r>
              <a:rPr sz="1500" b="1" spc="-50" dirty="0">
                <a:latin typeface="Times New Roman"/>
                <a:cs typeface="Times New Roman"/>
              </a:rPr>
              <a:t> </a:t>
            </a:r>
            <a:r>
              <a:rPr sz="1500" b="1" dirty="0">
                <a:latin typeface="Times New Roman"/>
                <a:cs typeface="Times New Roman"/>
              </a:rPr>
              <a:t>11:</a:t>
            </a:r>
            <a:r>
              <a:rPr sz="1500" b="1" spc="-35" dirty="0">
                <a:latin typeface="Times New Roman"/>
                <a:cs typeface="Times New Roman"/>
              </a:rPr>
              <a:t> </a:t>
            </a:r>
            <a:r>
              <a:rPr sz="1500" b="1" dirty="0">
                <a:latin typeface="Times New Roman"/>
                <a:cs typeface="Times New Roman"/>
              </a:rPr>
              <a:t>FUTURE</a:t>
            </a:r>
            <a:r>
              <a:rPr sz="1500" b="1" spc="-35" dirty="0">
                <a:latin typeface="Times New Roman"/>
                <a:cs typeface="Times New Roman"/>
              </a:rPr>
              <a:t> </a:t>
            </a:r>
            <a:r>
              <a:rPr sz="1500" b="1" spc="-10" dirty="0">
                <a:latin typeface="Times New Roman"/>
                <a:cs typeface="Times New Roman"/>
              </a:rPr>
              <a:t>ENHANCEMENTS</a:t>
            </a:r>
            <a:endParaRPr sz="1500" dirty="0">
              <a:latin typeface="Times New Roman"/>
              <a:cs typeface="Times New Roman"/>
            </a:endParaRPr>
          </a:p>
          <a:p>
            <a:pPr marL="340995" lvl="1" indent="-328295">
              <a:lnSpc>
                <a:spcPct val="100000"/>
              </a:lnSpc>
              <a:spcBef>
                <a:spcPts val="1245"/>
              </a:spcBef>
              <a:buAutoNum type="arabicPeriod"/>
              <a:tabLst>
                <a:tab pos="340995" algn="l"/>
              </a:tabLst>
            </a:pPr>
            <a:r>
              <a:rPr sz="1300" b="1" dirty="0">
                <a:latin typeface="Times New Roman"/>
                <a:cs typeface="Times New Roman"/>
              </a:rPr>
              <a:t>Planned</a:t>
            </a:r>
            <a:r>
              <a:rPr sz="1300" b="1" spc="-45" dirty="0">
                <a:latin typeface="Times New Roman"/>
                <a:cs typeface="Times New Roman"/>
              </a:rPr>
              <a:t> </a:t>
            </a:r>
            <a:r>
              <a:rPr sz="1300" b="1" spc="-10" dirty="0">
                <a:latin typeface="Times New Roman"/>
                <a:cs typeface="Times New Roman"/>
              </a:rPr>
              <a:t>Features</a:t>
            </a:r>
            <a:endParaRPr sz="1300" dirty="0">
              <a:latin typeface="Times New Roman"/>
              <a:cs typeface="Times New Roman"/>
            </a:endParaRPr>
          </a:p>
          <a:p>
            <a:pPr marL="171450" lvl="0" indent="-1714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Physical RFID reader integration for automatic book identification. </a:t>
            </a:r>
          </a:p>
          <a:p>
            <a:pPr marL="171450" lvl="0" indent="-1714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Email-based notifications for due dates, overdue books, and fine reminders. </a:t>
            </a:r>
          </a:p>
          <a:p>
            <a:pPr marL="171450" lvl="0" indent="-1714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Online fine payment functionality. </a:t>
            </a:r>
          </a:p>
          <a:p>
            <a:pPr marL="171450" lvl="0" indent="-1714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Advanced search and filtering for books by title, author, category, and availability. </a:t>
            </a:r>
          </a:p>
          <a:p>
            <a:pPr marL="171450" lvl="0" indent="-1714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Automated notifications when a borrowed book is approaching its due date. </a:t>
            </a:r>
          </a:p>
          <a:p>
            <a:pPr marL="171450" lvl="0" indent="-1714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Enhanced reports and analytics for library usage, book circulation, and fines.</a:t>
            </a:r>
          </a:p>
          <a:p>
            <a:pPr lvl="2">
              <a:lnSpc>
                <a:spcPct val="100000"/>
              </a:lnSpc>
              <a:spcBef>
                <a:spcPts val="45"/>
              </a:spcBef>
              <a:buFont typeface="Times New Roman"/>
              <a:buChar char="•"/>
            </a:pPr>
            <a:endParaRPr sz="1100" dirty="0">
              <a:latin typeface="Times New Roman"/>
              <a:cs typeface="Times New Roman"/>
            </a:endParaRPr>
          </a:p>
          <a:p>
            <a:pPr marL="12700" lvl="1">
              <a:lnSpc>
                <a:spcPct val="100000"/>
              </a:lnSpc>
              <a:spcBef>
                <a:spcPts val="5"/>
              </a:spcBef>
              <a:tabLst>
                <a:tab pos="340995" algn="l"/>
              </a:tabLst>
            </a:pPr>
            <a:r>
              <a:rPr lang="en-US" sz="1300" b="1" dirty="0">
                <a:latin typeface="Times New Roman"/>
                <a:cs typeface="Times New Roman"/>
              </a:rPr>
              <a:t>2. </a:t>
            </a:r>
            <a:r>
              <a:rPr sz="1300" b="1" dirty="0">
                <a:latin typeface="Times New Roman"/>
                <a:cs typeface="Times New Roman"/>
              </a:rPr>
              <a:t>Possible</a:t>
            </a:r>
            <a:r>
              <a:rPr sz="1300" b="1" spc="-40" dirty="0">
                <a:latin typeface="Times New Roman"/>
                <a:cs typeface="Times New Roman"/>
              </a:rPr>
              <a:t> </a:t>
            </a:r>
            <a:r>
              <a:rPr sz="1300" b="1" dirty="0">
                <a:latin typeface="Times New Roman"/>
                <a:cs typeface="Times New Roman"/>
              </a:rPr>
              <a:t>Integrations</a:t>
            </a:r>
            <a:r>
              <a:rPr sz="1300" b="1" spc="-35" dirty="0">
                <a:latin typeface="Times New Roman"/>
                <a:cs typeface="Times New Roman"/>
              </a:rPr>
              <a:t> </a:t>
            </a:r>
            <a:r>
              <a:rPr sz="1300" b="1" dirty="0">
                <a:latin typeface="Times New Roman"/>
                <a:cs typeface="Times New Roman"/>
              </a:rPr>
              <a:t>or</a:t>
            </a:r>
            <a:r>
              <a:rPr sz="1300" b="1" spc="-35" dirty="0">
                <a:latin typeface="Times New Roman"/>
                <a:cs typeface="Times New Roman"/>
              </a:rPr>
              <a:t> </a:t>
            </a:r>
            <a:r>
              <a:rPr sz="1300" b="1" spc="-10" dirty="0">
                <a:latin typeface="Times New Roman"/>
                <a:cs typeface="Times New Roman"/>
              </a:rPr>
              <a:t>Optimizations</a:t>
            </a:r>
            <a:endParaRPr lang="en-US" sz="1300" b="1" spc="-10" dirty="0">
              <a:latin typeface="Times New Roman"/>
              <a:cs typeface="Times New Roman"/>
            </a:endParaRPr>
          </a:p>
          <a:p>
            <a:pPr marL="171450" lvl="0" indent="-1714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Integrating a physical RFID reader with the existing RFID simulator workflow. </a:t>
            </a:r>
          </a:p>
          <a:p>
            <a:pPr marL="171450" lvl="0" indent="-1714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Adding a QR-code or barcode scanning option for book identification. </a:t>
            </a:r>
          </a:p>
          <a:p>
            <a:pPr marL="171450" lvl="0" indent="-1714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Optimizing frequently used database queries to improve system response time. </a:t>
            </a:r>
          </a:p>
          <a:p>
            <a:pPr marL="171450" lvl="0" indent="-1714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Adding cloud deployment for remote access to the library system. </a:t>
            </a:r>
          </a:p>
          <a:p>
            <a:pPr marL="171450" lvl="0" indent="-1714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Adding automated testing for backend APIs and frontend functionality to detect errors during future development.</a:t>
            </a:r>
          </a:p>
          <a:p>
            <a:pPr marL="12700" lvl="1">
              <a:lnSpc>
                <a:spcPct val="100000"/>
              </a:lnSpc>
              <a:spcBef>
                <a:spcPts val="5"/>
              </a:spcBef>
              <a:tabLst>
                <a:tab pos="340995" algn="l"/>
              </a:tabLst>
            </a:pPr>
            <a:endParaRPr sz="1300" dirty="0">
              <a:latin typeface="Times New Roman"/>
              <a:cs typeface="Times New Roman"/>
            </a:endParaRPr>
          </a:p>
        </p:txBody>
      </p:sp>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32384">
              <a:lnSpc>
                <a:spcPts val="1150"/>
              </a:lnSpc>
            </a:pPr>
            <a:r>
              <a:rPr dirty="0">
                <a:solidFill>
                  <a:srgbClr val="000000"/>
                </a:solidFill>
                <a:latin typeface="Calibri Light"/>
                <a:cs typeface="Calibri Light"/>
              </a:rPr>
              <a:t>Page</a:t>
            </a:r>
            <a:r>
              <a:rPr spc="-45" dirty="0">
                <a:solidFill>
                  <a:srgbClr val="000000"/>
                </a:solidFill>
                <a:latin typeface="Calibri Light"/>
                <a:cs typeface="Calibri Light"/>
              </a:rPr>
              <a:t> </a:t>
            </a:r>
            <a:r>
              <a:rPr spc="-25" dirty="0">
                <a:solidFill>
                  <a:srgbClr val="000000"/>
                </a:solidFill>
                <a:latin typeface="Calibri Light"/>
                <a:cs typeface="Calibri Light"/>
              </a:rPr>
              <a:t>19</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96848" y="839469"/>
            <a:ext cx="5969635" cy="4834657"/>
          </a:xfrm>
          <a:prstGeom prst="rect">
            <a:avLst/>
          </a:prstGeom>
        </p:spPr>
        <p:txBody>
          <a:bodyPr vert="horz" wrap="square" lIns="0" tIns="12700" rIns="0" bIns="0" rtlCol="0">
            <a:spAutoFit/>
          </a:bodyPr>
          <a:lstStyle/>
          <a:p>
            <a:pPr algn="ctr">
              <a:lnSpc>
                <a:spcPct val="100000"/>
              </a:lnSpc>
              <a:spcBef>
                <a:spcPts val="100"/>
              </a:spcBef>
            </a:pPr>
            <a:r>
              <a:rPr sz="1500" b="1" dirty="0">
                <a:latin typeface="Times New Roman"/>
                <a:cs typeface="Times New Roman"/>
              </a:rPr>
              <a:t>CHAPTER</a:t>
            </a:r>
            <a:r>
              <a:rPr sz="1500" b="1" spc="-40" dirty="0">
                <a:latin typeface="Times New Roman"/>
                <a:cs typeface="Times New Roman"/>
              </a:rPr>
              <a:t> </a:t>
            </a:r>
            <a:r>
              <a:rPr sz="1500" b="1" dirty="0">
                <a:latin typeface="Times New Roman"/>
                <a:cs typeface="Times New Roman"/>
              </a:rPr>
              <a:t>12:</a:t>
            </a:r>
            <a:r>
              <a:rPr sz="1500" b="1" spc="-30" dirty="0">
                <a:latin typeface="Times New Roman"/>
                <a:cs typeface="Times New Roman"/>
              </a:rPr>
              <a:t> </a:t>
            </a:r>
            <a:r>
              <a:rPr sz="1500" b="1" spc="-10" dirty="0">
                <a:latin typeface="Times New Roman"/>
                <a:cs typeface="Times New Roman"/>
              </a:rPr>
              <a:t>CONCLUSION</a:t>
            </a:r>
            <a:endParaRPr sz="1500" dirty="0">
              <a:latin typeface="Times New Roman"/>
              <a:cs typeface="Times New Roman"/>
            </a:endParaRPr>
          </a:p>
          <a:p>
            <a:pPr marL="340995" lvl="1" indent="-328295" algn="just">
              <a:lnSpc>
                <a:spcPct val="100000"/>
              </a:lnSpc>
              <a:spcBef>
                <a:spcPts val="1245"/>
              </a:spcBef>
              <a:buAutoNum type="arabicPeriod"/>
              <a:tabLst>
                <a:tab pos="340995" algn="l"/>
              </a:tabLst>
            </a:pPr>
            <a:r>
              <a:rPr sz="1300" b="1" dirty="0">
                <a:latin typeface="Times New Roman"/>
                <a:cs typeface="Times New Roman"/>
              </a:rPr>
              <a:t>Summary</a:t>
            </a:r>
            <a:r>
              <a:rPr sz="1300" b="1" spc="-20" dirty="0">
                <a:latin typeface="Times New Roman"/>
                <a:cs typeface="Times New Roman"/>
              </a:rPr>
              <a:t> </a:t>
            </a:r>
            <a:r>
              <a:rPr sz="1300" b="1" dirty="0">
                <a:latin typeface="Times New Roman"/>
                <a:cs typeface="Times New Roman"/>
              </a:rPr>
              <a:t>of</a:t>
            </a:r>
            <a:r>
              <a:rPr sz="1300" b="1" spc="-30" dirty="0">
                <a:latin typeface="Times New Roman"/>
                <a:cs typeface="Times New Roman"/>
              </a:rPr>
              <a:t> </a:t>
            </a:r>
            <a:r>
              <a:rPr sz="1300" b="1" dirty="0">
                <a:latin typeface="Times New Roman"/>
                <a:cs typeface="Times New Roman"/>
              </a:rPr>
              <a:t>the</a:t>
            </a:r>
            <a:r>
              <a:rPr sz="1300" b="1" spc="-15" dirty="0">
                <a:latin typeface="Times New Roman"/>
                <a:cs typeface="Times New Roman"/>
              </a:rPr>
              <a:t> </a:t>
            </a:r>
            <a:r>
              <a:rPr sz="1300" b="1" spc="-10" dirty="0">
                <a:latin typeface="Times New Roman"/>
                <a:cs typeface="Times New Roman"/>
              </a:rPr>
              <a:t>Project</a:t>
            </a:r>
            <a:endParaRPr sz="1300" dirty="0">
              <a:latin typeface="Times New Roman"/>
              <a:cs typeface="Times New Roman"/>
            </a:endParaRPr>
          </a:p>
          <a:p>
            <a:pPr marL="12700" marR="5080" algn="just">
              <a:lnSpc>
                <a:spcPct val="100000"/>
              </a:lnSpc>
              <a:spcBef>
                <a:spcPts val="455"/>
              </a:spcBef>
            </a:pPr>
            <a:r>
              <a:rPr lang="en-IN" sz="1200" dirty="0">
                <a:latin typeface="Times New Roman" panose="02020603050405020304" pitchFamily="18" charset="0"/>
                <a:cs typeface="Times New Roman" panose="02020603050405020304" pitchFamily="18" charset="0"/>
              </a:rPr>
              <a:t>The </a:t>
            </a:r>
            <a:r>
              <a:rPr lang="en-IN" sz="1200" b="1" dirty="0">
                <a:latin typeface="Times New Roman" panose="02020603050405020304" pitchFamily="18" charset="0"/>
                <a:cs typeface="Times New Roman" panose="02020603050405020304" pitchFamily="18" charset="0"/>
              </a:rPr>
              <a:t>Library Management System with RFID Integration</a:t>
            </a:r>
            <a:r>
              <a:rPr lang="en-IN" sz="1200" dirty="0">
                <a:latin typeface="Times New Roman" panose="02020603050405020304" pitchFamily="18" charset="0"/>
                <a:cs typeface="Times New Roman" panose="02020603050405020304" pitchFamily="18" charset="0"/>
              </a:rPr>
              <a:t> is a full-stack web application developed to centralize and simplify library operations. The system manages books, members, issue and return transactions, fines, inventory, reports, and user access through a React frontend, Node.js and Express.js backend, and MySQL database. A software-based RFID simulator is also included to demonstrate RFID-based book identification.</a:t>
            </a:r>
            <a:endParaRPr sz="1200" dirty="0">
              <a:latin typeface="Times New Roman" panose="02020603050405020304" pitchFamily="18" charset="0"/>
              <a:cs typeface="Times New Roman" panose="02020603050405020304" pitchFamily="18" charset="0"/>
            </a:endParaRPr>
          </a:p>
          <a:p>
            <a:pPr marL="340995" lvl="1" indent="-328295" algn="just">
              <a:lnSpc>
                <a:spcPct val="100000"/>
              </a:lnSpc>
              <a:spcBef>
                <a:spcPts val="1375"/>
              </a:spcBef>
              <a:buAutoNum type="arabicPeriod" startAt="2"/>
              <a:tabLst>
                <a:tab pos="340995" algn="l"/>
              </a:tabLst>
            </a:pPr>
            <a:r>
              <a:rPr sz="1300" b="1" dirty="0">
                <a:latin typeface="Times New Roman"/>
                <a:cs typeface="Times New Roman"/>
              </a:rPr>
              <a:t>What</a:t>
            </a:r>
            <a:r>
              <a:rPr sz="1300" b="1" spc="-30" dirty="0">
                <a:latin typeface="Times New Roman"/>
                <a:cs typeface="Times New Roman"/>
              </a:rPr>
              <a:t> </a:t>
            </a:r>
            <a:r>
              <a:rPr sz="1300" b="1" dirty="0">
                <a:latin typeface="Times New Roman"/>
                <a:cs typeface="Times New Roman"/>
              </a:rPr>
              <a:t>Was</a:t>
            </a:r>
            <a:r>
              <a:rPr sz="1300" b="1" spc="-20" dirty="0">
                <a:latin typeface="Times New Roman"/>
                <a:cs typeface="Times New Roman"/>
              </a:rPr>
              <a:t> </a:t>
            </a:r>
            <a:r>
              <a:rPr sz="1300" b="1" spc="-10" dirty="0">
                <a:latin typeface="Times New Roman"/>
                <a:cs typeface="Times New Roman"/>
              </a:rPr>
              <a:t>Achieved</a:t>
            </a:r>
            <a:endParaRPr sz="1300" dirty="0">
              <a:latin typeface="Times New Roman"/>
              <a:cs typeface="Times New Roman"/>
            </a:endParaRPr>
          </a:p>
          <a:p>
            <a:pPr marL="12700" marR="5080" algn="just">
              <a:lnSpc>
                <a:spcPct val="100000"/>
              </a:lnSpc>
              <a:spcBef>
                <a:spcPts val="459"/>
              </a:spcBef>
            </a:pPr>
            <a:r>
              <a:rPr lang="en-IN" sz="1200" dirty="0">
                <a:latin typeface="Times New Roman" panose="02020603050405020304" pitchFamily="18" charset="0"/>
                <a:cs typeface="Times New Roman" panose="02020603050405020304" pitchFamily="18" charset="0"/>
              </a:rPr>
              <a:t>The completed system provides role-based access for </a:t>
            </a:r>
            <a:r>
              <a:rPr lang="en-IN" sz="1200" b="1" dirty="0">
                <a:latin typeface="Times New Roman" panose="02020603050405020304" pitchFamily="18" charset="0"/>
                <a:cs typeface="Times New Roman" panose="02020603050405020304" pitchFamily="18" charset="0"/>
              </a:rPr>
              <a:t>Admin, Librarian, and Student</a:t>
            </a:r>
            <a:r>
              <a:rPr lang="en-IN" sz="1200" dirty="0">
                <a:latin typeface="Times New Roman" panose="02020603050405020304" pitchFamily="18" charset="0"/>
                <a:cs typeface="Times New Roman" panose="02020603050405020304" pitchFamily="18" charset="0"/>
              </a:rPr>
              <a:t> users, manages book and member records, tracks book issue and return transactions, maintains book availability, and manages fines. It also provides dashboard statistics, inventory management, reports, and RFID simulation. The frontend, backend, REST APIs, and MySQL database work together to provide a centralized platform for library management.</a:t>
            </a:r>
            <a:endParaRPr sz="1200" dirty="0">
              <a:latin typeface="Times New Roman" panose="02020603050405020304" pitchFamily="18" charset="0"/>
              <a:cs typeface="Times New Roman" panose="02020603050405020304" pitchFamily="18" charset="0"/>
            </a:endParaRPr>
          </a:p>
          <a:p>
            <a:pPr marL="340995" lvl="1" indent="-328295" algn="just">
              <a:lnSpc>
                <a:spcPct val="100000"/>
              </a:lnSpc>
              <a:spcBef>
                <a:spcPts val="1375"/>
              </a:spcBef>
              <a:buAutoNum type="arabicPeriod" startAt="3"/>
              <a:tabLst>
                <a:tab pos="340995" algn="l"/>
              </a:tabLst>
            </a:pPr>
            <a:r>
              <a:rPr sz="1300" b="1" dirty="0">
                <a:latin typeface="Times New Roman"/>
                <a:cs typeface="Times New Roman"/>
              </a:rPr>
              <a:t>Skills</a:t>
            </a:r>
            <a:r>
              <a:rPr sz="1300" b="1" spc="-30" dirty="0">
                <a:latin typeface="Times New Roman"/>
                <a:cs typeface="Times New Roman"/>
              </a:rPr>
              <a:t> </a:t>
            </a:r>
            <a:r>
              <a:rPr sz="1300" b="1" spc="-10" dirty="0">
                <a:latin typeface="Times New Roman"/>
                <a:cs typeface="Times New Roman"/>
              </a:rPr>
              <a:t>Learned</a:t>
            </a:r>
            <a:endParaRPr lang="en-US" sz="1300" b="1" spc="-10" dirty="0">
              <a:latin typeface="Times New Roman"/>
              <a:cs typeface="Times New Roman"/>
            </a:endParaRPr>
          </a:p>
          <a:p>
            <a:pPr marL="12700" lvl="1" algn="just">
              <a:lnSpc>
                <a:spcPct val="100000"/>
              </a:lnSpc>
              <a:spcBef>
                <a:spcPts val="1375"/>
              </a:spcBef>
              <a:tabLst>
                <a:tab pos="340995" algn="l"/>
              </a:tabLst>
            </a:pPr>
            <a:r>
              <a:rPr lang="en-IN" sz="1200" dirty="0">
                <a:latin typeface="Times New Roman" panose="02020603050405020304" pitchFamily="18" charset="0"/>
                <a:cs typeface="Times New Roman" panose="02020603050405020304" pitchFamily="18" charset="0"/>
              </a:rPr>
              <a:t>Working on this project provided practical experience in </a:t>
            </a:r>
            <a:r>
              <a:rPr lang="en-IN" sz="1200" b="1" dirty="0">
                <a:latin typeface="Times New Roman" panose="02020603050405020304" pitchFamily="18" charset="0"/>
                <a:cs typeface="Times New Roman" panose="02020603050405020304" pitchFamily="18" charset="0"/>
              </a:rPr>
              <a:t>relational database design, MySQL, React.js, Node.js, Express.js, REST APIs, and full-stack application development</a:t>
            </a:r>
            <a:r>
              <a:rPr lang="en-IN" sz="1200" dirty="0">
                <a:latin typeface="Times New Roman" panose="02020603050405020304" pitchFamily="18" charset="0"/>
                <a:cs typeface="Times New Roman" panose="02020603050405020304" pitchFamily="18" charset="0"/>
              </a:rPr>
              <a:t>. The project also helped develop an understanding of authentication using JWT, password security using </a:t>
            </a:r>
            <a:r>
              <a:rPr lang="en-IN" sz="1200" dirty="0" err="1">
                <a:latin typeface="Times New Roman" panose="02020603050405020304" pitchFamily="18" charset="0"/>
                <a:cs typeface="Times New Roman" panose="02020603050405020304" pitchFamily="18" charset="0"/>
              </a:rPr>
              <a:t>bcrypt</a:t>
            </a:r>
            <a:r>
              <a:rPr lang="en-IN" sz="1200" dirty="0">
                <a:latin typeface="Times New Roman" panose="02020603050405020304" pitchFamily="18" charset="0"/>
                <a:cs typeface="Times New Roman" panose="02020603050405020304" pitchFamily="18" charset="0"/>
              </a:rPr>
              <a:t>, API integration, CRUD operations, database relationships, and connecting a frontend with a backend and database. It also provided experience in testing, debugging, Git/GitHub version control, and implementing a software-based RFID simulation</a:t>
            </a:r>
            <a:r>
              <a:rPr lang="en-IN" sz="1400" dirty="0"/>
              <a:t>.</a:t>
            </a:r>
            <a:endParaRPr sz="1300" dirty="0">
              <a:latin typeface="Times New Roman"/>
              <a:cs typeface="Times New Roman"/>
            </a:endParaRPr>
          </a:p>
        </p:txBody>
      </p:sp>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32384">
              <a:lnSpc>
                <a:spcPts val="1150"/>
              </a:lnSpc>
            </a:pPr>
            <a:r>
              <a:rPr dirty="0">
                <a:solidFill>
                  <a:srgbClr val="000000"/>
                </a:solidFill>
                <a:latin typeface="Calibri Light"/>
                <a:cs typeface="Calibri Light"/>
              </a:rPr>
              <a:t>Page</a:t>
            </a:r>
            <a:r>
              <a:rPr spc="-45" dirty="0">
                <a:solidFill>
                  <a:srgbClr val="000000"/>
                </a:solidFill>
                <a:latin typeface="Calibri Light"/>
                <a:cs typeface="Calibri Light"/>
              </a:rPr>
              <a:t> </a:t>
            </a:r>
            <a:r>
              <a:rPr spc="-25" dirty="0">
                <a:solidFill>
                  <a:srgbClr val="000000"/>
                </a:solidFill>
                <a:latin typeface="Calibri Light"/>
                <a:cs typeface="Calibri Light"/>
              </a:rPr>
              <a:t>20</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23340" y="839469"/>
            <a:ext cx="5704840" cy="2705735"/>
          </a:xfrm>
          <a:prstGeom prst="rect">
            <a:avLst/>
          </a:prstGeom>
        </p:spPr>
        <p:txBody>
          <a:bodyPr vert="horz" wrap="square" lIns="0" tIns="12700" rIns="0" bIns="0" rtlCol="0">
            <a:spAutoFit/>
          </a:bodyPr>
          <a:lstStyle/>
          <a:p>
            <a:pPr marL="7620" algn="ctr">
              <a:lnSpc>
                <a:spcPct val="100000"/>
              </a:lnSpc>
              <a:spcBef>
                <a:spcPts val="100"/>
              </a:spcBef>
            </a:pPr>
            <a:r>
              <a:rPr sz="1500" b="1" dirty="0">
                <a:latin typeface="Times New Roman"/>
                <a:cs typeface="Times New Roman"/>
              </a:rPr>
              <a:t>CHAPTER</a:t>
            </a:r>
            <a:r>
              <a:rPr sz="1500" b="1" spc="-40" dirty="0">
                <a:latin typeface="Times New Roman"/>
                <a:cs typeface="Times New Roman"/>
              </a:rPr>
              <a:t> </a:t>
            </a:r>
            <a:r>
              <a:rPr sz="1500" b="1" dirty="0">
                <a:latin typeface="Times New Roman"/>
                <a:cs typeface="Times New Roman"/>
              </a:rPr>
              <a:t>13:</a:t>
            </a:r>
            <a:r>
              <a:rPr sz="1500" b="1" spc="-30" dirty="0">
                <a:latin typeface="Times New Roman"/>
                <a:cs typeface="Times New Roman"/>
              </a:rPr>
              <a:t> </a:t>
            </a:r>
            <a:r>
              <a:rPr sz="1500" b="1" spc="-10" dirty="0">
                <a:latin typeface="Times New Roman"/>
                <a:cs typeface="Times New Roman"/>
              </a:rPr>
              <a:t>REFERENCES</a:t>
            </a:r>
            <a:endParaRPr sz="1500">
              <a:latin typeface="Times New Roman"/>
              <a:cs typeface="Times New Roman"/>
            </a:endParaRPr>
          </a:p>
          <a:p>
            <a:pPr marL="178435" indent="-165735">
              <a:lnSpc>
                <a:spcPct val="100000"/>
              </a:lnSpc>
              <a:spcBef>
                <a:spcPts val="1215"/>
              </a:spcBef>
              <a:buChar char="•"/>
              <a:tabLst>
                <a:tab pos="178435" algn="l"/>
              </a:tabLst>
            </a:pPr>
            <a:r>
              <a:rPr sz="1100" dirty="0">
                <a:latin typeface="Times New Roman"/>
                <a:cs typeface="Times New Roman"/>
              </a:rPr>
              <a:t>React</a:t>
            </a:r>
            <a:r>
              <a:rPr sz="1100" spc="-20" dirty="0">
                <a:latin typeface="Times New Roman"/>
                <a:cs typeface="Times New Roman"/>
              </a:rPr>
              <a:t> </a:t>
            </a:r>
            <a:r>
              <a:rPr sz="1100" dirty="0">
                <a:latin typeface="Times New Roman"/>
                <a:cs typeface="Times New Roman"/>
              </a:rPr>
              <a:t>—</a:t>
            </a:r>
            <a:r>
              <a:rPr sz="1100" spc="-15" dirty="0">
                <a:latin typeface="Times New Roman"/>
                <a:cs typeface="Times New Roman"/>
              </a:rPr>
              <a:t> </a:t>
            </a:r>
            <a:r>
              <a:rPr sz="1100" dirty="0">
                <a:latin typeface="Times New Roman"/>
                <a:cs typeface="Times New Roman"/>
              </a:rPr>
              <a:t>Official</a:t>
            </a:r>
            <a:r>
              <a:rPr sz="1100" spc="-10" dirty="0">
                <a:latin typeface="Times New Roman"/>
                <a:cs typeface="Times New Roman"/>
              </a:rPr>
              <a:t> </a:t>
            </a:r>
            <a:r>
              <a:rPr sz="1100" dirty="0">
                <a:latin typeface="Times New Roman"/>
                <a:cs typeface="Times New Roman"/>
              </a:rPr>
              <a:t>Documentation,</a:t>
            </a:r>
            <a:r>
              <a:rPr sz="1100" spc="-20" dirty="0">
                <a:latin typeface="Times New Roman"/>
                <a:cs typeface="Times New Roman"/>
              </a:rPr>
              <a:t> </a:t>
            </a:r>
            <a:r>
              <a:rPr sz="1100" u="sng" spc="-10" dirty="0">
                <a:solidFill>
                  <a:srgbClr val="0000FF"/>
                </a:solidFill>
                <a:uFill>
                  <a:solidFill>
                    <a:srgbClr val="0000FF"/>
                  </a:solidFill>
                </a:uFill>
                <a:latin typeface="Times New Roman"/>
                <a:cs typeface="Times New Roman"/>
                <a:hlinkClick r:id="rId2"/>
              </a:rPr>
              <a:t>https://react.dev</a:t>
            </a:r>
            <a:endParaRPr sz="1100">
              <a:latin typeface="Times New Roman"/>
              <a:cs typeface="Times New Roman"/>
            </a:endParaRPr>
          </a:p>
          <a:p>
            <a:pPr marL="178435" indent="-165735">
              <a:lnSpc>
                <a:spcPct val="100000"/>
              </a:lnSpc>
              <a:spcBef>
                <a:spcPts val="540"/>
              </a:spcBef>
              <a:buChar char="•"/>
              <a:tabLst>
                <a:tab pos="178435" algn="l"/>
              </a:tabLst>
            </a:pPr>
            <a:r>
              <a:rPr sz="1100" dirty="0">
                <a:latin typeface="Times New Roman"/>
                <a:cs typeface="Times New Roman"/>
              </a:rPr>
              <a:t>Vite</a:t>
            </a:r>
            <a:r>
              <a:rPr sz="1100" spc="-30" dirty="0">
                <a:latin typeface="Times New Roman"/>
                <a:cs typeface="Times New Roman"/>
              </a:rPr>
              <a:t> </a:t>
            </a:r>
            <a:r>
              <a:rPr sz="1100" dirty="0">
                <a:latin typeface="Times New Roman"/>
                <a:cs typeface="Times New Roman"/>
              </a:rPr>
              <a:t>—</a:t>
            </a:r>
            <a:r>
              <a:rPr sz="1100" spc="-15" dirty="0">
                <a:latin typeface="Times New Roman"/>
                <a:cs typeface="Times New Roman"/>
              </a:rPr>
              <a:t> </a:t>
            </a:r>
            <a:r>
              <a:rPr sz="1100" dirty="0">
                <a:latin typeface="Times New Roman"/>
                <a:cs typeface="Times New Roman"/>
              </a:rPr>
              <a:t>Official</a:t>
            </a:r>
            <a:r>
              <a:rPr sz="1100" spc="-10" dirty="0">
                <a:latin typeface="Times New Roman"/>
                <a:cs typeface="Times New Roman"/>
              </a:rPr>
              <a:t> </a:t>
            </a:r>
            <a:r>
              <a:rPr sz="1100" dirty="0">
                <a:latin typeface="Times New Roman"/>
                <a:cs typeface="Times New Roman"/>
              </a:rPr>
              <a:t>Documentation,</a:t>
            </a:r>
            <a:r>
              <a:rPr sz="1100" spc="-5" dirty="0">
                <a:latin typeface="Times New Roman"/>
                <a:cs typeface="Times New Roman"/>
              </a:rPr>
              <a:t> </a:t>
            </a:r>
            <a:r>
              <a:rPr sz="1100" u="sng" spc="-10" dirty="0">
                <a:solidFill>
                  <a:srgbClr val="0000FF"/>
                </a:solidFill>
                <a:uFill>
                  <a:solidFill>
                    <a:srgbClr val="0000FF"/>
                  </a:solidFill>
                </a:uFill>
                <a:latin typeface="Times New Roman"/>
                <a:cs typeface="Times New Roman"/>
                <a:hlinkClick r:id="rId3"/>
              </a:rPr>
              <a:t>https://vitejs.dev</a:t>
            </a:r>
            <a:endParaRPr sz="1100">
              <a:latin typeface="Times New Roman"/>
              <a:cs typeface="Times New Roman"/>
            </a:endParaRPr>
          </a:p>
          <a:p>
            <a:pPr marL="178435" indent="-165735">
              <a:lnSpc>
                <a:spcPct val="100000"/>
              </a:lnSpc>
              <a:spcBef>
                <a:spcPts val="540"/>
              </a:spcBef>
              <a:buChar char="•"/>
              <a:tabLst>
                <a:tab pos="178435" algn="l"/>
              </a:tabLst>
            </a:pPr>
            <a:r>
              <a:rPr sz="1100" dirty="0">
                <a:latin typeface="Times New Roman"/>
                <a:cs typeface="Times New Roman"/>
              </a:rPr>
              <a:t>Node.js</a:t>
            </a:r>
            <a:r>
              <a:rPr sz="1100" spc="-30" dirty="0">
                <a:latin typeface="Times New Roman"/>
                <a:cs typeface="Times New Roman"/>
              </a:rPr>
              <a:t> </a:t>
            </a:r>
            <a:r>
              <a:rPr sz="1100" dirty="0">
                <a:latin typeface="Times New Roman"/>
                <a:cs typeface="Times New Roman"/>
              </a:rPr>
              <a:t>—</a:t>
            </a:r>
            <a:r>
              <a:rPr sz="1100" spc="-15" dirty="0">
                <a:latin typeface="Times New Roman"/>
                <a:cs typeface="Times New Roman"/>
              </a:rPr>
              <a:t> </a:t>
            </a:r>
            <a:r>
              <a:rPr sz="1100" dirty="0">
                <a:latin typeface="Times New Roman"/>
                <a:cs typeface="Times New Roman"/>
              </a:rPr>
              <a:t>Official</a:t>
            </a:r>
            <a:r>
              <a:rPr sz="1100" spc="-10" dirty="0">
                <a:latin typeface="Times New Roman"/>
                <a:cs typeface="Times New Roman"/>
              </a:rPr>
              <a:t> </a:t>
            </a:r>
            <a:r>
              <a:rPr sz="1100" dirty="0">
                <a:latin typeface="Times New Roman"/>
                <a:cs typeface="Times New Roman"/>
              </a:rPr>
              <a:t>Documentation,</a:t>
            </a:r>
            <a:r>
              <a:rPr sz="1100" spc="-10" dirty="0">
                <a:latin typeface="Times New Roman"/>
                <a:cs typeface="Times New Roman"/>
              </a:rPr>
              <a:t> </a:t>
            </a:r>
            <a:r>
              <a:rPr sz="1100" u="sng" spc="-10" dirty="0">
                <a:solidFill>
                  <a:srgbClr val="0000FF"/>
                </a:solidFill>
                <a:uFill>
                  <a:solidFill>
                    <a:srgbClr val="0000FF"/>
                  </a:solidFill>
                </a:uFill>
                <a:latin typeface="Times New Roman"/>
                <a:cs typeface="Times New Roman"/>
                <a:hlinkClick r:id="rId4"/>
              </a:rPr>
              <a:t>https://nodejs.org/en/docs</a:t>
            </a:r>
            <a:endParaRPr sz="1100">
              <a:latin typeface="Times New Roman"/>
              <a:cs typeface="Times New Roman"/>
            </a:endParaRPr>
          </a:p>
          <a:p>
            <a:pPr marL="178435" indent="-165735">
              <a:lnSpc>
                <a:spcPct val="100000"/>
              </a:lnSpc>
              <a:spcBef>
                <a:spcPts val="540"/>
              </a:spcBef>
              <a:buChar char="•"/>
              <a:tabLst>
                <a:tab pos="178435" algn="l"/>
              </a:tabLst>
            </a:pPr>
            <a:r>
              <a:rPr sz="1100" dirty="0">
                <a:latin typeface="Times New Roman"/>
                <a:cs typeface="Times New Roman"/>
              </a:rPr>
              <a:t>Express.js</a:t>
            </a:r>
            <a:r>
              <a:rPr sz="1100" spc="-10" dirty="0">
                <a:latin typeface="Times New Roman"/>
                <a:cs typeface="Times New Roman"/>
              </a:rPr>
              <a:t> </a:t>
            </a:r>
            <a:r>
              <a:rPr sz="1100" dirty="0">
                <a:latin typeface="Times New Roman"/>
                <a:cs typeface="Times New Roman"/>
              </a:rPr>
              <a:t>—</a:t>
            </a:r>
            <a:r>
              <a:rPr sz="1100" spc="-15" dirty="0">
                <a:latin typeface="Times New Roman"/>
                <a:cs typeface="Times New Roman"/>
              </a:rPr>
              <a:t> </a:t>
            </a:r>
            <a:r>
              <a:rPr sz="1100" dirty="0">
                <a:latin typeface="Times New Roman"/>
                <a:cs typeface="Times New Roman"/>
              </a:rPr>
              <a:t>Official</a:t>
            </a:r>
            <a:r>
              <a:rPr sz="1100" spc="-10" dirty="0">
                <a:latin typeface="Times New Roman"/>
                <a:cs typeface="Times New Roman"/>
              </a:rPr>
              <a:t> </a:t>
            </a:r>
            <a:r>
              <a:rPr sz="1100" dirty="0">
                <a:latin typeface="Times New Roman"/>
                <a:cs typeface="Times New Roman"/>
              </a:rPr>
              <a:t>Documentation,</a:t>
            </a:r>
            <a:r>
              <a:rPr sz="1100" spc="-15" dirty="0">
                <a:latin typeface="Times New Roman"/>
                <a:cs typeface="Times New Roman"/>
              </a:rPr>
              <a:t> </a:t>
            </a:r>
            <a:r>
              <a:rPr sz="1100" u="sng" spc="-10" dirty="0">
                <a:solidFill>
                  <a:srgbClr val="0000FF"/>
                </a:solidFill>
                <a:uFill>
                  <a:solidFill>
                    <a:srgbClr val="0000FF"/>
                  </a:solidFill>
                </a:uFill>
                <a:latin typeface="Times New Roman"/>
                <a:cs typeface="Times New Roman"/>
                <a:hlinkClick r:id="rId5"/>
              </a:rPr>
              <a:t>https://expressjs.com</a:t>
            </a:r>
            <a:endParaRPr sz="1100">
              <a:latin typeface="Times New Roman"/>
              <a:cs typeface="Times New Roman"/>
            </a:endParaRPr>
          </a:p>
          <a:p>
            <a:pPr marL="178435" indent="-165735">
              <a:lnSpc>
                <a:spcPct val="100000"/>
              </a:lnSpc>
              <a:spcBef>
                <a:spcPts val="550"/>
              </a:spcBef>
              <a:buChar char="•"/>
              <a:tabLst>
                <a:tab pos="178435" algn="l"/>
              </a:tabLst>
            </a:pPr>
            <a:r>
              <a:rPr sz="1100" dirty="0">
                <a:latin typeface="Times New Roman"/>
                <a:cs typeface="Times New Roman"/>
              </a:rPr>
              <a:t>MySQL</a:t>
            </a:r>
            <a:r>
              <a:rPr sz="1100" spc="-25" dirty="0">
                <a:latin typeface="Times New Roman"/>
                <a:cs typeface="Times New Roman"/>
              </a:rPr>
              <a:t> </a:t>
            </a:r>
            <a:r>
              <a:rPr sz="1100" dirty="0">
                <a:latin typeface="Times New Roman"/>
                <a:cs typeface="Times New Roman"/>
              </a:rPr>
              <a:t>8.0</a:t>
            </a:r>
            <a:r>
              <a:rPr sz="1100" spc="-25" dirty="0">
                <a:latin typeface="Times New Roman"/>
                <a:cs typeface="Times New Roman"/>
              </a:rPr>
              <a:t> </a:t>
            </a:r>
            <a:r>
              <a:rPr sz="1100" dirty="0">
                <a:latin typeface="Times New Roman"/>
                <a:cs typeface="Times New Roman"/>
              </a:rPr>
              <a:t>Reference</a:t>
            </a:r>
            <a:r>
              <a:rPr sz="1100" spc="-20" dirty="0">
                <a:latin typeface="Times New Roman"/>
                <a:cs typeface="Times New Roman"/>
              </a:rPr>
              <a:t> </a:t>
            </a:r>
            <a:r>
              <a:rPr sz="1100" dirty="0">
                <a:latin typeface="Times New Roman"/>
                <a:cs typeface="Times New Roman"/>
              </a:rPr>
              <a:t>Manual,</a:t>
            </a:r>
            <a:r>
              <a:rPr sz="1100" spc="-20" dirty="0">
                <a:latin typeface="Times New Roman"/>
                <a:cs typeface="Times New Roman"/>
              </a:rPr>
              <a:t> </a:t>
            </a:r>
            <a:r>
              <a:rPr sz="1100" u="sng" spc="-10" dirty="0">
                <a:solidFill>
                  <a:srgbClr val="0000FF"/>
                </a:solidFill>
                <a:uFill>
                  <a:solidFill>
                    <a:srgbClr val="0000FF"/>
                  </a:solidFill>
                </a:uFill>
                <a:latin typeface="Times New Roman"/>
                <a:cs typeface="Times New Roman"/>
                <a:hlinkClick r:id="rId6"/>
              </a:rPr>
              <a:t>https://dev.mysql.com/doc/refman/8.0/en/</a:t>
            </a:r>
            <a:endParaRPr sz="1100">
              <a:latin typeface="Times New Roman"/>
              <a:cs typeface="Times New Roman"/>
            </a:endParaRPr>
          </a:p>
          <a:p>
            <a:pPr marL="178435" indent="-165735">
              <a:lnSpc>
                <a:spcPct val="100000"/>
              </a:lnSpc>
              <a:spcBef>
                <a:spcPts val="540"/>
              </a:spcBef>
              <a:buChar char="•"/>
              <a:tabLst>
                <a:tab pos="178435" algn="l"/>
              </a:tabLst>
            </a:pPr>
            <a:r>
              <a:rPr sz="1100" dirty="0">
                <a:latin typeface="Times New Roman"/>
                <a:cs typeface="Times New Roman"/>
              </a:rPr>
              <a:t>mysql2</a:t>
            </a:r>
            <a:r>
              <a:rPr sz="1100" spc="-10" dirty="0">
                <a:latin typeface="Times New Roman"/>
                <a:cs typeface="Times New Roman"/>
              </a:rPr>
              <a:t> </a:t>
            </a:r>
            <a:r>
              <a:rPr sz="1100" dirty="0">
                <a:latin typeface="Times New Roman"/>
                <a:cs typeface="Times New Roman"/>
              </a:rPr>
              <a:t>(Node.js</a:t>
            </a:r>
            <a:r>
              <a:rPr sz="1100" spc="-20" dirty="0">
                <a:latin typeface="Times New Roman"/>
                <a:cs typeface="Times New Roman"/>
              </a:rPr>
              <a:t> </a:t>
            </a:r>
            <a:r>
              <a:rPr sz="1100" dirty="0">
                <a:latin typeface="Times New Roman"/>
                <a:cs typeface="Times New Roman"/>
              </a:rPr>
              <a:t>MySQL</a:t>
            </a:r>
            <a:r>
              <a:rPr sz="1100" spc="-10" dirty="0">
                <a:latin typeface="Times New Roman"/>
                <a:cs typeface="Times New Roman"/>
              </a:rPr>
              <a:t> </a:t>
            </a:r>
            <a:r>
              <a:rPr sz="1100" dirty="0">
                <a:latin typeface="Times New Roman"/>
                <a:cs typeface="Times New Roman"/>
              </a:rPr>
              <a:t>driver)</a:t>
            </a:r>
            <a:r>
              <a:rPr sz="1100" spc="-10" dirty="0">
                <a:latin typeface="Times New Roman"/>
                <a:cs typeface="Times New Roman"/>
              </a:rPr>
              <a:t> </a:t>
            </a:r>
            <a:r>
              <a:rPr sz="1100" dirty="0">
                <a:latin typeface="Times New Roman"/>
                <a:cs typeface="Times New Roman"/>
              </a:rPr>
              <a:t>—</a:t>
            </a:r>
            <a:r>
              <a:rPr sz="1100" spc="-10" dirty="0">
                <a:latin typeface="Times New Roman"/>
                <a:cs typeface="Times New Roman"/>
              </a:rPr>
              <a:t> </a:t>
            </a:r>
            <a:r>
              <a:rPr sz="1100" dirty="0">
                <a:latin typeface="Times New Roman"/>
                <a:cs typeface="Times New Roman"/>
              </a:rPr>
              <a:t>npm</a:t>
            </a:r>
            <a:r>
              <a:rPr sz="1100" spc="-25" dirty="0">
                <a:latin typeface="Times New Roman"/>
                <a:cs typeface="Times New Roman"/>
              </a:rPr>
              <a:t> </a:t>
            </a:r>
            <a:r>
              <a:rPr sz="1100" dirty="0">
                <a:latin typeface="Times New Roman"/>
                <a:cs typeface="Times New Roman"/>
              </a:rPr>
              <a:t>documentation,</a:t>
            </a:r>
            <a:r>
              <a:rPr sz="1100" spc="-5" dirty="0">
                <a:latin typeface="Times New Roman"/>
                <a:cs typeface="Times New Roman"/>
              </a:rPr>
              <a:t> </a:t>
            </a:r>
            <a:r>
              <a:rPr sz="1100" u="sng" spc="-10" dirty="0">
                <a:solidFill>
                  <a:srgbClr val="0000FF"/>
                </a:solidFill>
                <a:uFill>
                  <a:solidFill>
                    <a:srgbClr val="0000FF"/>
                  </a:solidFill>
                </a:uFill>
                <a:latin typeface="Times New Roman"/>
                <a:cs typeface="Times New Roman"/>
                <a:hlinkClick r:id="rId7"/>
              </a:rPr>
              <a:t>https://www.npmjs.com/package/mysql2</a:t>
            </a:r>
            <a:endParaRPr sz="1100">
              <a:latin typeface="Times New Roman"/>
              <a:cs typeface="Times New Roman"/>
            </a:endParaRPr>
          </a:p>
          <a:p>
            <a:pPr marL="178435" indent="-165735">
              <a:lnSpc>
                <a:spcPct val="100000"/>
              </a:lnSpc>
              <a:spcBef>
                <a:spcPts val="540"/>
              </a:spcBef>
              <a:buChar char="•"/>
              <a:tabLst>
                <a:tab pos="178435" algn="l"/>
              </a:tabLst>
            </a:pPr>
            <a:r>
              <a:rPr sz="1100" dirty="0">
                <a:latin typeface="Times New Roman"/>
                <a:cs typeface="Times New Roman"/>
              </a:rPr>
              <a:t>jsonwebtoken</a:t>
            </a:r>
            <a:r>
              <a:rPr sz="1100" spc="-10" dirty="0">
                <a:latin typeface="Times New Roman"/>
                <a:cs typeface="Times New Roman"/>
              </a:rPr>
              <a:t> </a:t>
            </a:r>
            <a:r>
              <a:rPr sz="1100" dirty="0">
                <a:latin typeface="Times New Roman"/>
                <a:cs typeface="Times New Roman"/>
              </a:rPr>
              <a:t>—</a:t>
            </a:r>
            <a:r>
              <a:rPr sz="1100" spc="-5" dirty="0">
                <a:latin typeface="Times New Roman"/>
                <a:cs typeface="Times New Roman"/>
              </a:rPr>
              <a:t> </a:t>
            </a:r>
            <a:r>
              <a:rPr sz="1100" dirty="0">
                <a:latin typeface="Times New Roman"/>
                <a:cs typeface="Times New Roman"/>
              </a:rPr>
              <a:t>npm</a:t>
            </a:r>
            <a:r>
              <a:rPr sz="1100" spc="-30" dirty="0">
                <a:latin typeface="Times New Roman"/>
                <a:cs typeface="Times New Roman"/>
              </a:rPr>
              <a:t> </a:t>
            </a:r>
            <a:r>
              <a:rPr sz="1100" dirty="0">
                <a:latin typeface="Times New Roman"/>
                <a:cs typeface="Times New Roman"/>
              </a:rPr>
              <a:t>documentation,</a:t>
            </a:r>
            <a:r>
              <a:rPr sz="1100" spc="-10" dirty="0">
                <a:latin typeface="Times New Roman"/>
                <a:cs typeface="Times New Roman"/>
              </a:rPr>
              <a:t> </a:t>
            </a:r>
            <a:r>
              <a:rPr sz="1100" u="sng" spc="-10" dirty="0">
                <a:solidFill>
                  <a:srgbClr val="0000FF"/>
                </a:solidFill>
                <a:uFill>
                  <a:solidFill>
                    <a:srgbClr val="0000FF"/>
                  </a:solidFill>
                </a:uFill>
                <a:latin typeface="Times New Roman"/>
                <a:cs typeface="Times New Roman"/>
                <a:hlinkClick r:id="rId8"/>
              </a:rPr>
              <a:t>https://www.npmjs.com/package/jsonwebtoken</a:t>
            </a:r>
            <a:endParaRPr sz="1100">
              <a:latin typeface="Times New Roman"/>
              <a:cs typeface="Times New Roman"/>
            </a:endParaRPr>
          </a:p>
          <a:p>
            <a:pPr marL="178435" indent="-165735">
              <a:lnSpc>
                <a:spcPct val="100000"/>
              </a:lnSpc>
              <a:spcBef>
                <a:spcPts val="540"/>
              </a:spcBef>
              <a:buChar char="•"/>
              <a:tabLst>
                <a:tab pos="178435" algn="l"/>
              </a:tabLst>
            </a:pPr>
            <a:r>
              <a:rPr sz="1100" dirty="0">
                <a:latin typeface="Times New Roman"/>
                <a:cs typeface="Times New Roman"/>
              </a:rPr>
              <a:t>bcrypt</a:t>
            </a:r>
            <a:r>
              <a:rPr sz="1100" spc="-5" dirty="0">
                <a:latin typeface="Times New Roman"/>
                <a:cs typeface="Times New Roman"/>
              </a:rPr>
              <a:t> </a:t>
            </a:r>
            <a:r>
              <a:rPr sz="1100" dirty="0">
                <a:latin typeface="Times New Roman"/>
                <a:cs typeface="Times New Roman"/>
              </a:rPr>
              <a:t>—</a:t>
            </a:r>
            <a:r>
              <a:rPr sz="1100" spc="-5" dirty="0">
                <a:latin typeface="Times New Roman"/>
                <a:cs typeface="Times New Roman"/>
              </a:rPr>
              <a:t> </a:t>
            </a:r>
            <a:r>
              <a:rPr sz="1100" dirty="0">
                <a:latin typeface="Times New Roman"/>
                <a:cs typeface="Times New Roman"/>
              </a:rPr>
              <a:t>npm</a:t>
            </a:r>
            <a:r>
              <a:rPr sz="1100" spc="-25" dirty="0">
                <a:latin typeface="Times New Roman"/>
                <a:cs typeface="Times New Roman"/>
              </a:rPr>
              <a:t> </a:t>
            </a:r>
            <a:r>
              <a:rPr sz="1100" dirty="0">
                <a:latin typeface="Times New Roman"/>
                <a:cs typeface="Times New Roman"/>
              </a:rPr>
              <a:t>documentation, </a:t>
            </a:r>
            <a:r>
              <a:rPr sz="1100" u="sng" spc="-10" dirty="0">
                <a:solidFill>
                  <a:srgbClr val="0000FF"/>
                </a:solidFill>
                <a:uFill>
                  <a:solidFill>
                    <a:srgbClr val="0000FF"/>
                  </a:solidFill>
                </a:uFill>
                <a:latin typeface="Times New Roman"/>
                <a:cs typeface="Times New Roman"/>
                <a:hlinkClick r:id="rId9"/>
              </a:rPr>
              <a:t>https://www.npmjs.com/package/bcrypt</a:t>
            </a:r>
            <a:endParaRPr sz="1100">
              <a:latin typeface="Times New Roman"/>
              <a:cs typeface="Times New Roman"/>
            </a:endParaRPr>
          </a:p>
          <a:p>
            <a:pPr marL="178435" indent="-165735">
              <a:lnSpc>
                <a:spcPct val="100000"/>
              </a:lnSpc>
              <a:spcBef>
                <a:spcPts val="545"/>
              </a:spcBef>
              <a:buChar char="•"/>
              <a:tabLst>
                <a:tab pos="178435" algn="l"/>
              </a:tabLst>
            </a:pPr>
            <a:r>
              <a:rPr sz="1100" dirty="0">
                <a:latin typeface="Times New Roman"/>
                <a:cs typeface="Times New Roman"/>
              </a:rPr>
              <a:t>Postman</a:t>
            </a:r>
            <a:r>
              <a:rPr sz="1100" spc="-10" dirty="0">
                <a:latin typeface="Times New Roman"/>
                <a:cs typeface="Times New Roman"/>
              </a:rPr>
              <a:t> </a:t>
            </a:r>
            <a:r>
              <a:rPr sz="1100" dirty="0">
                <a:latin typeface="Times New Roman"/>
                <a:cs typeface="Times New Roman"/>
              </a:rPr>
              <a:t>Learning</a:t>
            </a:r>
            <a:r>
              <a:rPr sz="1100" spc="-25" dirty="0">
                <a:latin typeface="Times New Roman"/>
                <a:cs typeface="Times New Roman"/>
              </a:rPr>
              <a:t> </a:t>
            </a:r>
            <a:r>
              <a:rPr sz="1100" dirty="0">
                <a:latin typeface="Times New Roman"/>
                <a:cs typeface="Times New Roman"/>
              </a:rPr>
              <a:t>Center,</a:t>
            </a:r>
            <a:r>
              <a:rPr sz="1100" spc="-15" dirty="0">
                <a:latin typeface="Times New Roman"/>
                <a:cs typeface="Times New Roman"/>
              </a:rPr>
              <a:t> </a:t>
            </a:r>
            <a:r>
              <a:rPr sz="1100" u="sng" spc="-10" dirty="0">
                <a:solidFill>
                  <a:srgbClr val="0000FF"/>
                </a:solidFill>
                <a:uFill>
                  <a:solidFill>
                    <a:srgbClr val="0000FF"/>
                  </a:solidFill>
                </a:uFill>
                <a:latin typeface="Times New Roman"/>
                <a:cs typeface="Times New Roman"/>
                <a:hlinkClick r:id="rId10"/>
              </a:rPr>
              <a:t>https://learning.postman.com</a:t>
            </a:r>
            <a:endParaRPr sz="1100">
              <a:latin typeface="Times New Roman"/>
              <a:cs typeface="Times New Roman"/>
            </a:endParaRPr>
          </a:p>
          <a:p>
            <a:pPr marL="178435" indent="-165735">
              <a:lnSpc>
                <a:spcPct val="100000"/>
              </a:lnSpc>
              <a:spcBef>
                <a:spcPts val="550"/>
              </a:spcBef>
              <a:buChar char="•"/>
              <a:tabLst>
                <a:tab pos="178435" algn="l"/>
              </a:tabLst>
            </a:pPr>
            <a:r>
              <a:rPr sz="1100" dirty="0">
                <a:latin typeface="Times New Roman"/>
                <a:cs typeface="Times New Roman"/>
              </a:rPr>
              <a:t>MDN</a:t>
            </a:r>
            <a:r>
              <a:rPr sz="1100" spc="-25" dirty="0">
                <a:latin typeface="Times New Roman"/>
                <a:cs typeface="Times New Roman"/>
              </a:rPr>
              <a:t> </a:t>
            </a:r>
            <a:r>
              <a:rPr sz="1100" dirty="0">
                <a:latin typeface="Times New Roman"/>
                <a:cs typeface="Times New Roman"/>
              </a:rPr>
              <a:t>Web</a:t>
            </a:r>
            <a:r>
              <a:rPr sz="1100" spc="-10" dirty="0">
                <a:latin typeface="Times New Roman"/>
                <a:cs typeface="Times New Roman"/>
              </a:rPr>
              <a:t> </a:t>
            </a:r>
            <a:r>
              <a:rPr sz="1100" dirty="0">
                <a:latin typeface="Times New Roman"/>
                <a:cs typeface="Times New Roman"/>
              </a:rPr>
              <a:t>Docs</a:t>
            </a:r>
            <a:r>
              <a:rPr sz="1100" spc="-10" dirty="0">
                <a:latin typeface="Times New Roman"/>
                <a:cs typeface="Times New Roman"/>
              </a:rPr>
              <a:t> </a:t>
            </a:r>
            <a:r>
              <a:rPr sz="1100" dirty="0">
                <a:latin typeface="Times New Roman"/>
                <a:cs typeface="Times New Roman"/>
              </a:rPr>
              <a:t>—</a:t>
            </a:r>
            <a:r>
              <a:rPr sz="1100" spc="-20" dirty="0">
                <a:latin typeface="Times New Roman"/>
                <a:cs typeface="Times New Roman"/>
              </a:rPr>
              <a:t> </a:t>
            </a:r>
            <a:r>
              <a:rPr sz="1100" dirty="0">
                <a:latin typeface="Times New Roman"/>
                <a:cs typeface="Times New Roman"/>
              </a:rPr>
              <a:t>JavaScript</a:t>
            </a:r>
            <a:r>
              <a:rPr sz="1100" spc="-5" dirty="0">
                <a:latin typeface="Times New Roman"/>
                <a:cs typeface="Times New Roman"/>
              </a:rPr>
              <a:t> </a:t>
            </a:r>
            <a:r>
              <a:rPr sz="1100" dirty="0">
                <a:latin typeface="Times New Roman"/>
                <a:cs typeface="Times New Roman"/>
              </a:rPr>
              <a:t>and</a:t>
            </a:r>
            <a:r>
              <a:rPr sz="1100" spc="-20" dirty="0">
                <a:latin typeface="Times New Roman"/>
                <a:cs typeface="Times New Roman"/>
              </a:rPr>
              <a:t> </a:t>
            </a:r>
            <a:r>
              <a:rPr sz="1100" dirty="0">
                <a:latin typeface="Times New Roman"/>
                <a:cs typeface="Times New Roman"/>
              </a:rPr>
              <a:t>Web</a:t>
            </a:r>
            <a:r>
              <a:rPr sz="1100" spc="-25" dirty="0">
                <a:latin typeface="Times New Roman"/>
                <a:cs typeface="Times New Roman"/>
              </a:rPr>
              <a:t> </a:t>
            </a:r>
            <a:r>
              <a:rPr sz="1100" dirty="0">
                <a:latin typeface="Times New Roman"/>
                <a:cs typeface="Times New Roman"/>
              </a:rPr>
              <a:t>APIs</a:t>
            </a:r>
            <a:r>
              <a:rPr sz="1100" spc="-10" dirty="0">
                <a:latin typeface="Times New Roman"/>
                <a:cs typeface="Times New Roman"/>
              </a:rPr>
              <a:t> </a:t>
            </a:r>
            <a:r>
              <a:rPr sz="1100" dirty="0">
                <a:latin typeface="Times New Roman"/>
                <a:cs typeface="Times New Roman"/>
              </a:rPr>
              <a:t>reference, </a:t>
            </a:r>
            <a:r>
              <a:rPr sz="1100" u="sng" spc="-10" dirty="0">
                <a:solidFill>
                  <a:srgbClr val="0000FF"/>
                </a:solidFill>
                <a:uFill>
                  <a:solidFill>
                    <a:srgbClr val="0000FF"/>
                  </a:solidFill>
                </a:uFill>
                <a:latin typeface="Times New Roman"/>
                <a:cs typeface="Times New Roman"/>
                <a:hlinkClick r:id="rId11"/>
              </a:rPr>
              <a:t>https://developer.mozilla.org</a:t>
            </a:r>
            <a:endParaRPr sz="1100">
              <a:latin typeface="Times New Roman"/>
              <a:cs typeface="Times New Roman"/>
            </a:endParaRPr>
          </a:p>
        </p:txBody>
      </p:sp>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32384">
              <a:lnSpc>
                <a:spcPts val="1150"/>
              </a:lnSpc>
            </a:pPr>
            <a:r>
              <a:rPr dirty="0">
                <a:solidFill>
                  <a:srgbClr val="000000"/>
                </a:solidFill>
                <a:latin typeface="Calibri Light"/>
                <a:cs typeface="Calibri Light"/>
              </a:rPr>
              <a:t>Page</a:t>
            </a:r>
            <a:r>
              <a:rPr spc="-45" dirty="0">
                <a:solidFill>
                  <a:srgbClr val="000000"/>
                </a:solidFill>
                <a:latin typeface="Calibri Light"/>
                <a:cs typeface="Calibri Light"/>
              </a:rPr>
              <a:t> </a:t>
            </a:r>
            <a:r>
              <a:rPr spc="-25" dirty="0">
                <a:solidFill>
                  <a:srgbClr val="000000"/>
                </a:solidFill>
                <a:latin typeface="Calibri Light"/>
                <a:cs typeface="Calibri Light"/>
              </a:rPr>
              <a:t>21</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p:nvPr/>
        </p:nvSpPr>
        <p:spPr>
          <a:xfrm>
            <a:off x="813612" y="673100"/>
            <a:ext cx="4584700" cy="1043876"/>
          </a:xfrm>
          <a:prstGeom prst="rect">
            <a:avLst/>
          </a:prstGeom>
        </p:spPr>
        <p:txBody>
          <a:bodyPr vert="horz" wrap="square" lIns="0" tIns="12700" rIns="0" bIns="0" rtlCol="0">
            <a:spAutoFit/>
          </a:bodyPr>
          <a:lstStyle/>
          <a:p>
            <a:pPr marL="1718310">
              <a:lnSpc>
                <a:spcPct val="100000"/>
              </a:lnSpc>
              <a:spcBef>
                <a:spcPts val="100"/>
              </a:spcBef>
            </a:pPr>
            <a:r>
              <a:rPr sz="1500" b="1" dirty="0">
                <a:latin typeface="Times New Roman"/>
                <a:cs typeface="Times New Roman"/>
              </a:rPr>
              <a:t>CHAPTER</a:t>
            </a:r>
            <a:r>
              <a:rPr sz="1500" b="1" spc="-40" dirty="0">
                <a:latin typeface="Times New Roman"/>
                <a:cs typeface="Times New Roman"/>
              </a:rPr>
              <a:t> </a:t>
            </a:r>
            <a:r>
              <a:rPr sz="1500" b="1" dirty="0">
                <a:latin typeface="Times New Roman"/>
                <a:cs typeface="Times New Roman"/>
              </a:rPr>
              <a:t>14:</a:t>
            </a:r>
            <a:r>
              <a:rPr sz="1500" b="1" spc="-30" dirty="0">
                <a:latin typeface="Times New Roman"/>
                <a:cs typeface="Times New Roman"/>
              </a:rPr>
              <a:t> </a:t>
            </a:r>
            <a:r>
              <a:rPr sz="1500" b="1" spc="-10" dirty="0">
                <a:latin typeface="Times New Roman"/>
                <a:cs typeface="Times New Roman"/>
              </a:rPr>
              <a:t>APPENDICES</a:t>
            </a:r>
            <a:endParaRPr sz="1500" dirty="0">
              <a:latin typeface="Times New Roman"/>
              <a:cs typeface="Times New Roman"/>
            </a:endParaRPr>
          </a:p>
          <a:p>
            <a:pPr marL="12700">
              <a:lnSpc>
                <a:spcPct val="100000"/>
              </a:lnSpc>
              <a:spcBef>
                <a:spcPts val="1245"/>
              </a:spcBef>
            </a:pPr>
            <a:r>
              <a:rPr sz="1300" b="1" dirty="0">
                <a:latin typeface="Times New Roman"/>
                <a:cs typeface="Times New Roman"/>
              </a:rPr>
              <a:t>Appendix</a:t>
            </a:r>
            <a:r>
              <a:rPr sz="1300" b="1" spc="-35" dirty="0">
                <a:latin typeface="Times New Roman"/>
                <a:cs typeface="Times New Roman"/>
              </a:rPr>
              <a:t> </a:t>
            </a:r>
            <a:r>
              <a:rPr sz="1300" b="1" dirty="0">
                <a:latin typeface="Times New Roman"/>
                <a:cs typeface="Times New Roman"/>
              </a:rPr>
              <a:t>A:</a:t>
            </a:r>
            <a:r>
              <a:rPr sz="1300" b="1" spc="-35" dirty="0">
                <a:latin typeface="Times New Roman"/>
                <a:cs typeface="Times New Roman"/>
              </a:rPr>
              <a:t> </a:t>
            </a:r>
            <a:r>
              <a:rPr sz="1300" b="1" dirty="0">
                <a:latin typeface="Times New Roman"/>
                <a:cs typeface="Times New Roman"/>
              </a:rPr>
              <a:t>Sample</a:t>
            </a:r>
            <a:r>
              <a:rPr sz="1300" b="1" spc="-30" dirty="0">
                <a:latin typeface="Times New Roman"/>
                <a:cs typeface="Times New Roman"/>
              </a:rPr>
              <a:t> </a:t>
            </a:r>
            <a:r>
              <a:rPr sz="1300" b="1" dirty="0">
                <a:latin typeface="Times New Roman"/>
                <a:cs typeface="Times New Roman"/>
              </a:rPr>
              <a:t>Code</a:t>
            </a:r>
            <a:r>
              <a:rPr sz="1300" b="1" spc="-40" dirty="0">
                <a:latin typeface="Times New Roman"/>
                <a:cs typeface="Times New Roman"/>
              </a:rPr>
              <a:t> </a:t>
            </a:r>
            <a:r>
              <a:rPr sz="1300" b="1" spc="-10" dirty="0">
                <a:latin typeface="Times New Roman"/>
                <a:cs typeface="Times New Roman"/>
              </a:rPr>
              <a:t>Snippet</a:t>
            </a:r>
            <a:endParaRPr sz="1300" dirty="0">
              <a:latin typeface="Times New Roman"/>
              <a:cs typeface="Times New Roman"/>
            </a:endParaRPr>
          </a:p>
          <a:p>
            <a:pPr marL="12700">
              <a:lnSpc>
                <a:spcPct val="100000"/>
              </a:lnSpc>
              <a:spcBef>
                <a:spcPts val="605"/>
              </a:spcBef>
            </a:pPr>
            <a:r>
              <a:rPr lang="en-IN" sz="1200" dirty="0">
                <a:latin typeface="Times New Roman" panose="02020603050405020304" pitchFamily="18" charset="0"/>
                <a:cs typeface="Times New Roman" panose="02020603050405020304" pitchFamily="18" charset="0"/>
              </a:rPr>
              <a:t>The following SQL query is used to retrieve book transaction information by connecting the transactions and books tables:</a:t>
            </a:r>
            <a:r>
              <a:rPr sz="1200" spc="-10" dirty="0">
                <a:latin typeface="Times New Roman" panose="02020603050405020304" pitchFamily="18" charset="0"/>
                <a:cs typeface="Times New Roman" panose="02020603050405020304" pitchFamily="18" charset="0"/>
              </a:rPr>
              <a:t>:</a:t>
            </a:r>
            <a:endParaRPr sz="1200" dirty="0">
              <a:latin typeface="Times New Roman" panose="02020603050405020304" pitchFamily="18" charset="0"/>
              <a:cs typeface="Times New Roman" panose="02020603050405020304" pitchFamily="18" charset="0"/>
            </a:endParaRPr>
          </a:p>
        </p:txBody>
      </p:sp>
      <p:sp>
        <p:nvSpPr>
          <p:cNvPr id="5" name="object 5"/>
          <p:cNvSpPr txBox="1"/>
          <p:nvPr/>
        </p:nvSpPr>
        <p:spPr>
          <a:xfrm>
            <a:off x="909003" y="3129990"/>
            <a:ext cx="4074795" cy="3334887"/>
          </a:xfrm>
          <a:prstGeom prst="rect">
            <a:avLst/>
          </a:prstGeom>
        </p:spPr>
        <p:txBody>
          <a:bodyPr vert="horz" wrap="square" lIns="0" tIns="102235" rIns="0" bIns="0" rtlCol="0">
            <a:spAutoFit/>
          </a:bodyPr>
          <a:lstStyle/>
          <a:p>
            <a:pPr marL="12700">
              <a:lnSpc>
                <a:spcPct val="100000"/>
              </a:lnSpc>
              <a:spcBef>
                <a:spcPts val="805"/>
              </a:spcBef>
            </a:pPr>
            <a:r>
              <a:rPr sz="1300" b="1" dirty="0">
                <a:latin typeface="Times New Roman"/>
                <a:cs typeface="Times New Roman"/>
              </a:rPr>
              <a:t>Appendix</a:t>
            </a:r>
            <a:r>
              <a:rPr sz="1300" b="1" spc="-30" dirty="0">
                <a:latin typeface="Times New Roman"/>
                <a:cs typeface="Times New Roman"/>
              </a:rPr>
              <a:t> </a:t>
            </a:r>
            <a:r>
              <a:rPr sz="1300" b="1" dirty="0">
                <a:latin typeface="Times New Roman"/>
                <a:cs typeface="Times New Roman"/>
              </a:rPr>
              <a:t>B:</a:t>
            </a:r>
            <a:r>
              <a:rPr sz="1300" b="1" spc="-40" dirty="0">
                <a:latin typeface="Times New Roman"/>
                <a:cs typeface="Times New Roman"/>
              </a:rPr>
              <a:t> </a:t>
            </a:r>
            <a:r>
              <a:rPr sz="1300" b="1" dirty="0">
                <a:latin typeface="Times New Roman"/>
                <a:cs typeface="Times New Roman"/>
              </a:rPr>
              <a:t>Installation</a:t>
            </a:r>
            <a:r>
              <a:rPr sz="1300" b="1" spc="-40" dirty="0">
                <a:latin typeface="Times New Roman"/>
                <a:cs typeface="Times New Roman"/>
              </a:rPr>
              <a:t> </a:t>
            </a:r>
            <a:r>
              <a:rPr sz="1300" b="1" dirty="0">
                <a:latin typeface="Times New Roman"/>
                <a:cs typeface="Times New Roman"/>
              </a:rPr>
              <a:t>and</a:t>
            </a:r>
            <a:r>
              <a:rPr sz="1300" b="1" spc="-25" dirty="0">
                <a:latin typeface="Times New Roman"/>
                <a:cs typeface="Times New Roman"/>
              </a:rPr>
              <a:t> </a:t>
            </a:r>
            <a:r>
              <a:rPr sz="1300" b="1" dirty="0">
                <a:latin typeface="Times New Roman"/>
                <a:cs typeface="Times New Roman"/>
              </a:rPr>
              <a:t>Setup</a:t>
            </a:r>
            <a:r>
              <a:rPr sz="1300" b="1" spc="-30" dirty="0">
                <a:latin typeface="Times New Roman"/>
                <a:cs typeface="Times New Roman"/>
              </a:rPr>
              <a:t> </a:t>
            </a:r>
            <a:r>
              <a:rPr sz="1300" b="1" spc="-10" dirty="0">
                <a:latin typeface="Times New Roman"/>
                <a:cs typeface="Times New Roman"/>
              </a:rPr>
              <a:t>Instructions</a:t>
            </a:r>
            <a:endParaRPr sz="1300" dirty="0">
              <a:latin typeface="Times New Roman"/>
              <a:cs typeface="Times New Roman"/>
            </a:endParaRPr>
          </a:p>
          <a:p>
            <a:pPr marL="171450" lvl="0" indent="-1714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Start the MySQL server and ensure the </a:t>
            </a:r>
            <a:r>
              <a:rPr lang="en-IN" sz="1200" dirty="0" err="1">
                <a:latin typeface="Times New Roman" panose="02020603050405020304" pitchFamily="18" charset="0"/>
                <a:cs typeface="Times New Roman" panose="02020603050405020304" pitchFamily="18" charset="0"/>
              </a:rPr>
              <a:t>library_rfid</a:t>
            </a:r>
            <a:r>
              <a:rPr lang="en-IN" sz="1200" dirty="0">
                <a:latin typeface="Times New Roman" panose="02020603050405020304" pitchFamily="18" charset="0"/>
                <a:cs typeface="Times New Roman" panose="02020603050405020304" pitchFamily="18" charset="0"/>
              </a:rPr>
              <a:t> database is available. </a:t>
            </a:r>
          </a:p>
          <a:p>
            <a:pPr marL="171450" lvl="0" indent="-1714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Navigate to the </a:t>
            </a:r>
            <a:r>
              <a:rPr lang="en-IN" sz="1200" b="1" dirty="0">
                <a:latin typeface="Times New Roman" panose="02020603050405020304" pitchFamily="18" charset="0"/>
                <a:cs typeface="Times New Roman" panose="02020603050405020304" pitchFamily="18" charset="0"/>
              </a:rPr>
              <a:t>backend</a:t>
            </a:r>
            <a:r>
              <a:rPr lang="en-IN" sz="1200" dirty="0">
                <a:latin typeface="Times New Roman" panose="02020603050405020304" pitchFamily="18" charset="0"/>
                <a:cs typeface="Times New Roman" panose="02020603050405020304" pitchFamily="18" charset="0"/>
              </a:rPr>
              <a:t> folder and run:</a:t>
            </a:r>
          </a:p>
          <a:p>
            <a:pPr marL="171450" lvl="0" indent="-171450" rtl="0">
              <a:buFont typeface="Arial" panose="020B0604020202020204" pitchFamily="34" charset="0"/>
              <a:buChar char="•"/>
            </a:pPr>
            <a:r>
              <a:rPr lang="en-IN" sz="1200" dirty="0" err="1">
                <a:latin typeface="Times New Roman" panose="02020603050405020304" pitchFamily="18" charset="0"/>
                <a:cs typeface="Times New Roman" panose="02020603050405020304" pitchFamily="18" charset="0"/>
              </a:rPr>
              <a:t>npm</a:t>
            </a:r>
            <a:r>
              <a:rPr lang="en-IN" sz="1200" dirty="0">
                <a:latin typeface="Times New Roman" panose="02020603050405020304" pitchFamily="18" charset="0"/>
                <a:cs typeface="Times New Roman" panose="02020603050405020304" pitchFamily="18" charset="0"/>
              </a:rPr>
              <a:t> install</a:t>
            </a:r>
          </a:p>
          <a:p>
            <a:pPr marL="171450" lvl="0" indent="-171450" rtl="0">
              <a:buFont typeface="Arial" panose="020B0604020202020204" pitchFamily="34" charset="0"/>
              <a:buChar char="•"/>
            </a:pPr>
            <a:r>
              <a:rPr lang="en-IN" sz="1200" dirty="0" err="1">
                <a:latin typeface="Times New Roman" panose="02020603050405020304" pitchFamily="18" charset="0"/>
                <a:cs typeface="Times New Roman" panose="02020603050405020304" pitchFamily="18" charset="0"/>
              </a:rPr>
              <a:t>npm</a:t>
            </a:r>
            <a:r>
              <a:rPr lang="en-IN" sz="1200" dirty="0">
                <a:latin typeface="Times New Roman" panose="02020603050405020304" pitchFamily="18" charset="0"/>
                <a:cs typeface="Times New Roman" panose="02020603050405020304" pitchFamily="18" charset="0"/>
              </a:rPr>
              <a:t> run dev</a:t>
            </a:r>
          </a:p>
          <a:p>
            <a:pPr marL="171450" lvl="0" indent="-171450">
              <a:buFont typeface="Arial" panose="020B0604020202020204" pitchFamily="34" charset="0"/>
              <a:buChar char="•"/>
            </a:pPr>
            <a:r>
              <a:rPr lang="en-IN" sz="1200" i="1" dirty="0">
                <a:latin typeface="Times New Roman" panose="02020603050405020304" pitchFamily="18" charset="0"/>
                <a:cs typeface="Times New Roman" panose="02020603050405020304" pitchFamily="18" charset="0"/>
              </a:rPr>
              <a:t>(Backend, port 5000)</a:t>
            </a:r>
            <a:endParaRPr lang="en-IN" sz="1200" dirty="0">
              <a:latin typeface="Times New Roman" panose="02020603050405020304" pitchFamily="18" charset="0"/>
              <a:cs typeface="Times New Roman" panose="02020603050405020304" pitchFamily="18" charset="0"/>
            </a:endParaRPr>
          </a:p>
          <a:p>
            <a:pPr marL="171450" lvl="0" indent="-1714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Open another terminal, navigate to the </a:t>
            </a:r>
            <a:r>
              <a:rPr lang="en-IN" sz="1200" b="1" dirty="0">
                <a:latin typeface="Times New Roman" panose="02020603050405020304" pitchFamily="18" charset="0"/>
                <a:cs typeface="Times New Roman" panose="02020603050405020304" pitchFamily="18" charset="0"/>
              </a:rPr>
              <a:t>frontend</a:t>
            </a:r>
            <a:r>
              <a:rPr lang="en-IN" sz="1200" dirty="0">
                <a:latin typeface="Times New Roman" panose="02020603050405020304" pitchFamily="18" charset="0"/>
                <a:cs typeface="Times New Roman" panose="02020603050405020304" pitchFamily="18" charset="0"/>
              </a:rPr>
              <a:t> folder and run:</a:t>
            </a:r>
          </a:p>
          <a:p>
            <a:pPr marL="171450" lvl="0" indent="-171450" rtl="0">
              <a:buFont typeface="Arial" panose="020B0604020202020204" pitchFamily="34" charset="0"/>
              <a:buChar char="•"/>
            </a:pPr>
            <a:r>
              <a:rPr lang="en-IN" sz="1200" dirty="0" err="1">
                <a:latin typeface="Times New Roman" panose="02020603050405020304" pitchFamily="18" charset="0"/>
                <a:cs typeface="Times New Roman" panose="02020603050405020304" pitchFamily="18" charset="0"/>
              </a:rPr>
              <a:t>npm</a:t>
            </a:r>
            <a:r>
              <a:rPr lang="en-IN" sz="1200" dirty="0">
                <a:latin typeface="Times New Roman" panose="02020603050405020304" pitchFamily="18" charset="0"/>
                <a:cs typeface="Times New Roman" panose="02020603050405020304" pitchFamily="18" charset="0"/>
              </a:rPr>
              <a:t> install</a:t>
            </a:r>
          </a:p>
          <a:p>
            <a:pPr marL="171450" lvl="0" indent="-171450" rtl="0">
              <a:buFont typeface="Arial" panose="020B0604020202020204" pitchFamily="34" charset="0"/>
              <a:buChar char="•"/>
            </a:pPr>
            <a:r>
              <a:rPr lang="en-IN" sz="1200" dirty="0" err="1">
                <a:latin typeface="Times New Roman" panose="02020603050405020304" pitchFamily="18" charset="0"/>
                <a:cs typeface="Times New Roman" panose="02020603050405020304" pitchFamily="18" charset="0"/>
              </a:rPr>
              <a:t>npm</a:t>
            </a:r>
            <a:r>
              <a:rPr lang="en-IN" sz="1200" dirty="0">
                <a:latin typeface="Times New Roman" panose="02020603050405020304" pitchFamily="18" charset="0"/>
                <a:cs typeface="Times New Roman" panose="02020603050405020304" pitchFamily="18" charset="0"/>
              </a:rPr>
              <a:t> run dev</a:t>
            </a:r>
          </a:p>
          <a:p>
            <a:pPr marL="171450" lvl="0" indent="-171450">
              <a:buFont typeface="Arial" panose="020B0604020202020204" pitchFamily="34" charset="0"/>
              <a:buChar char="•"/>
            </a:pPr>
            <a:r>
              <a:rPr lang="en-IN" sz="1200" i="1" dirty="0">
                <a:latin typeface="Times New Roman" panose="02020603050405020304" pitchFamily="18" charset="0"/>
                <a:cs typeface="Times New Roman" panose="02020603050405020304" pitchFamily="18" charset="0"/>
              </a:rPr>
              <a:t>(Frontend, port 5173)</a:t>
            </a:r>
            <a:endParaRPr lang="en-IN" sz="1200" dirty="0">
              <a:latin typeface="Times New Roman" panose="02020603050405020304" pitchFamily="18" charset="0"/>
              <a:cs typeface="Times New Roman" panose="02020603050405020304" pitchFamily="18" charset="0"/>
            </a:endParaRPr>
          </a:p>
          <a:p>
            <a:pPr marL="171450" lvl="0" indent="-1714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Open </a:t>
            </a:r>
            <a:r>
              <a:rPr lang="en-IN" sz="1200" b="1" dirty="0">
                <a:latin typeface="Times New Roman" panose="02020603050405020304" pitchFamily="18" charset="0"/>
                <a:cs typeface="Times New Roman" panose="02020603050405020304" pitchFamily="18" charset="0"/>
              </a:rPr>
              <a:t>http://localhost:5173</a:t>
            </a:r>
            <a:r>
              <a:rPr lang="en-IN" sz="1200" dirty="0">
                <a:latin typeface="Times New Roman" panose="02020603050405020304" pitchFamily="18" charset="0"/>
                <a:cs typeface="Times New Roman" panose="02020603050405020304" pitchFamily="18" charset="0"/>
              </a:rPr>
              <a:t> in a browser. </a:t>
            </a:r>
          </a:p>
          <a:p>
            <a:pPr marL="171450" lvl="0" indent="-1714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Log in using the available user credentials</a:t>
            </a:r>
            <a:r>
              <a:rPr lang="en-IN" sz="1200" dirty="0"/>
              <a:t>. </a:t>
            </a:r>
          </a:p>
          <a:p>
            <a:pPr>
              <a:lnSpc>
                <a:spcPct val="100000"/>
              </a:lnSpc>
              <a:spcBef>
                <a:spcPts val="45"/>
              </a:spcBef>
            </a:pPr>
            <a:endParaRPr sz="1100" dirty="0">
              <a:latin typeface="Times New Roman"/>
              <a:cs typeface="Times New Roman"/>
            </a:endParaRPr>
          </a:p>
          <a:p>
            <a:pPr marL="12700">
              <a:lnSpc>
                <a:spcPct val="100000"/>
              </a:lnSpc>
            </a:pPr>
            <a:r>
              <a:rPr sz="1300" b="1" dirty="0">
                <a:latin typeface="Times New Roman"/>
                <a:cs typeface="Times New Roman"/>
              </a:rPr>
              <a:t>Appendix</a:t>
            </a:r>
            <a:r>
              <a:rPr sz="1300" b="1" spc="-30" dirty="0">
                <a:latin typeface="Times New Roman"/>
                <a:cs typeface="Times New Roman"/>
              </a:rPr>
              <a:t> </a:t>
            </a:r>
            <a:r>
              <a:rPr sz="1300" b="1" dirty="0">
                <a:latin typeface="Times New Roman"/>
                <a:cs typeface="Times New Roman"/>
              </a:rPr>
              <a:t>C:</a:t>
            </a:r>
            <a:r>
              <a:rPr sz="1300" b="1" spc="-40" dirty="0">
                <a:latin typeface="Times New Roman"/>
                <a:cs typeface="Times New Roman"/>
              </a:rPr>
              <a:t> </a:t>
            </a:r>
            <a:r>
              <a:rPr sz="1300" b="1" dirty="0">
                <a:latin typeface="Times New Roman"/>
                <a:cs typeface="Times New Roman"/>
              </a:rPr>
              <a:t>Default</a:t>
            </a:r>
            <a:r>
              <a:rPr sz="1300" b="1" spc="-25" dirty="0">
                <a:latin typeface="Times New Roman"/>
                <a:cs typeface="Times New Roman"/>
              </a:rPr>
              <a:t> </a:t>
            </a:r>
            <a:r>
              <a:rPr sz="1300" b="1" dirty="0">
                <a:latin typeface="Times New Roman"/>
                <a:cs typeface="Times New Roman"/>
              </a:rPr>
              <a:t>Login</a:t>
            </a:r>
            <a:r>
              <a:rPr sz="1300" b="1" spc="-40" dirty="0">
                <a:latin typeface="Times New Roman"/>
                <a:cs typeface="Times New Roman"/>
              </a:rPr>
              <a:t> </a:t>
            </a:r>
            <a:r>
              <a:rPr sz="1300" b="1" spc="-10" dirty="0">
                <a:latin typeface="Times New Roman"/>
                <a:cs typeface="Times New Roman"/>
              </a:rPr>
              <a:t>Credentials</a:t>
            </a:r>
            <a:endParaRPr sz="1300" dirty="0">
              <a:latin typeface="Times New Roman"/>
              <a:cs typeface="Times New Roman"/>
            </a:endParaRPr>
          </a:p>
          <a:p>
            <a:pPr marL="12700">
              <a:lnSpc>
                <a:spcPct val="100000"/>
              </a:lnSpc>
              <a:spcBef>
                <a:spcPts val="605"/>
              </a:spcBef>
            </a:pPr>
            <a:r>
              <a:rPr sz="1200" dirty="0">
                <a:latin typeface="Times New Roman"/>
                <a:cs typeface="Times New Roman"/>
              </a:rPr>
              <a:t>All</a:t>
            </a:r>
            <a:r>
              <a:rPr sz="1200" spc="-20" dirty="0">
                <a:latin typeface="Times New Roman"/>
                <a:cs typeface="Times New Roman"/>
              </a:rPr>
              <a:t> </a:t>
            </a:r>
            <a:r>
              <a:rPr sz="1200" dirty="0">
                <a:latin typeface="Times New Roman"/>
                <a:cs typeface="Times New Roman"/>
              </a:rPr>
              <a:t>seeded</a:t>
            </a:r>
            <a:r>
              <a:rPr sz="1200" spc="-20" dirty="0">
                <a:latin typeface="Times New Roman"/>
                <a:cs typeface="Times New Roman"/>
              </a:rPr>
              <a:t> </a:t>
            </a:r>
            <a:r>
              <a:rPr sz="1200" dirty="0">
                <a:latin typeface="Times New Roman"/>
                <a:cs typeface="Times New Roman"/>
              </a:rPr>
              <a:t>accounts</a:t>
            </a:r>
            <a:r>
              <a:rPr sz="1200" spc="-20" dirty="0">
                <a:latin typeface="Times New Roman"/>
                <a:cs typeface="Times New Roman"/>
              </a:rPr>
              <a:t> </a:t>
            </a:r>
            <a:r>
              <a:rPr sz="1200" dirty="0">
                <a:latin typeface="Times New Roman"/>
                <a:cs typeface="Times New Roman"/>
              </a:rPr>
              <a:t>use</a:t>
            </a:r>
            <a:r>
              <a:rPr sz="1200" spc="-2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password</a:t>
            </a:r>
            <a:r>
              <a:rPr sz="1200" spc="-10" dirty="0">
                <a:latin typeface="Times New Roman"/>
                <a:cs typeface="Times New Roman"/>
              </a:rPr>
              <a:t> “password123”.</a:t>
            </a:r>
            <a:endParaRPr sz="1200" dirty="0">
              <a:latin typeface="Times New Roman"/>
              <a:cs typeface="Times New Roman"/>
            </a:endParaRPr>
          </a:p>
        </p:txBody>
      </p:sp>
      <p:sp>
        <p:nvSpPr>
          <p:cNvPr id="7" name="object 7"/>
          <p:cNvSpPr txBox="1"/>
          <p:nvPr/>
        </p:nvSpPr>
        <p:spPr>
          <a:xfrm>
            <a:off x="813612" y="6901918"/>
            <a:ext cx="5931535" cy="1099019"/>
          </a:xfrm>
          <a:prstGeom prst="rect">
            <a:avLst/>
          </a:prstGeom>
        </p:spPr>
        <p:txBody>
          <a:bodyPr vert="horz" wrap="square" lIns="0" tIns="95250" rIns="0" bIns="0" rtlCol="0">
            <a:spAutoFit/>
          </a:bodyPr>
          <a:lstStyle/>
          <a:p>
            <a:pPr marL="12700">
              <a:lnSpc>
                <a:spcPct val="100000"/>
              </a:lnSpc>
              <a:spcBef>
                <a:spcPts val="750"/>
              </a:spcBef>
            </a:pPr>
            <a:r>
              <a:rPr sz="1300" b="1" dirty="0">
                <a:latin typeface="Times New Roman"/>
                <a:cs typeface="Times New Roman"/>
              </a:rPr>
              <a:t>Appendix</a:t>
            </a:r>
            <a:r>
              <a:rPr sz="1300" b="1" spc="-30" dirty="0">
                <a:latin typeface="Times New Roman"/>
                <a:cs typeface="Times New Roman"/>
              </a:rPr>
              <a:t> </a:t>
            </a:r>
            <a:r>
              <a:rPr sz="1300" b="1" dirty="0">
                <a:latin typeface="Times New Roman"/>
                <a:cs typeface="Times New Roman"/>
              </a:rPr>
              <a:t>D:</a:t>
            </a:r>
            <a:r>
              <a:rPr sz="1300" b="1" spc="-35" dirty="0">
                <a:latin typeface="Times New Roman"/>
                <a:cs typeface="Times New Roman"/>
              </a:rPr>
              <a:t> </a:t>
            </a:r>
            <a:r>
              <a:rPr sz="1300" b="1" dirty="0">
                <a:latin typeface="Times New Roman"/>
                <a:cs typeface="Times New Roman"/>
              </a:rPr>
              <a:t>API</a:t>
            </a:r>
            <a:r>
              <a:rPr sz="1300" b="1" spc="-30" dirty="0">
                <a:latin typeface="Times New Roman"/>
                <a:cs typeface="Times New Roman"/>
              </a:rPr>
              <a:t> </a:t>
            </a:r>
            <a:r>
              <a:rPr sz="1300" b="1" dirty="0">
                <a:latin typeface="Times New Roman"/>
                <a:cs typeface="Times New Roman"/>
              </a:rPr>
              <a:t>Reference</a:t>
            </a:r>
            <a:r>
              <a:rPr sz="1300" b="1" spc="-40" dirty="0">
                <a:latin typeface="Times New Roman"/>
                <a:cs typeface="Times New Roman"/>
              </a:rPr>
              <a:t> </a:t>
            </a:r>
            <a:r>
              <a:rPr sz="1300" b="1" spc="-10" dirty="0">
                <a:latin typeface="Times New Roman"/>
                <a:cs typeface="Times New Roman"/>
              </a:rPr>
              <a:t>Summary</a:t>
            </a:r>
            <a:endParaRPr sz="1300" dirty="0">
              <a:latin typeface="Times New Roman"/>
              <a:cs typeface="Times New Roman"/>
            </a:endParaRPr>
          </a:p>
          <a:p>
            <a:pPr marL="12700" marR="5080">
              <a:lnSpc>
                <a:spcPct val="100000"/>
              </a:lnSpc>
              <a:spcBef>
                <a:spcPts val="459"/>
              </a:spcBef>
            </a:pPr>
            <a:r>
              <a:rPr lang="en-IN" sz="1200" dirty="0">
                <a:latin typeface="Times New Roman" panose="02020603050405020304" pitchFamily="18" charset="0"/>
                <a:cs typeface="Times New Roman" panose="02020603050405020304" pitchFamily="18" charset="0"/>
              </a:rPr>
              <a:t>The Library Management System provides REST APIs across the main resources used for authentication, books, members, RFID operations, transactions, fines, dashboard statistics, reports, and inventory. The APIs allow the React frontend to communicate with the Node.js and Express.js backend.</a:t>
            </a:r>
            <a:r>
              <a:rPr sz="1200" spc="-10" dirty="0">
                <a:latin typeface="Times New Roman" panose="02020603050405020304" pitchFamily="18" charset="0"/>
                <a:cs typeface="Times New Roman" panose="02020603050405020304" pitchFamily="18" charset="0"/>
              </a:rPr>
              <a:t>.</a:t>
            </a:r>
            <a:endParaRPr sz="1200" dirty="0">
              <a:latin typeface="Times New Roman" panose="02020603050405020304" pitchFamily="18" charset="0"/>
              <a:cs typeface="Times New Roman" panose="02020603050405020304" pitchFamily="18" charset="0"/>
            </a:endParaRPr>
          </a:p>
        </p:txBody>
      </p:sp>
      <p:sp>
        <p:nvSpPr>
          <p:cNvPr id="2" name="object 2"/>
          <p:cNvSpPr/>
          <p:nvPr/>
        </p:nvSpPr>
        <p:spPr>
          <a:xfrm>
            <a:off x="808024" y="10019994"/>
            <a:ext cx="5948045" cy="12700"/>
          </a:xfrm>
          <a:custGeom>
            <a:avLst/>
            <a:gdLst/>
            <a:ahLst/>
            <a:cxnLst/>
            <a:rect l="l" t="t" r="r" b="b"/>
            <a:pathLst>
              <a:path w="5948045" h="12700">
                <a:moveTo>
                  <a:pt x="5947536" y="0"/>
                </a:moveTo>
                <a:lnTo>
                  <a:pt x="0" y="0"/>
                </a:lnTo>
                <a:lnTo>
                  <a:pt x="0" y="12192"/>
                </a:lnTo>
                <a:lnTo>
                  <a:pt x="5947536" y="12192"/>
                </a:lnTo>
                <a:lnTo>
                  <a:pt x="5947536" y="0"/>
                </a:lnTo>
                <a:close/>
              </a:path>
            </a:pathLst>
          </a:custGeom>
          <a:solidFill>
            <a:srgbClr val="C55A11"/>
          </a:solidFill>
        </p:spPr>
        <p:txBody>
          <a:bodyPr wrap="square" lIns="0" tIns="0" rIns="0" bIns="0" rtlCol="0"/>
          <a:lstStyle/>
          <a:p>
            <a:endParaRPr/>
          </a:p>
        </p:txBody>
      </p:sp>
      <p:sp>
        <p:nvSpPr>
          <p:cNvPr id="9" name="object 9"/>
          <p:cNvSpPr txBox="1">
            <a:spLocks noGrp="1"/>
          </p:cNvSpPr>
          <p:nvPr>
            <p:ph type="sldNum" sz="quarter" idx="7"/>
          </p:nvPr>
        </p:nvSpPr>
        <p:spPr>
          <a:prstGeom prst="rect">
            <a:avLst/>
          </a:prstGeom>
        </p:spPr>
        <p:txBody>
          <a:bodyPr vert="horz" wrap="square" lIns="0" tIns="146331" rIns="0" bIns="0" rtlCol="0">
            <a:spAutoFit/>
          </a:bodyPr>
          <a:lstStyle/>
          <a:p>
            <a:pPr marL="12700">
              <a:lnSpc>
                <a:spcPts val="1305"/>
              </a:lnSpc>
            </a:pPr>
            <a:r>
              <a:rPr dirty="0"/>
              <a:t>Page</a:t>
            </a:r>
            <a:r>
              <a:rPr spc="-15" dirty="0"/>
              <a:t> </a:t>
            </a:r>
            <a:r>
              <a:rPr spc="-25" dirty="0"/>
              <a:t>22</a:t>
            </a:r>
          </a:p>
        </p:txBody>
      </p:sp>
      <p:pic>
        <p:nvPicPr>
          <p:cNvPr id="11" name="Picture 10">
            <a:extLst>
              <a:ext uri="{FF2B5EF4-FFF2-40B4-BE49-F238E27FC236}">
                <a16:creationId xmlns:a16="http://schemas.microsoft.com/office/drawing/2014/main" id="{D772C4E3-E6C1-96EC-BF98-CA37472FA06B}"/>
              </a:ext>
            </a:extLst>
          </p:cNvPr>
          <p:cNvPicPr>
            <a:picLocks noChangeAspect="1"/>
          </p:cNvPicPr>
          <p:nvPr/>
        </p:nvPicPr>
        <p:blipFill>
          <a:blip r:embed="rId2"/>
          <a:stretch>
            <a:fillRect/>
          </a:stretch>
        </p:blipFill>
        <p:spPr>
          <a:xfrm>
            <a:off x="826312" y="1822843"/>
            <a:ext cx="4710888" cy="1215655"/>
          </a:xfrm>
          <a:prstGeom prst="rect">
            <a:avLst/>
          </a:prstGeom>
        </p:spPr>
      </p:pic>
      <p:pic>
        <p:nvPicPr>
          <p:cNvPr id="15" name="Picture 14">
            <a:extLst>
              <a:ext uri="{FF2B5EF4-FFF2-40B4-BE49-F238E27FC236}">
                <a16:creationId xmlns:a16="http://schemas.microsoft.com/office/drawing/2014/main" id="{899369AA-6AB1-7D58-DFA8-EE12DE5C7451}"/>
              </a:ext>
            </a:extLst>
          </p:cNvPr>
          <p:cNvPicPr>
            <a:picLocks noChangeAspect="1"/>
          </p:cNvPicPr>
          <p:nvPr/>
        </p:nvPicPr>
        <p:blipFill>
          <a:blip r:embed="rId3"/>
          <a:stretch>
            <a:fillRect/>
          </a:stretch>
        </p:blipFill>
        <p:spPr>
          <a:xfrm>
            <a:off x="797864" y="8102440"/>
            <a:ext cx="5719776" cy="1816051"/>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p:nvPr/>
        </p:nvSpPr>
        <p:spPr>
          <a:xfrm>
            <a:off x="813612" y="592919"/>
            <a:ext cx="5930265" cy="1070610"/>
          </a:xfrm>
          <a:prstGeom prst="rect">
            <a:avLst/>
          </a:prstGeom>
        </p:spPr>
        <p:txBody>
          <a:bodyPr vert="horz" wrap="square" lIns="0" tIns="95250" rIns="0" bIns="0" rtlCol="0">
            <a:spAutoFit/>
          </a:bodyPr>
          <a:lstStyle/>
          <a:p>
            <a:pPr marL="12700">
              <a:lnSpc>
                <a:spcPct val="100000"/>
              </a:lnSpc>
              <a:spcBef>
                <a:spcPts val="750"/>
              </a:spcBef>
            </a:pPr>
            <a:r>
              <a:rPr sz="1300" b="1" dirty="0">
                <a:latin typeface="Times New Roman"/>
                <a:cs typeface="Times New Roman"/>
              </a:rPr>
              <a:t>Appendix</a:t>
            </a:r>
            <a:r>
              <a:rPr sz="1300" b="1" spc="-30" dirty="0">
                <a:latin typeface="Times New Roman"/>
                <a:cs typeface="Times New Roman"/>
              </a:rPr>
              <a:t> </a:t>
            </a:r>
            <a:r>
              <a:rPr sz="1300" b="1" dirty="0">
                <a:latin typeface="Times New Roman"/>
                <a:cs typeface="Times New Roman"/>
              </a:rPr>
              <a:t>E:</a:t>
            </a:r>
            <a:r>
              <a:rPr sz="1300" b="1" spc="-40" dirty="0">
                <a:latin typeface="Times New Roman"/>
                <a:cs typeface="Times New Roman"/>
              </a:rPr>
              <a:t> </a:t>
            </a:r>
            <a:r>
              <a:rPr sz="1300" b="1" spc="-10" dirty="0">
                <a:latin typeface="Times New Roman"/>
                <a:cs typeface="Times New Roman"/>
              </a:rPr>
              <a:t>Screenshots</a:t>
            </a:r>
            <a:endParaRPr sz="1300">
              <a:latin typeface="Times New Roman"/>
              <a:cs typeface="Times New Roman"/>
            </a:endParaRPr>
          </a:p>
          <a:p>
            <a:pPr marL="12700" marR="5080">
              <a:lnSpc>
                <a:spcPct val="110000"/>
              </a:lnSpc>
              <a:spcBef>
                <a:spcPts val="459"/>
              </a:spcBef>
            </a:pPr>
            <a:r>
              <a:rPr sz="1200" dirty="0">
                <a:latin typeface="Times New Roman"/>
                <a:cs typeface="Times New Roman"/>
              </a:rPr>
              <a:t>The</a:t>
            </a:r>
            <a:r>
              <a:rPr sz="1200" spc="40" dirty="0">
                <a:latin typeface="Times New Roman"/>
                <a:cs typeface="Times New Roman"/>
              </a:rPr>
              <a:t> </a:t>
            </a:r>
            <a:r>
              <a:rPr sz="1200" dirty="0">
                <a:latin typeface="Times New Roman"/>
                <a:cs typeface="Times New Roman"/>
              </a:rPr>
              <a:t>following</a:t>
            </a:r>
            <a:r>
              <a:rPr sz="1200" spc="30" dirty="0">
                <a:latin typeface="Times New Roman"/>
                <a:cs typeface="Times New Roman"/>
              </a:rPr>
              <a:t> </a:t>
            </a:r>
            <a:r>
              <a:rPr sz="1200" dirty="0">
                <a:latin typeface="Times New Roman"/>
                <a:cs typeface="Times New Roman"/>
              </a:rPr>
              <a:t>pages</a:t>
            </a:r>
            <a:r>
              <a:rPr sz="1200" spc="45" dirty="0">
                <a:latin typeface="Times New Roman"/>
                <a:cs typeface="Times New Roman"/>
              </a:rPr>
              <a:t> </a:t>
            </a:r>
            <a:r>
              <a:rPr sz="1200" dirty="0">
                <a:latin typeface="Times New Roman"/>
                <a:cs typeface="Times New Roman"/>
              </a:rPr>
              <a:t>are</a:t>
            </a:r>
            <a:r>
              <a:rPr sz="1200" spc="50" dirty="0">
                <a:latin typeface="Times New Roman"/>
                <a:cs typeface="Times New Roman"/>
              </a:rPr>
              <a:t> </a:t>
            </a:r>
            <a:r>
              <a:rPr sz="1200" dirty="0">
                <a:latin typeface="Times New Roman"/>
                <a:cs typeface="Times New Roman"/>
              </a:rPr>
              <a:t>left</a:t>
            </a:r>
            <a:r>
              <a:rPr sz="1200" spc="45" dirty="0">
                <a:latin typeface="Times New Roman"/>
                <a:cs typeface="Times New Roman"/>
              </a:rPr>
              <a:t> </a:t>
            </a:r>
            <a:r>
              <a:rPr sz="1200" dirty="0">
                <a:latin typeface="Times New Roman"/>
                <a:cs typeface="Times New Roman"/>
              </a:rPr>
              <a:t>for</a:t>
            </a:r>
            <a:r>
              <a:rPr sz="1200" spc="35" dirty="0">
                <a:latin typeface="Times New Roman"/>
                <a:cs typeface="Times New Roman"/>
              </a:rPr>
              <a:t> </a:t>
            </a:r>
            <a:r>
              <a:rPr sz="1200" dirty="0">
                <a:latin typeface="Times New Roman"/>
                <a:cs typeface="Times New Roman"/>
              </a:rPr>
              <a:t>the</a:t>
            </a:r>
            <a:r>
              <a:rPr sz="1200" spc="50" dirty="0">
                <a:latin typeface="Times New Roman"/>
                <a:cs typeface="Times New Roman"/>
              </a:rPr>
              <a:t> </a:t>
            </a:r>
            <a:r>
              <a:rPr sz="1200" dirty="0">
                <a:latin typeface="Times New Roman"/>
                <a:cs typeface="Times New Roman"/>
              </a:rPr>
              <a:t>student</a:t>
            </a:r>
            <a:r>
              <a:rPr sz="1200" spc="45" dirty="0">
                <a:latin typeface="Times New Roman"/>
                <a:cs typeface="Times New Roman"/>
              </a:rPr>
              <a:t> </a:t>
            </a:r>
            <a:r>
              <a:rPr sz="1200" dirty="0">
                <a:latin typeface="Times New Roman"/>
                <a:cs typeface="Times New Roman"/>
              </a:rPr>
              <a:t>to</a:t>
            </a:r>
            <a:r>
              <a:rPr sz="1200" spc="45" dirty="0">
                <a:latin typeface="Times New Roman"/>
                <a:cs typeface="Times New Roman"/>
              </a:rPr>
              <a:t> </a:t>
            </a:r>
            <a:r>
              <a:rPr sz="1200" dirty="0">
                <a:latin typeface="Times New Roman"/>
                <a:cs typeface="Times New Roman"/>
              </a:rPr>
              <a:t>complete</a:t>
            </a:r>
            <a:r>
              <a:rPr sz="1200" spc="40" dirty="0">
                <a:latin typeface="Times New Roman"/>
                <a:cs typeface="Times New Roman"/>
              </a:rPr>
              <a:t> </a:t>
            </a:r>
            <a:r>
              <a:rPr sz="1200" dirty="0">
                <a:latin typeface="Times New Roman"/>
                <a:cs typeface="Times New Roman"/>
              </a:rPr>
              <a:t>with</a:t>
            </a:r>
            <a:r>
              <a:rPr sz="1200" spc="45" dirty="0">
                <a:latin typeface="Times New Roman"/>
                <a:cs typeface="Times New Roman"/>
              </a:rPr>
              <a:t> </a:t>
            </a:r>
            <a:r>
              <a:rPr sz="1200" dirty="0">
                <a:latin typeface="Times New Roman"/>
                <a:cs typeface="Times New Roman"/>
              </a:rPr>
              <a:t>actual</a:t>
            </a:r>
            <a:r>
              <a:rPr sz="1200" spc="45" dirty="0">
                <a:latin typeface="Times New Roman"/>
                <a:cs typeface="Times New Roman"/>
              </a:rPr>
              <a:t> </a:t>
            </a:r>
            <a:r>
              <a:rPr sz="1200" dirty="0">
                <a:latin typeface="Times New Roman"/>
                <a:cs typeface="Times New Roman"/>
              </a:rPr>
              <a:t>screenshots</a:t>
            </a:r>
            <a:r>
              <a:rPr sz="1200" spc="45" dirty="0">
                <a:latin typeface="Times New Roman"/>
                <a:cs typeface="Times New Roman"/>
              </a:rPr>
              <a:t> </a:t>
            </a:r>
            <a:r>
              <a:rPr sz="1200" dirty="0">
                <a:latin typeface="Times New Roman"/>
                <a:cs typeface="Times New Roman"/>
              </a:rPr>
              <a:t>taken</a:t>
            </a:r>
            <a:r>
              <a:rPr sz="1200" spc="45" dirty="0">
                <a:latin typeface="Times New Roman"/>
                <a:cs typeface="Times New Roman"/>
              </a:rPr>
              <a:t> </a:t>
            </a:r>
            <a:r>
              <a:rPr sz="1200" dirty="0">
                <a:latin typeface="Times New Roman"/>
                <a:cs typeface="Times New Roman"/>
              </a:rPr>
              <a:t>from</a:t>
            </a:r>
            <a:r>
              <a:rPr sz="1200" spc="45" dirty="0">
                <a:latin typeface="Times New Roman"/>
                <a:cs typeface="Times New Roman"/>
              </a:rPr>
              <a:t> </a:t>
            </a:r>
            <a:r>
              <a:rPr sz="1200" spc="-25" dirty="0">
                <a:latin typeface="Times New Roman"/>
                <a:cs typeface="Times New Roman"/>
              </a:rPr>
              <a:t>the </a:t>
            </a:r>
            <a:r>
              <a:rPr sz="1200" dirty="0">
                <a:latin typeface="Times New Roman"/>
                <a:cs typeface="Times New Roman"/>
              </a:rPr>
              <a:t>running</a:t>
            </a:r>
            <a:r>
              <a:rPr sz="1200" spc="-50" dirty="0">
                <a:latin typeface="Times New Roman"/>
                <a:cs typeface="Times New Roman"/>
              </a:rPr>
              <a:t> </a:t>
            </a:r>
            <a:r>
              <a:rPr sz="1200" dirty="0">
                <a:latin typeface="Times New Roman"/>
                <a:cs typeface="Times New Roman"/>
              </a:rPr>
              <a:t>application</a:t>
            </a:r>
            <a:r>
              <a:rPr sz="1200" spc="-35" dirty="0">
                <a:latin typeface="Times New Roman"/>
                <a:cs typeface="Times New Roman"/>
              </a:rPr>
              <a:t> </a:t>
            </a:r>
            <a:r>
              <a:rPr sz="1200" dirty="0">
                <a:latin typeface="Times New Roman"/>
                <a:cs typeface="Times New Roman"/>
              </a:rPr>
              <a:t>before</a:t>
            </a:r>
            <a:r>
              <a:rPr sz="1200" spc="-40" dirty="0">
                <a:latin typeface="Times New Roman"/>
                <a:cs typeface="Times New Roman"/>
              </a:rPr>
              <a:t> </a:t>
            </a:r>
            <a:r>
              <a:rPr sz="1200" dirty="0">
                <a:latin typeface="Times New Roman"/>
                <a:cs typeface="Times New Roman"/>
              </a:rPr>
              <a:t>submission.</a:t>
            </a:r>
            <a:r>
              <a:rPr sz="1200" spc="-35" dirty="0">
                <a:latin typeface="Times New Roman"/>
                <a:cs typeface="Times New Roman"/>
              </a:rPr>
              <a:t> </a:t>
            </a:r>
            <a:r>
              <a:rPr sz="1200" dirty="0">
                <a:latin typeface="Times New Roman"/>
                <a:cs typeface="Times New Roman"/>
              </a:rPr>
              <a:t>Suggested</a:t>
            </a:r>
            <a:r>
              <a:rPr sz="1200" spc="-30" dirty="0">
                <a:latin typeface="Times New Roman"/>
                <a:cs typeface="Times New Roman"/>
              </a:rPr>
              <a:t> </a:t>
            </a:r>
            <a:r>
              <a:rPr sz="1200" dirty="0">
                <a:latin typeface="Times New Roman"/>
                <a:cs typeface="Times New Roman"/>
              </a:rPr>
              <a:t>screenshots,</a:t>
            </a:r>
            <a:r>
              <a:rPr sz="1200" spc="-35" dirty="0">
                <a:latin typeface="Times New Roman"/>
                <a:cs typeface="Times New Roman"/>
              </a:rPr>
              <a:t> </a:t>
            </a:r>
            <a:r>
              <a:rPr sz="1200" dirty="0">
                <a:latin typeface="Times New Roman"/>
                <a:cs typeface="Times New Roman"/>
              </a:rPr>
              <a:t>in</a:t>
            </a:r>
            <a:r>
              <a:rPr sz="1200" spc="-35" dirty="0">
                <a:latin typeface="Times New Roman"/>
                <a:cs typeface="Times New Roman"/>
              </a:rPr>
              <a:t> </a:t>
            </a:r>
            <a:r>
              <a:rPr sz="1200" spc="-10" dirty="0">
                <a:latin typeface="Times New Roman"/>
                <a:cs typeface="Times New Roman"/>
              </a:rPr>
              <a:t>order:</a:t>
            </a:r>
            <a:endParaRPr sz="1200">
              <a:latin typeface="Times New Roman"/>
              <a:cs typeface="Times New Roman"/>
            </a:endParaRPr>
          </a:p>
          <a:p>
            <a:pPr marL="241300">
              <a:lnSpc>
                <a:spcPct val="100000"/>
              </a:lnSpc>
              <a:spcBef>
                <a:spcPts val="950"/>
              </a:spcBef>
            </a:pPr>
            <a:r>
              <a:rPr sz="1200" dirty="0">
                <a:latin typeface="Times New Roman"/>
                <a:cs typeface="Times New Roman"/>
              </a:rPr>
              <a:t>1.</a:t>
            </a:r>
            <a:r>
              <a:rPr sz="1200" spc="140" dirty="0">
                <a:latin typeface="Times New Roman"/>
                <a:cs typeface="Times New Roman"/>
              </a:rPr>
              <a:t>  </a:t>
            </a:r>
            <a:r>
              <a:rPr sz="1100" dirty="0">
                <a:latin typeface="Times New Roman"/>
                <a:cs typeface="Times New Roman"/>
              </a:rPr>
              <a:t>Login</a:t>
            </a:r>
            <a:r>
              <a:rPr sz="1100" spc="5" dirty="0">
                <a:latin typeface="Times New Roman"/>
                <a:cs typeface="Times New Roman"/>
              </a:rPr>
              <a:t> </a:t>
            </a:r>
            <a:r>
              <a:rPr sz="1100" spc="-20" dirty="0">
                <a:latin typeface="Times New Roman"/>
                <a:cs typeface="Times New Roman"/>
              </a:rPr>
              <a:t>Page</a:t>
            </a:r>
            <a:endParaRPr sz="1100">
              <a:latin typeface="Times New Roman"/>
              <a:cs typeface="Times New Roman"/>
            </a:endParaRPr>
          </a:p>
        </p:txBody>
      </p:sp>
      <p:sp>
        <p:nvSpPr>
          <p:cNvPr id="4" name="object 4"/>
          <p:cNvSpPr txBox="1"/>
          <p:nvPr/>
        </p:nvSpPr>
        <p:spPr>
          <a:xfrm>
            <a:off x="1042212" y="4331334"/>
            <a:ext cx="1322070" cy="185307"/>
          </a:xfrm>
          <a:prstGeom prst="rect">
            <a:avLst/>
          </a:prstGeom>
        </p:spPr>
        <p:txBody>
          <a:bodyPr vert="horz" wrap="square" lIns="0" tIns="635" rIns="0" bIns="0" rtlCol="0">
            <a:spAutoFit/>
          </a:bodyPr>
          <a:lstStyle/>
          <a:p>
            <a:pPr marL="12700">
              <a:lnSpc>
                <a:spcPct val="100000"/>
              </a:lnSpc>
              <a:spcBef>
                <a:spcPts val="5"/>
              </a:spcBef>
            </a:pPr>
            <a:r>
              <a:rPr sz="1200" dirty="0">
                <a:latin typeface="Times New Roman"/>
                <a:cs typeface="Times New Roman"/>
              </a:rPr>
              <a:t>2.</a:t>
            </a:r>
            <a:r>
              <a:rPr sz="1200" spc="140" dirty="0">
                <a:latin typeface="Times New Roman"/>
                <a:cs typeface="Times New Roman"/>
              </a:rPr>
              <a:t>  </a:t>
            </a:r>
            <a:r>
              <a:rPr sz="1100" spc="10" dirty="0">
                <a:latin typeface="Times New Roman"/>
                <a:cs typeface="Times New Roman"/>
              </a:rPr>
              <a:t> </a:t>
            </a:r>
            <a:r>
              <a:rPr sz="1100" spc="-10" dirty="0">
                <a:latin typeface="Times New Roman"/>
                <a:cs typeface="Times New Roman"/>
              </a:rPr>
              <a:t>Dashboard</a:t>
            </a:r>
            <a:endParaRPr sz="1100" dirty="0">
              <a:latin typeface="Times New Roman"/>
              <a:cs typeface="Times New Roman"/>
            </a:endParaRPr>
          </a:p>
        </p:txBody>
      </p:sp>
      <p:sp>
        <p:nvSpPr>
          <p:cNvPr id="5" name="object 5"/>
          <p:cNvSpPr txBox="1"/>
          <p:nvPr/>
        </p:nvSpPr>
        <p:spPr>
          <a:xfrm>
            <a:off x="1042212" y="6965060"/>
            <a:ext cx="1878964" cy="185307"/>
          </a:xfrm>
          <a:prstGeom prst="rect">
            <a:avLst/>
          </a:prstGeom>
        </p:spPr>
        <p:txBody>
          <a:bodyPr vert="horz" wrap="square" lIns="0" tIns="635" rIns="0" bIns="0" rtlCol="0">
            <a:spAutoFit/>
          </a:bodyPr>
          <a:lstStyle/>
          <a:p>
            <a:pPr marL="12700">
              <a:lnSpc>
                <a:spcPct val="100000"/>
              </a:lnSpc>
              <a:spcBef>
                <a:spcPts val="5"/>
              </a:spcBef>
            </a:pPr>
            <a:r>
              <a:rPr sz="1200" dirty="0">
                <a:latin typeface="Times New Roman"/>
                <a:cs typeface="Times New Roman"/>
              </a:rPr>
              <a:t>3.</a:t>
            </a:r>
            <a:r>
              <a:rPr sz="1200" spc="140" dirty="0">
                <a:latin typeface="Times New Roman"/>
                <a:cs typeface="Times New Roman"/>
              </a:rPr>
              <a:t>  </a:t>
            </a:r>
            <a:r>
              <a:rPr lang="en-US" sz="1200" spc="140" dirty="0">
                <a:latin typeface="Times New Roman" panose="02020603050405020304" pitchFamily="18" charset="0"/>
                <a:cs typeface="Times New Roman" panose="02020603050405020304" pitchFamily="18" charset="0"/>
              </a:rPr>
              <a:t>Members page</a:t>
            </a:r>
            <a:endParaRPr sz="1200" dirty="0">
              <a:latin typeface="Times New Roman" panose="02020603050405020304" pitchFamily="18" charset="0"/>
              <a:cs typeface="Times New Roman" panose="02020603050405020304" pitchFamily="18" charset="0"/>
            </a:endParaRPr>
          </a:p>
        </p:txBody>
      </p:sp>
      <p:sp>
        <p:nvSpPr>
          <p:cNvPr id="2" name="object 2"/>
          <p:cNvSpPr/>
          <p:nvPr/>
        </p:nvSpPr>
        <p:spPr>
          <a:xfrm>
            <a:off x="808024" y="10019994"/>
            <a:ext cx="5948045" cy="12700"/>
          </a:xfrm>
          <a:custGeom>
            <a:avLst/>
            <a:gdLst/>
            <a:ahLst/>
            <a:cxnLst/>
            <a:rect l="l" t="t" r="r" b="b"/>
            <a:pathLst>
              <a:path w="5948045" h="12700">
                <a:moveTo>
                  <a:pt x="5947536" y="0"/>
                </a:moveTo>
                <a:lnTo>
                  <a:pt x="0" y="0"/>
                </a:lnTo>
                <a:lnTo>
                  <a:pt x="0" y="12192"/>
                </a:lnTo>
                <a:lnTo>
                  <a:pt x="5947536" y="12192"/>
                </a:lnTo>
                <a:lnTo>
                  <a:pt x="5947536" y="0"/>
                </a:lnTo>
                <a:close/>
              </a:path>
            </a:pathLst>
          </a:custGeom>
          <a:solidFill>
            <a:srgbClr val="C55A11"/>
          </a:solidFill>
        </p:spPr>
        <p:txBody>
          <a:bodyPr wrap="square" lIns="0" tIns="0" rIns="0" bIns="0" rtlCol="0"/>
          <a:lstStyle/>
          <a:p>
            <a:endParaRPr/>
          </a:p>
        </p:txBody>
      </p:sp>
      <p:sp>
        <p:nvSpPr>
          <p:cNvPr id="9" name="object 9"/>
          <p:cNvSpPr txBox="1">
            <a:spLocks noGrp="1"/>
          </p:cNvSpPr>
          <p:nvPr>
            <p:ph type="sldNum" sz="quarter" idx="7"/>
          </p:nvPr>
        </p:nvSpPr>
        <p:spPr>
          <a:prstGeom prst="rect">
            <a:avLst/>
          </a:prstGeom>
        </p:spPr>
        <p:txBody>
          <a:bodyPr vert="horz" wrap="square" lIns="0" tIns="146331" rIns="0" bIns="0" rtlCol="0">
            <a:spAutoFit/>
          </a:bodyPr>
          <a:lstStyle/>
          <a:p>
            <a:pPr marL="12700">
              <a:lnSpc>
                <a:spcPts val="1305"/>
              </a:lnSpc>
            </a:pPr>
            <a:r>
              <a:rPr dirty="0"/>
              <a:t>Page</a:t>
            </a:r>
            <a:r>
              <a:rPr spc="-15" dirty="0"/>
              <a:t> </a:t>
            </a:r>
            <a:r>
              <a:rPr spc="-25" dirty="0"/>
              <a:t>23</a:t>
            </a:r>
          </a:p>
        </p:txBody>
      </p:sp>
      <p:pic>
        <p:nvPicPr>
          <p:cNvPr id="11" name="Picture 10">
            <a:extLst>
              <a:ext uri="{FF2B5EF4-FFF2-40B4-BE49-F238E27FC236}">
                <a16:creationId xmlns:a16="http://schemas.microsoft.com/office/drawing/2014/main" id="{569385E6-33C1-5970-4491-46C970EE7B4D}"/>
              </a:ext>
            </a:extLst>
          </p:cNvPr>
          <p:cNvPicPr>
            <a:picLocks noChangeAspect="1"/>
          </p:cNvPicPr>
          <p:nvPr/>
        </p:nvPicPr>
        <p:blipFill>
          <a:blip r:embed="rId2"/>
          <a:stretch>
            <a:fillRect/>
          </a:stretch>
        </p:blipFill>
        <p:spPr>
          <a:xfrm>
            <a:off x="1193800" y="1780876"/>
            <a:ext cx="5181600" cy="2484660"/>
          </a:xfrm>
          <a:prstGeom prst="rect">
            <a:avLst/>
          </a:prstGeom>
        </p:spPr>
      </p:pic>
      <p:pic>
        <p:nvPicPr>
          <p:cNvPr id="13" name="Picture 12">
            <a:extLst>
              <a:ext uri="{FF2B5EF4-FFF2-40B4-BE49-F238E27FC236}">
                <a16:creationId xmlns:a16="http://schemas.microsoft.com/office/drawing/2014/main" id="{F51EFE65-7A73-F640-4940-38228F5B0C67}"/>
              </a:ext>
            </a:extLst>
          </p:cNvPr>
          <p:cNvPicPr>
            <a:picLocks noChangeAspect="1"/>
          </p:cNvPicPr>
          <p:nvPr/>
        </p:nvPicPr>
        <p:blipFill>
          <a:blip r:embed="rId3"/>
          <a:stretch>
            <a:fillRect/>
          </a:stretch>
        </p:blipFill>
        <p:spPr>
          <a:xfrm>
            <a:off x="1193800" y="4618176"/>
            <a:ext cx="5181600" cy="2173508"/>
          </a:xfrm>
          <a:prstGeom prst="rect">
            <a:avLst/>
          </a:prstGeom>
        </p:spPr>
      </p:pic>
      <p:pic>
        <p:nvPicPr>
          <p:cNvPr id="15" name="Picture 14">
            <a:extLst>
              <a:ext uri="{FF2B5EF4-FFF2-40B4-BE49-F238E27FC236}">
                <a16:creationId xmlns:a16="http://schemas.microsoft.com/office/drawing/2014/main" id="{D3D216B7-8AA5-42C7-F7DF-B90E12744BF7}"/>
              </a:ext>
            </a:extLst>
          </p:cNvPr>
          <p:cNvPicPr>
            <a:picLocks noChangeAspect="1"/>
          </p:cNvPicPr>
          <p:nvPr/>
        </p:nvPicPr>
        <p:blipFill>
          <a:blip r:embed="rId4"/>
          <a:stretch>
            <a:fillRect/>
          </a:stretch>
        </p:blipFill>
        <p:spPr>
          <a:xfrm>
            <a:off x="1042212" y="7377900"/>
            <a:ext cx="5333188" cy="2420656"/>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p:nvPr/>
        </p:nvSpPr>
        <p:spPr>
          <a:xfrm>
            <a:off x="1042212" y="683768"/>
            <a:ext cx="1603375" cy="184666"/>
          </a:xfrm>
          <a:prstGeom prst="rect">
            <a:avLst/>
          </a:prstGeom>
        </p:spPr>
        <p:txBody>
          <a:bodyPr vert="horz" wrap="square" lIns="0" tIns="0" rIns="0" bIns="0" rtlCol="0">
            <a:spAutoFit/>
          </a:bodyPr>
          <a:lstStyle/>
          <a:p>
            <a:pPr marL="12700">
              <a:lnSpc>
                <a:spcPct val="100000"/>
              </a:lnSpc>
            </a:pPr>
            <a:r>
              <a:rPr sz="1200" dirty="0">
                <a:latin typeface="Times New Roman"/>
                <a:cs typeface="Times New Roman"/>
              </a:rPr>
              <a:t>4</a:t>
            </a:r>
            <a:r>
              <a:rPr sz="1200" dirty="0">
                <a:latin typeface="Aptos Display" panose="020B0004020202020204" pitchFamily="34" charset="0"/>
                <a:cs typeface="Times New Roman"/>
              </a:rPr>
              <a:t>.</a:t>
            </a:r>
            <a:r>
              <a:rPr sz="1200" spc="140" dirty="0">
                <a:latin typeface="Aptos Display" panose="020B0004020202020204" pitchFamily="34" charset="0"/>
                <a:cs typeface="Times New Roman"/>
              </a:rPr>
              <a:t>  </a:t>
            </a:r>
            <a:r>
              <a:rPr lang="en-US" sz="1000" spc="140" dirty="0">
                <a:latin typeface="Aptos Display" panose="020B0004020202020204" pitchFamily="34" charset="0"/>
                <a:cs typeface="Times New Roman"/>
              </a:rPr>
              <a:t>Books Catalog Page</a:t>
            </a:r>
            <a:endParaRPr sz="1000" dirty="0">
              <a:latin typeface="Aptos Display" panose="020B0004020202020204" pitchFamily="34" charset="0"/>
              <a:cs typeface="Times New Roman"/>
            </a:endParaRPr>
          </a:p>
        </p:txBody>
      </p:sp>
      <p:sp>
        <p:nvSpPr>
          <p:cNvPr id="4" name="object 4"/>
          <p:cNvSpPr txBox="1"/>
          <p:nvPr/>
        </p:nvSpPr>
        <p:spPr>
          <a:xfrm>
            <a:off x="1042212" y="3930522"/>
            <a:ext cx="1283970" cy="193675"/>
          </a:xfrm>
          <a:prstGeom prst="rect">
            <a:avLst/>
          </a:prstGeom>
        </p:spPr>
        <p:txBody>
          <a:bodyPr vert="horz" wrap="square" lIns="0" tIns="0" rIns="0" bIns="0" rtlCol="0">
            <a:spAutoFit/>
          </a:bodyPr>
          <a:lstStyle/>
          <a:p>
            <a:pPr marL="12700">
              <a:lnSpc>
                <a:spcPct val="100000"/>
              </a:lnSpc>
            </a:pPr>
            <a:r>
              <a:rPr sz="1200" dirty="0">
                <a:latin typeface="Times New Roman"/>
                <a:cs typeface="Times New Roman"/>
              </a:rPr>
              <a:t>5.</a:t>
            </a:r>
            <a:r>
              <a:rPr sz="1200" spc="135" dirty="0">
                <a:latin typeface="Times New Roman"/>
                <a:cs typeface="Times New Roman"/>
              </a:rPr>
              <a:t>  </a:t>
            </a:r>
            <a:r>
              <a:rPr sz="1100" dirty="0">
                <a:latin typeface="Times New Roman"/>
                <a:cs typeface="Times New Roman"/>
              </a:rPr>
              <a:t>Admin</a:t>
            </a:r>
            <a:r>
              <a:rPr sz="1100" spc="-10" dirty="0">
                <a:latin typeface="Times New Roman"/>
                <a:cs typeface="Times New Roman"/>
              </a:rPr>
              <a:t> Dashboard</a:t>
            </a:r>
            <a:endParaRPr sz="1100">
              <a:latin typeface="Times New Roman"/>
              <a:cs typeface="Times New Roman"/>
            </a:endParaRPr>
          </a:p>
        </p:txBody>
      </p:sp>
      <p:sp>
        <p:nvSpPr>
          <p:cNvPr id="2" name="object 2"/>
          <p:cNvSpPr/>
          <p:nvPr/>
        </p:nvSpPr>
        <p:spPr>
          <a:xfrm>
            <a:off x="808024" y="10019994"/>
            <a:ext cx="5948045" cy="12700"/>
          </a:xfrm>
          <a:custGeom>
            <a:avLst/>
            <a:gdLst/>
            <a:ahLst/>
            <a:cxnLst/>
            <a:rect l="l" t="t" r="r" b="b"/>
            <a:pathLst>
              <a:path w="5948045" h="12700">
                <a:moveTo>
                  <a:pt x="5947536" y="0"/>
                </a:moveTo>
                <a:lnTo>
                  <a:pt x="0" y="0"/>
                </a:lnTo>
                <a:lnTo>
                  <a:pt x="0" y="12192"/>
                </a:lnTo>
                <a:lnTo>
                  <a:pt x="5947536" y="12192"/>
                </a:lnTo>
                <a:lnTo>
                  <a:pt x="5947536" y="0"/>
                </a:lnTo>
                <a:close/>
              </a:path>
            </a:pathLst>
          </a:custGeom>
          <a:solidFill>
            <a:srgbClr val="C55A11"/>
          </a:solidFill>
        </p:spPr>
        <p:txBody>
          <a:bodyPr wrap="square" lIns="0" tIns="0" rIns="0" bIns="0" rtlCol="0"/>
          <a:lstStyle/>
          <a:p>
            <a:endParaRPr/>
          </a:p>
        </p:txBody>
      </p:sp>
      <p:sp>
        <p:nvSpPr>
          <p:cNvPr id="9" name="object 9"/>
          <p:cNvSpPr txBox="1">
            <a:spLocks noGrp="1"/>
          </p:cNvSpPr>
          <p:nvPr>
            <p:ph type="sldNum" sz="quarter" idx="7"/>
          </p:nvPr>
        </p:nvSpPr>
        <p:spPr>
          <a:prstGeom prst="rect">
            <a:avLst/>
          </a:prstGeom>
        </p:spPr>
        <p:txBody>
          <a:bodyPr vert="horz" wrap="square" lIns="0" tIns="146331" rIns="0" bIns="0" rtlCol="0">
            <a:spAutoFit/>
          </a:bodyPr>
          <a:lstStyle/>
          <a:p>
            <a:pPr marL="12700">
              <a:lnSpc>
                <a:spcPts val="1305"/>
              </a:lnSpc>
            </a:pPr>
            <a:r>
              <a:rPr dirty="0"/>
              <a:t>Page</a:t>
            </a:r>
            <a:r>
              <a:rPr spc="-15" dirty="0"/>
              <a:t> </a:t>
            </a:r>
            <a:r>
              <a:rPr spc="-25" dirty="0"/>
              <a:t>24</a:t>
            </a:r>
          </a:p>
        </p:txBody>
      </p:sp>
      <p:pic>
        <p:nvPicPr>
          <p:cNvPr id="11" name="Picture 10">
            <a:extLst>
              <a:ext uri="{FF2B5EF4-FFF2-40B4-BE49-F238E27FC236}">
                <a16:creationId xmlns:a16="http://schemas.microsoft.com/office/drawing/2014/main" id="{EA50B992-212B-0A52-6E34-F9C0AAE2F126}"/>
              </a:ext>
            </a:extLst>
          </p:cNvPr>
          <p:cNvPicPr>
            <a:picLocks noChangeAspect="1"/>
          </p:cNvPicPr>
          <p:nvPr/>
        </p:nvPicPr>
        <p:blipFill>
          <a:blip r:embed="rId2"/>
          <a:stretch>
            <a:fillRect/>
          </a:stretch>
        </p:blipFill>
        <p:spPr>
          <a:xfrm>
            <a:off x="1042212" y="1072780"/>
            <a:ext cx="5064962" cy="2633349"/>
          </a:xfrm>
          <a:prstGeom prst="rect">
            <a:avLst/>
          </a:prstGeom>
        </p:spPr>
      </p:pic>
      <p:pic>
        <p:nvPicPr>
          <p:cNvPr id="13" name="Picture 12">
            <a:extLst>
              <a:ext uri="{FF2B5EF4-FFF2-40B4-BE49-F238E27FC236}">
                <a16:creationId xmlns:a16="http://schemas.microsoft.com/office/drawing/2014/main" id="{CCB88B18-0054-4C15-AAE0-39DB21696DE8}"/>
              </a:ext>
            </a:extLst>
          </p:cNvPr>
          <p:cNvPicPr>
            <a:picLocks noChangeAspect="1"/>
          </p:cNvPicPr>
          <p:nvPr/>
        </p:nvPicPr>
        <p:blipFill>
          <a:blip r:embed="rId3"/>
          <a:stretch>
            <a:fillRect/>
          </a:stretch>
        </p:blipFill>
        <p:spPr>
          <a:xfrm>
            <a:off x="1042212" y="4217364"/>
            <a:ext cx="5064962" cy="1656005"/>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808024" y="10019994"/>
            <a:ext cx="5948045" cy="12700"/>
          </a:xfrm>
          <a:custGeom>
            <a:avLst/>
            <a:gdLst/>
            <a:ahLst/>
            <a:cxnLst/>
            <a:rect l="l" t="t" r="r" b="b"/>
            <a:pathLst>
              <a:path w="5948045" h="12700">
                <a:moveTo>
                  <a:pt x="5947536" y="0"/>
                </a:moveTo>
                <a:lnTo>
                  <a:pt x="0" y="0"/>
                </a:lnTo>
                <a:lnTo>
                  <a:pt x="0" y="12192"/>
                </a:lnTo>
                <a:lnTo>
                  <a:pt x="5947536" y="12192"/>
                </a:lnTo>
                <a:lnTo>
                  <a:pt x="5947536" y="0"/>
                </a:lnTo>
                <a:close/>
              </a:path>
            </a:pathLst>
          </a:custGeom>
          <a:solidFill>
            <a:srgbClr val="C55A11"/>
          </a:solidFill>
        </p:spPr>
        <p:txBody>
          <a:bodyPr wrap="square" lIns="0" tIns="0" rIns="0" bIns="0" rtlCol="0"/>
          <a:lstStyle/>
          <a:p>
            <a:endParaRPr/>
          </a:p>
        </p:txBody>
      </p:sp>
      <p:sp>
        <p:nvSpPr>
          <p:cNvPr id="7" name="object 7"/>
          <p:cNvSpPr txBox="1">
            <a:spLocks noGrp="1"/>
          </p:cNvSpPr>
          <p:nvPr>
            <p:ph type="sldNum" sz="quarter" idx="7"/>
          </p:nvPr>
        </p:nvSpPr>
        <p:spPr>
          <a:prstGeom prst="rect">
            <a:avLst/>
          </a:prstGeom>
        </p:spPr>
        <p:txBody>
          <a:bodyPr vert="horz" wrap="square" lIns="0" tIns="146331" rIns="0" bIns="0" rtlCol="0">
            <a:spAutoFit/>
          </a:bodyPr>
          <a:lstStyle/>
          <a:p>
            <a:pPr marL="12700">
              <a:lnSpc>
                <a:spcPts val="1305"/>
              </a:lnSpc>
            </a:pPr>
            <a:r>
              <a:rPr dirty="0"/>
              <a:t>Page</a:t>
            </a:r>
            <a:r>
              <a:rPr spc="-15" dirty="0"/>
              <a:t> </a:t>
            </a:r>
            <a:r>
              <a:rPr spc="-25" dirty="0"/>
              <a:t>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141</TotalTime>
  <Words>5801</Words>
  <Application>Microsoft Office PowerPoint</Application>
  <PresentationFormat>Custom</PresentationFormat>
  <Paragraphs>423</Paragraphs>
  <Slides>28</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28</vt:i4>
      </vt:variant>
    </vt:vector>
  </HeadingPairs>
  <TitlesOfParts>
    <vt:vector size="35" baseType="lpstr">
      <vt:lpstr>Aptos</vt:lpstr>
      <vt:lpstr>Aptos Display</vt:lpstr>
      <vt:lpstr>Arial</vt:lpstr>
      <vt:lpstr>Calibri</vt:lpstr>
      <vt:lpstr>Calibri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DELL</dc:creator>
  <cp:lastModifiedBy>Bachu Siddhartha</cp:lastModifiedBy>
  <cp:revision>1</cp:revision>
  <dcterms:created xsi:type="dcterms:W3CDTF">2026-10-02T15:22:10Z</dcterms:created>
  <dcterms:modified xsi:type="dcterms:W3CDTF">2026-10-02T17:44:07Z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v10.0.20290.1</vt:lpwstr>
  </property>
  <property fmtid="{D5CDD505-2E9C-101B-9397-08002B2CF9AE}" pid="3" name="Created">
    <vt:filetime>2026-09-27T00:00:00Z</vt:filetime>
  </property>
  <property fmtid="{D5CDD505-2E9C-101B-9397-08002B2CF9AE}" pid="4" name="Creator">
    <vt:lpwstr>Microsoft® Word 2016</vt:lpwstr>
  </property>
  <property fmtid="{D5CDD505-2E9C-101B-9397-08002B2CF9AE}" pid="5" name="LastSaved">
    <vt:filetime>2026-10-02T00:00:00Z</vt:filetime>
  </property>
  <property fmtid="{D5CDD505-2E9C-101B-9397-08002B2CF9AE}" pid="6" name="Producer">
    <vt:lpwstr>www.ilovepdf.com</vt:lpwstr>
  </property>
</Properties>
</file>