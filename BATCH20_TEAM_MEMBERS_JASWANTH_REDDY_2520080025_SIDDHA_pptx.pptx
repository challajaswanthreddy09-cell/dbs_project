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" charset="1" panose="020B0509050203000203"/>
      <p:regular r:id="rId18"/>
    </p:embeddedFont>
    <p:embeddedFont>
      <p:font typeface="Sinar Grotesk Bold" charset="1" panose="00000000000000000000"/>
      <p:regular r:id="rId19"/>
    </p:embeddedFont>
    <p:embeddedFont>
      <p:font typeface="IBM Plex Sans" charset="1" panose="020B050305020300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66" r="0" b="-66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28575"/>
            <a:ext cx="171450" cy="10315575"/>
          </a:xfrm>
          <a:custGeom>
            <a:avLst/>
            <a:gdLst/>
            <a:ahLst/>
            <a:cxnLst/>
            <a:rect r="r" b="b" t="t" l="l"/>
            <a:pathLst>
              <a:path h="10315575" w="171450">
                <a:moveTo>
                  <a:pt x="0" y="0"/>
                </a:moveTo>
                <a:lnTo>
                  <a:pt x="171450" y="0"/>
                </a:lnTo>
                <a:lnTo>
                  <a:pt x="171450" y="10315575"/>
                </a:lnTo>
                <a:lnTo>
                  <a:pt x="0" y="1031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5850" y="4562475"/>
            <a:ext cx="1143000" cy="76200"/>
          </a:xfrm>
          <a:custGeom>
            <a:avLst/>
            <a:gdLst/>
            <a:ahLst/>
            <a:cxnLst/>
            <a:rect r="r" b="b" t="t" l="l"/>
            <a:pathLst>
              <a:path h="76200" w="1143000">
                <a:moveTo>
                  <a:pt x="0" y="0"/>
                </a:moveTo>
                <a:lnTo>
                  <a:pt x="1143000" y="0"/>
                </a:lnTo>
                <a:lnTo>
                  <a:pt x="1143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750" y="1047750"/>
            <a:ext cx="7239000" cy="26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spc="165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DATABASE MANAGEMENT SYSTEM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533650"/>
            <a:ext cx="10953750" cy="19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b="true" sz="7800" spc="-273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Library Management</a:t>
            </a:r>
          </a:p>
          <a:p>
            <a:pPr algn="l">
              <a:lnSpc>
                <a:spcPts val="7956"/>
              </a:lnSpc>
            </a:pPr>
            <a:r>
              <a:rPr lang="en-US" b="true" sz="7800" spc="-273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with RFID Integration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86350"/>
            <a:ext cx="7524750" cy="230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BATCH:20</a:t>
            </a:r>
          </a:p>
          <a:p>
            <a:pPr algn="l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TEAM MEMBERS:</a:t>
            </a:r>
          </a:p>
          <a:p>
            <a:pPr algn="l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JASWANTH REDDY - 2520080025</a:t>
            </a:r>
          </a:p>
          <a:p>
            <a:pPr algn="l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SIDDHARTHA - 2500090225</a:t>
            </a:r>
          </a:p>
          <a:p>
            <a:pPr algn="l">
              <a:lnSpc>
                <a:spcPts val="3629"/>
              </a:lnSpc>
            </a:pPr>
            <a:r>
              <a:rPr lang="en-US" sz="2748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SANTOSH- 2520090051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9089" y="2078736"/>
            <a:ext cx="9239250" cy="54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Library Management System with RFID Integration is a web-based system designed to automate and simplify traditional library operations.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uses RFID technology to identify books and automate book issue and return processes.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provides centralized management of books, members, transactions, fines, and inventory.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is developed using React.js, Node.js, Express.js, MySQL, and RFID Reader API.</a:t>
            </a:r>
          </a:p>
          <a:p>
            <a:pPr algn="l" marL="550545" indent="-275272" lvl="1">
              <a:lnSpc>
                <a:spcPts val="3366"/>
              </a:lnSpc>
              <a:buFont typeface="Arial"/>
              <a:buChar char="•"/>
            </a:pPr>
            <a:r>
              <a:rPr lang="en-US" sz="25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aims to reduce manual work, improve accuracy, save time, and provide efficient library management.</a:t>
            </a:r>
          </a:p>
          <a:p>
            <a:pPr algn="l">
              <a:lnSpc>
                <a:spcPts val="336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430000" y="2543175"/>
            <a:ext cx="5143500" cy="5838825"/>
          </a:xfrm>
          <a:custGeom>
            <a:avLst/>
            <a:gdLst/>
            <a:ahLst/>
            <a:cxnLst/>
            <a:rect r="r" b="b" t="t" l="l"/>
            <a:pathLst>
              <a:path h="5838825" w="5143500">
                <a:moveTo>
                  <a:pt x="0" y="0"/>
                </a:moveTo>
                <a:lnTo>
                  <a:pt x="5143500" y="0"/>
                </a:lnTo>
                <a:lnTo>
                  <a:pt x="5143500" y="5838825"/>
                </a:lnTo>
                <a:lnTo>
                  <a:pt x="0" y="583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01500" y="3293269"/>
            <a:ext cx="4000500" cy="5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168">
                <a:solidFill>
                  <a:srgbClr val="20D6C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SCAN</a:t>
            </a:r>
          </a:p>
        </p:txBody>
      </p:sp>
      <p:sp>
        <p:nvSpPr>
          <p:cNvPr name="AutoShape 9" id="9"/>
          <p:cNvSpPr/>
          <p:nvPr/>
        </p:nvSpPr>
        <p:spPr>
          <a:xfrm rot="18000">
            <a:off x="12182446" y="4610100"/>
            <a:ext cx="3638598" cy="0"/>
          </a:xfrm>
          <a:prstGeom prst="line">
            <a:avLst/>
          </a:prstGeom>
          <a:ln cap="rnd" w="19050">
            <a:solidFill>
              <a:srgbClr val="F3F0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001500" y="5198269"/>
            <a:ext cx="4000500" cy="5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168">
                <a:solidFill>
                  <a:srgbClr val="FFBD59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SYNC</a:t>
            </a:r>
          </a:p>
        </p:txBody>
      </p:sp>
      <p:sp>
        <p:nvSpPr>
          <p:cNvPr name="AutoShape 11" id="11"/>
          <p:cNvSpPr/>
          <p:nvPr/>
        </p:nvSpPr>
        <p:spPr>
          <a:xfrm rot="18000">
            <a:off x="12182446" y="6515100"/>
            <a:ext cx="3638598" cy="0"/>
          </a:xfrm>
          <a:prstGeom prst="line">
            <a:avLst/>
          </a:prstGeom>
          <a:ln cap="rnd" w="19050">
            <a:solidFill>
              <a:srgbClr val="F3F0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2001500" y="7103269"/>
            <a:ext cx="4000500" cy="5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b="true" sz="4800" spc="-16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TRACK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5443061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24" y="2107311"/>
            <a:ext cx="18159952" cy="425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library operations involve manual book issue and return processes.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Manual handling can lead to long waiting times and increased workload for library staff.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Maintaining book inventory and transaction records manually can be difficult.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 calculation and dues management require additional manual effort.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Tracking the movement and availability of books efficiently can be challenging.</a:t>
            </a:r>
          </a:p>
          <a:p>
            <a:pPr algn="l" marL="690255" indent="-345127" lvl="1">
              <a:lnSpc>
                <a:spcPts val="4220"/>
              </a:lnSpc>
              <a:buFont typeface="Arial"/>
              <a:buChar char="•"/>
            </a:pPr>
            <a:r>
              <a:rPr lang="en-US" sz="3197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Therefore, there is a need for an automated RFID-based system to improve the speed, accuracy, and efficiency of library operations.</a:t>
            </a:r>
          </a:p>
          <a:p>
            <a:pPr algn="l">
              <a:lnSpc>
                <a:spcPts val="42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Main 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3025" y="2069211"/>
            <a:ext cx="15010918" cy="7014718"/>
          </a:xfrm>
          <a:custGeom>
            <a:avLst/>
            <a:gdLst/>
            <a:ahLst/>
            <a:cxnLst/>
            <a:rect r="r" b="b" t="t" l="l"/>
            <a:pathLst>
              <a:path h="7014718" w="15010918">
                <a:moveTo>
                  <a:pt x="0" y="0"/>
                </a:moveTo>
                <a:lnTo>
                  <a:pt x="15010918" y="0"/>
                </a:lnTo>
                <a:lnTo>
                  <a:pt x="15010918" y="7014718"/>
                </a:lnTo>
                <a:lnTo>
                  <a:pt x="0" y="7014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43025" y="2223838"/>
            <a:ext cx="14790739" cy="581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8"/>
              </a:lnSpc>
            </a:pP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automate book issue and return operations using RFID technology.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maintain centralized records of books, members, and transactions.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provide real-time book inventory tracking and stock verification.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automate fine and dues calculation for overdue books.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reduce manual work and waiting time for library staff and users.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improve library security through RFID-based book monitoring.</a:t>
            </a:r>
          </a:p>
          <a:p>
            <a:pPr algn="l" marL="761870" indent="-380935" lvl="1">
              <a:lnSpc>
                <a:spcPts val="4658"/>
              </a:lnSpc>
              <a:buFont typeface="Arial"/>
              <a:buChar char="•"/>
            </a:pPr>
            <a:r>
              <a:rPr lang="en-US" sz="3528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generate reports for efficient library management.</a:t>
            </a:r>
          </a:p>
          <a:p>
            <a:pPr algn="l">
              <a:lnSpc>
                <a:spcPts val="4658"/>
              </a:lnSpc>
            </a:pPr>
          </a:p>
          <a:p>
            <a:pPr algn="l">
              <a:lnSpc>
                <a:spcPts val="465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RFID-Based Proposed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9516" y="1754886"/>
            <a:ext cx="17091088" cy="719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7"/>
              </a:lnSpc>
            </a:pP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 web-based library management system integrated with RFID technology.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RFID tags are assigned to books for quick and automatic identification.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Automates book issue and return operations using RFID scanning.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Maintains centralized records of books, members, and transactions.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Provides automated fine and dues management.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Supports stock verification, book recommendations, and report generation.</a:t>
            </a:r>
          </a:p>
          <a:p>
            <a:pPr algn="l" marL="774803" indent="-387402" lvl="1">
              <a:lnSpc>
                <a:spcPts val="4737"/>
              </a:lnSpc>
              <a:buFont typeface="Arial"/>
              <a:buChar char="•"/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Reduces manual work and improves the speed, accuracy, and efficiency of library operations</a:t>
            </a:r>
          </a:p>
          <a:p>
            <a:pPr algn="l">
              <a:lnSpc>
                <a:spcPts val="4737"/>
              </a:lnSpc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Traditional System → Manual Process → More Time</a:t>
            </a:r>
          </a:p>
          <a:p>
            <a:pPr algn="l">
              <a:lnSpc>
                <a:spcPts val="4737"/>
              </a:lnSpc>
            </a:pPr>
            <a:r>
              <a:rPr lang="en-US" sz="3588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System → RFID Automation → Faster &amp; Efficient</a:t>
            </a:r>
          </a:p>
          <a:p>
            <a:pPr algn="ctr">
              <a:lnSpc>
                <a:spcPts val="473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029950" y="405050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15700" y="5357812"/>
            <a:ext cx="2286000" cy="28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16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Persists every event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4896" y="1028700"/>
            <a:ext cx="15598208" cy="8844830"/>
          </a:xfrm>
          <a:custGeom>
            <a:avLst/>
            <a:gdLst/>
            <a:ahLst/>
            <a:cxnLst/>
            <a:rect r="r" b="b" t="t" l="l"/>
            <a:pathLst>
              <a:path h="8844830" w="15598208">
                <a:moveTo>
                  <a:pt x="0" y="0"/>
                </a:moveTo>
                <a:lnTo>
                  <a:pt x="15598208" y="0"/>
                </a:lnTo>
                <a:lnTo>
                  <a:pt x="15598208" y="8844830"/>
                </a:lnTo>
                <a:lnTo>
                  <a:pt x="0" y="8844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15" r="-1073" b="-941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7046" y="97726"/>
            <a:ext cx="588645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4640461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System Modules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446960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STUDENT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9441" y="2494198"/>
            <a:ext cx="17238618" cy="356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Catalog &amp; RFID Tagging – Manage books and assign unique RFID tags for identification.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Issue/Return Automation – Automate book issue and return using RFID scanning.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Fine &amp; Dues Management – Calculate and manage fines for overdue books.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Member Management – Maintain and manage library member information.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Book Recommendations – Provide recommendations based on available library titles.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Stock Verification – Track book availability and verify library inventory.</a:t>
            </a:r>
          </a:p>
          <a:p>
            <a:pPr algn="ctr" marL="751771" indent="-375886" lvl="1">
              <a:lnSpc>
                <a:spcPts val="3551"/>
              </a:lnSpc>
              <a:buFont typeface="Arial"/>
              <a:buChar char="•"/>
            </a:pPr>
            <a:r>
              <a:rPr lang="en-US" b="true" sz="3482" spc="-118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Reports – Generate reports related to books, members, transactions, fines, and stock.</a:t>
            </a:r>
          </a:p>
          <a:p>
            <a:pPr algn="ctr">
              <a:lnSpc>
                <a:spcPts val="355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859000" y="666035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RFID_TAG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91250" y="7612856"/>
            <a:ext cx="2857500" cy="26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b="true" sz="2100" spc="-72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8553450"/>
            <a:ext cx="15240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C7076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 student → many transactions  /  One book → many transactions over time  /  Librarian manages circulation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 Workflow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1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Assign unique tag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576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576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2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Scan with reader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008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00800" y="3033712"/>
            <a:ext cx="23241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b="true" sz="1875" spc="-65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3</a:t>
            </a:r>
          </a:p>
          <a:p>
            <a:pPr algn="ctr">
              <a:lnSpc>
                <a:spcPts val="1911"/>
              </a:lnSpc>
            </a:pPr>
            <a:r>
              <a:rPr lang="en-US" b="true" sz="1875" spc="-65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Retrieve RFID number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4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Query book record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8872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8872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5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Check availability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630400" y="2686050"/>
            <a:ext cx="2324100" cy="2124075"/>
          </a:xfrm>
          <a:custGeom>
            <a:avLst/>
            <a:gdLst/>
            <a:ahLst/>
            <a:cxnLst/>
            <a:rect r="r" b="b" t="t" l="l"/>
            <a:pathLst>
              <a:path h="2124075" w="2324100">
                <a:moveTo>
                  <a:pt x="0" y="0"/>
                </a:moveTo>
                <a:lnTo>
                  <a:pt x="2324100" y="0"/>
                </a:lnTo>
                <a:lnTo>
                  <a:pt x="2324100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630400" y="3067050"/>
            <a:ext cx="2324100" cy="49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6</a:t>
            </a:r>
          </a:p>
          <a:p>
            <a:pPr algn="ctr">
              <a:lnSpc>
                <a:spcPts val="2064"/>
              </a:lnSpc>
            </a:pPr>
            <a:r>
              <a:rPr lang="en-US" b="true" sz="2025" spc="-6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Record issue / return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9250" y="6629400"/>
            <a:ext cx="4095750" cy="51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1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 LIB00125</a:t>
            </a:r>
          </a:p>
        </p:txBody>
      </p:sp>
      <p:sp>
        <p:nvSpPr>
          <p:cNvPr name="AutoShape 19" id="19"/>
          <p:cNvSpPr/>
          <p:nvPr/>
        </p:nvSpPr>
        <p:spPr>
          <a:xfrm rot="185640">
            <a:off x="5695436" y="6938962"/>
            <a:ext cx="705879" cy="0"/>
          </a:xfrm>
          <a:prstGeom prst="line">
            <a:avLst/>
          </a:prstGeom>
          <a:ln cap="rnd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6667500" y="6762750"/>
            <a:ext cx="6191250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b="true" sz="2850" spc="-9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 Management Systems</a:t>
            </a:r>
          </a:p>
        </p:txBody>
      </p:sp>
      <p:sp>
        <p:nvSpPr>
          <p:cNvPr name="AutoShape 21" id="21"/>
          <p:cNvSpPr/>
          <p:nvPr/>
        </p:nvSpPr>
        <p:spPr>
          <a:xfrm rot="185640">
            <a:off x="13029686" y="6938962"/>
            <a:ext cx="705879" cy="0"/>
          </a:xfrm>
          <a:prstGeom prst="line">
            <a:avLst/>
          </a:prstGeom>
          <a:ln cap="rnd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4097000" y="6486525"/>
            <a:ext cx="2667000" cy="847725"/>
          </a:xfrm>
          <a:custGeom>
            <a:avLst/>
            <a:gdLst/>
            <a:ahLst/>
            <a:cxnLst/>
            <a:rect r="r" b="b" t="t" l="l"/>
            <a:pathLst>
              <a:path h="847725" w="2667000">
                <a:moveTo>
                  <a:pt x="0" y="0"/>
                </a:moveTo>
                <a:lnTo>
                  <a:pt x="2667000" y="0"/>
                </a:lnTo>
                <a:lnTo>
                  <a:pt x="26670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097000" y="6717506"/>
            <a:ext cx="2667000" cy="3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b="true" sz="2400" spc="-84">
                <a:solidFill>
                  <a:srgbClr val="081922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AVAILABLE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Advantages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110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10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FASTER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10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Issue and return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1015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7685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685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ACCURATE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7685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 identification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0590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7260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260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REAL-TIME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260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Inventory availability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201650" y="268605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468350" y="292655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68350" y="349567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LEANER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68350" y="391953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Less work, fewer errors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8110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110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SAFER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110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Fewer lost books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01015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7685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7685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CLEARER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7685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Instant reports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105900" y="5448300"/>
            <a:ext cx="3714750" cy="2171700"/>
          </a:xfrm>
          <a:custGeom>
            <a:avLst/>
            <a:gdLst/>
            <a:ahLst/>
            <a:cxnLst/>
            <a:rect r="r" b="b" t="t" l="l"/>
            <a:pathLst>
              <a:path h="2171700" w="3714750">
                <a:moveTo>
                  <a:pt x="0" y="0"/>
                </a:moveTo>
                <a:lnTo>
                  <a:pt x="3714750" y="0"/>
                </a:lnTo>
                <a:lnTo>
                  <a:pt x="371475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372600" y="5688806"/>
            <a:ext cx="666750" cy="2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72600" y="6257925"/>
            <a:ext cx="3238500" cy="315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b="true" sz="2550" spc="-89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CENTRAL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2600" y="6681788"/>
            <a:ext cx="3238500" cy="29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725">
                <a:solidFill>
                  <a:srgbClr val="94A7AA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shared database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Database Design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94A7A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" y="25431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9200" y="28575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26231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Student_ID · Name · Department · Phone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201150" y="25431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05950" y="28575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BOOK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5950" y="326231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Book_ID · Title · Author · ISBN · Category · RFID_Tag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" y="416242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9200" y="447675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AUTHOR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" y="488156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Author_ID · Author_Name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201150" y="416242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05950" y="447675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CATEGORY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5950" y="488156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Category_ID · Category_Name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" y="57816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19200" y="60960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081922"/>
                </a:solidFill>
                <a:latin typeface="IBM Plex Mono"/>
                <a:ea typeface="IBM Plex Mono"/>
                <a:cs typeface="IBM Plex Mono"/>
                <a:sym typeface="IBM Plex Mono"/>
              </a:rPr>
              <a:t>ISSUE_RETURN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" y="6500812"/>
            <a:ext cx="71056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Transaction_ID · Book_ID · Student_ID · Issue_Date · Return_Date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201150" y="578167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05950" y="609600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05950" y="650081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Fine_ID · Transaction_ID · Amount · Status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14400" y="7400925"/>
            <a:ext cx="7715250" cy="1266825"/>
          </a:xfrm>
          <a:custGeom>
            <a:avLst/>
            <a:gdLst/>
            <a:ahLst/>
            <a:cxnLst/>
            <a:rect r="r" b="b" t="t" l="l"/>
            <a:pathLst>
              <a:path h="1266825" w="7715250">
                <a:moveTo>
                  <a:pt x="0" y="0"/>
                </a:moveTo>
                <a:lnTo>
                  <a:pt x="7715250" y="0"/>
                </a:lnTo>
                <a:lnTo>
                  <a:pt x="7715250" y="1266825"/>
                </a:lnTo>
                <a:lnTo>
                  <a:pt x="0" y="126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19200" y="7715250"/>
            <a:ext cx="71056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 spc="88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LIBRARIAN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8120062"/>
            <a:ext cx="7105650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3F0E8"/>
                </a:solidFill>
                <a:latin typeface="IBM Plex Sans"/>
                <a:ea typeface="IBM Plex Sans"/>
                <a:cs typeface="IBM Plex Sans"/>
                <a:sym typeface="IBM Plex Sans"/>
              </a:rPr>
              <a:t>Librarian_ID · Name · Username · Password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SQL Operations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" y="26860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30480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* FROM Books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Category = 'Database';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4400" y="51625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400" y="55245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* FROM Issue_Return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Return_Date IS NULL;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201150" y="26860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01150" y="30480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081922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Books SET Status = 'Issued'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081922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Book_ID = 101;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01150" y="5162550"/>
            <a:ext cx="7715250" cy="2028825"/>
          </a:xfrm>
          <a:custGeom>
            <a:avLst/>
            <a:gdLst/>
            <a:ahLst/>
            <a:cxnLst/>
            <a:rect r="r" b="b" t="t" l="l"/>
            <a:pathLst>
              <a:path h="2028825" w="7715250">
                <a:moveTo>
                  <a:pt x="0" y="0"/>
                </a:moveTo>
                <a:lnTo>
                  <a:pt x="7715250" y="0"/>
                </a:lnTo>
                <a:lnTo>
                  <a:pt x="7715250" y="2028825"/>
                </a:lnTo>
                <a:lnTo>
                  <a:pt x="0" y="202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201150" y="5524500"/>
            <a:ext cx="7429500" cy="57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Student_ID, COUNT(*) AS Books_Issued</a:t>
            </a:r>
          </a:p>
          <a:p>
            <a:pPr algn="l">
              <a:lnSpc>
                <a:spcPts val="2342"/>
              </a:lnSpc>
            </a:pPr>
            <a:r>
              <a:rPr lang="en-US" sz="1875">
                <a:solidFill>
                  <a:srgbClr val="F3F0E8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 Issue_Return GROUP BY Student_ID;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6750"/>
            <a:ext cx="15716250" cy="38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2550" spc="102">
                <a:solidFill>
                  <a:srgbClr val="10252E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   INSERT   UPDATE   DELETE   JOIN   GROUP BY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97681"/>
            <a:ext cx="8572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D6C7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162050"/>
            <a:ext cx="1352550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b="true" sz="5100" spc="-178">
                <a:solidFill>
                  <a:srgbClr val="10252E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Future Scope &amp; 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" y="771525"/>
            <a:ext cx="16459200" cy="47625"/>
          </a:xfrm>
          <a:custGeom>
            <a:avLst/>
            <a:gdLst/>
            <a:ahLst/>
            <a:cxnLst/>
            <a:rect r="r" b="b" t="t" l="l"/>
            <a:pathLst>
              <a:path h="47625" w="16459200">
                <a:moveTo>
                  <a:pt x="0" y="0"/>
                </a:moveTo>
                <a:lnTo>
                  <a:pt x="16459200" y="0"/>
                </a:lnTo>
                <a:lnTo>
                  <a:pt x="164592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" y="9734550"/>
            <a:ext cx="6667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 spc="108">
                <a:solidFill>
                  <a:srgbClr val="6174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RFID × DBMS  /  LIBRARY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028950"/>
            <a:ext cx="361950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5"/>
              </a:lnSpc>
            </a:pPr>
            <a:r>
              <a:rPr lang="en-US" b="true" sz="8250" spc="-288">
                <a:solidFill>
                  <a:srgbClr val="20D6C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NEXT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038600"/>
            <a:ext cx="6477000" cy="2820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Mobile integration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Self-service RFID kiosks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Entry / exit tracking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 &amp; SMS alerts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Online reservations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 database</a:t>
            </a:r>
          </a:p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1025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recommendations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191500" y="2400300"/>
            <a:ext cx="8763000" cy="5934075"/>
          </a:xfrm>
          <a:custGeom>
            <a:avLst/>
            <a:gdLst/>
            <a:ahLst/>
            <a:cxnLst/>
            <a:rect r="r" b="b" t="t" l="l"/>
            <a:pathLst>
              <a:path h="5934075" w="8763000">
                <a:moveTo>
                  <a:pt x="0" y="0"/>
                </a:moveTo>
                <a:lnTo>
                  <a:pt x="8763000" y="0"/>
                </a:lnTo>
                <a:lnTo>
                  <a:pt x="8763000" y="5934075"/>
                </a:lnTo>
                <a:lnTo>
                  <a:pt x="0" y="5934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91500" y="2400300"/>
            <a:ext cx="133350" cy="5934075"/>
          </a:xfrm>
          <a:custGeom>
            <a:avLst/>
            <a:gdLst/>
            <a:ahLst/>
            <a:cxnLst/>
            <a:rect r="r" b="b" t="t" l="l"/>
            <a:pathLst>
              <a:path h="5934075" w="133350">
                <a:moveTo>
                  <a:pt x="0" y="0"/>
                </a:moveTo>
                <a:lnTo>
                  <a:pt x="133350" y="0"/>
                </a:lnTo>
                <a:lnTo>
                  <a:pt x="133350" y="5934075"/>
                </a:lnTo>
                <a:lnTo>
                  <a:pt x="0" y="593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53500" y="3164681"/>
            <a:ext cx="7334250" cy="166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b="true" sz="4350" spc="-151">
                <a:solidFill>
                  <a:srgbClr val="F3F0E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RFID + DBMS turns circulation into a connected, automated service.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53500" y="5776912"/>
            <a:ext cx="6667500" cy="11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DCE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improves accuracy and efficiency, reduces manual effort, and creates one dependable view of books, members, and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DAHTXFcY1EM</dc:identifier>
  <dcterms:modified xsi:type="dcterms:W3CDTF">2011-08-01T06:04:30Z</dcterms:modified>
  <cp:revision>1</cp:revision>
  <dc:title>BATCH20 TEAM MEMBERS JASWANTH REDDY - 2520080025 SIDDHA.pptx</dc:title>
</cp:coreProperties>
</file>